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6"/>
  </p:notesMasterIdLst>
  <p:sldIdLst>
    <p:sldId id="262" r:id="rId5"/>
    <p:sldId id="272" r:id="rId6"/>
    <p:sldId id="265" r:id="rId7"/>
    <p:sldId id="266" r:id="rId8"/>
    <p:sldId id="267" r:id="rId9"/>
    <p:sldId id="268" r:id="rId10"/>
    <p:sldId id="273" r:id="rId11"/>
    <p:sldId id="269" r:id="rId12"/>
    <p:sldId id="264" r:id="rId13"/>
    <p:sldId id="270" r:id="rId14"/>
    <p:sldId id="271" r:id="rId15"/>
  </p:sldIdLst>
  <p:sldSz cx="12192000" cy="6858000"/>
  <p:notesSz cx="6858000" cy="9144000"/>
  <p:defaultTextStyle>
    <a:defPPr>
      <a:defRPr lang="fi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676" autoAdjust="0"/>
    <p:restoredTop sz="89429" autoAdjust="0"/>
  </p:normalViewPr>
  <p:slideViewPr>
    <p:cSldViewPr snapToGrid="0" showGuides="1">
      <p:cViewPr varScale="1">
        <p:scale>
          <a:sx n="108" d="100"/>
          <a:sy n="108" d="100"/>
        </p:scale>
        <p:origin x="552" y="1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i-FI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F57260-96AC-4331-A420-F0B128CC463E}" type="datetimeFigureOut">
              <a:rPr lang="fi-FI" smtClean="0"/>
              <a:t>5.5.2025</a:t>
            </a:fld>
            <a:endParaRPr lang="fi-FI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i-FI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i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4A30BA-0CC1-40AB-AE80-2F533EB15740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310184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nsi valkoin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tsikko 1">
            <a:extLst>
              <a:ext uri="{FF2B5EF4-FFF2-40B4-BE49-F238E27FC236}">
                <a16:creationId xmlns:a16="http://schemas.microsoft.com/office/drawing/2014/main" id="{CA4F6AB8-5B3A-4D26-91F4-2F9CDEAFF0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8018" y="910802"/>
            <a:ext cx="10440000" cy="2751522"/>
          </a:xfrm>
        </p:spPr>
        <p:txBody>
          <a:bodyPr anchor="b">
            <a:normAutofit/>
          </a:bodyPr>
          <a:lstStyle>
            <a:lvl1pPr algn="l">
              <a:defRPr sz="9600" b="1">
                <a:solidFill>
                  <a:schemeClr val="tx1"/>
                </a:solidFill>
              </a:defRPr>
            </a:lvl1pPr>
          </a:lstStyle>
          <a:p>
            <a:endParaRPr lang="fi-FI" dirty="0"/>
          </a:p>
        </p:txBody>
      </p:sp>
      <p:sp>
        <p:nvSpPr>
          <p:cNvPr id="10" name="Alaotsikko 2">
            <a:extLst>
              <a:ext uri="{FF2B5EF4-FFF2-40B4-BE49-F238E27FC236}">
                <a16:creationId xmlns:a16="http://schemas.microsoft.com/office/drawing/2014/main" id="{66072717-81C3-4F6B-9309-1674C171F5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8018" y="3973860"/>
            <a:ext cx="7478692" cy="674339"/>
          </a:xfrm>
        </p:spPr>
        <p:txBody>
          <a:bodyPr>
            <a:normAutofit/>
          </a:bodyPr>
          <a:lstStyle>
            <a:lvl1pPr marL="0" indent="0" algn="l">
              <a:buNone/>
              <a:defRPr sz="2000" b="1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fi-FI" dirty="0"/>
          </a:p>
        </p:txBody>
      </p:sp>
      <p:sp>
        <p:nvSpPr>
          <p:cNvPr id="9" name="Tekstin paikkamerkki 12">
            <a:extLst>
              <a:ext uri="{FF2B5EF4-FFF2-40B4-BE49-F238E27FC236}">
                <a16:creationId xmlns:a16="http://schemas.microsoft.com/office/drawing/2014/main" id="{B08D2941-A7E5-4C26-B320-579010B602E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68018" y="4745772"/>
            <a:ext cx="7480852" cy="328033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accent5"/>
                </a:solidFill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fi-FI" dirty="0"/>
          </a:p>
        </p:txBody>
      </p:sp>
      <p:pic>
        <p:nvPicPr>
          <p:cNvPr id="7" name="Picture 6" descr="Logo of the University of Turku with the winged torch emblem and the text University of Turku.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0560" y="5191347"/>
            <a:ext cx="3190045" cy="1186635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 sz="105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45440BC-9B28-4ACE-B7B8-D3C83187B980}" type="datetimeFigureOut">
              <a:rPr lang="fi-FI" smtClean="0"/>
              <a:pPr/>
              <a:t>5.5.2025</a:t>
            </a:fld>
            <a:endParaRPr lang="fi-FI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 sz="105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fi-FI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5"/>
          </p:nvPr>
        </p:nvSpPr>
        <p:spPr>
          <a:xfrm>
            <a:off x="8804753" y="6356350"/>
            <a:ext cx="2743200" cy="365125"/>
          </a:xfrm>
        </p:spPr>
        <p:txBody>
          <a:bodyPr/>
          <a:lstStyle>
            <a:lvl1pPr>
              <a:defRPr sz="105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052F644-756C-4530-A69F-A71AB7A98F48}" type="slidenum">
              <a:rPr lang="fi-FI" smtClean="0"/>
              <a:pPr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0014811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nsi must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tsikko 1">
            <a:extLst>
              <a:ext uri="{FF2B5EF4-FFF2-40B4-BE49-F238E27FC236}">
                <a16:creationId xmlns:a16="http://schemas.microsoft.com/office/drawing/2014/main" id="{CA4F6AB8-5B3A-4D26-91F4-2F9CDEAFF0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8018" y="910802"/>
            <a:ext cx="10440000" cy="2751522"/>
          </a:xfrm>
        </p:spPr>
        <p:txBody>
          <a:bodyPr anchor="b">
            <a:normAutofit/>
          </a:bodyPr>
          <a:lstStyle>
            <a:lvl1pPr algn="l">
              <a:defRPr sz="9600" b="1">
                <a:solidFill>
                  <a:schemeClr val="bg1"/>
                </a:solidFill>
              </a:defRPr>
            </a:lvl1pPr>
          </a:lstStyle>
          <a:p>
            <a:endParaRPr lang="fi-FI" dirty="0"/>
          </a:p>
        </p:txBody>
      </p:sp>
      <p:sp>
        <p:nvSpPr>
          <p:cNvPr id="20" name="Alaotsikko 2">
            <a:extLst>
              <a:ext uri="{FF2B5EF4-FFF2-40B4-BE49-F238E27FC236}">
                <a16:creationId xmlns:a16="http://schemas.microsoft.com/office/drawing/2014/main" id="{66072717-81C3-4F6B-9309-1674C171F5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8018" y="3973860"/>
            <a:ext cx="7478692" cy="674339"/>
          </a:xfrm>
        </p:spPr>
        <p:txBody>
          <a:bodyPr>
            <a:normAutofit/>
          </a:bodyPr>
          <a:lstStyle>
            <a:lvl1pPr marL="0" indent="0" algn="l">
              <a:buNone/>
              <a:defRPr sz="2000" b="1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fi-FI" dirty="0"/>
          </a:p>
        </p:txBody>
      </p:sp>
      <p:sp>
        <p:nvSpPr>
          <p:cNvPr id="13" name="Tekstin paikkamerkki 12">
            <a:extLst>
              <a:ext uri="{FF2B5EF4-FFF2-40B4-BE49-F238E27FC236}">
                <a16:creationId xmlns:a16="http://schemas.microsoft.com/office/drawing/2014/main" id="{889DA205-0B6C-45D6-91B2-25C1E2981B6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68018" y="4745772"/>
            <a:ext cx="7478692" cy="327673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accent5"/>
                </a:solidFill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endParaRPr lang="fi-FI" dirty="0"/>
          </a:p>
        </p:txBody>
      </p:sp>
      <p:pic>
        <p:nvPicPr>
          <p:cNvPr id="8" name="Picture 7" descr="Logo of the University of Turku with the winged torch emblem and the text University of Turku.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9366" y="5193622"/>
            <a:ext cx="3192434" cy="1182085"/>
          </a:xfrm>
          <a:prstGeom prst="rect">
            <a:avLst/>
          </a:prstGeom>
        </p:spPr>
      </p:pic>
      <p:sp>
        <p:nvSpPr>
          <p:cNvPr id="17" name="Date Placeholder 3"/>
          <p:cNvSpPr>
            <a:spLocks noGrp="1"/>
          </p:cNvSpPr>
          <p:nvPr>
            <p:ph type="dt" sz="half" idx="13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45440BC-9B28-4ACE-B7B8-D3C83187B980}" type="datetimeFigureOut">
              <a:rPr lang="fi-FI" smtClean="0"/>
              <a:pPr/>
              <a:t>5.5.2025</a:t>
            </a:fld>
            <a:endParaRPr lang="fi-FI" dirty="0"/>
          </a:p>
        </p:txBody>
      </p:sp>
      <p:sp>
        <p:nvSpPr>
          <p:cNvPr id="18" name="Footer Placeholder 4"/>
          <p:cNvSpPr>
            <a:spLocks noGrp="1"/>
          </p:cNvSpPr>
          <p:nvPr>
            <p:ph type="ftr" sz="quarter" idx="14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fi-FI" dirty="0"/>
          </a:p>
        </p:txBody>
      </p:sp>
      <p:sp>
        <p:nvSpPr>
          <p:cNvPr id="19" name="Slide Number Placeholder 5"/>
          <p:cNvSpPr>
            <a:spLocks noGrp="1"/>
          </p:cNvSpPr>
          <p:nvPr>
            <p:ph type="sldNum" sz="quarter" idx="15"/>
          </p:nvPr>
        </p:nvSpPr>
        <p:spPr>
          <a:xfrm>
            <a:off x="8804753" y="6356350"/>
            <a:ext cx="2743200" cy="365125"/>
          </a:xfrm>
        </p:spPr>
        <p:txBody>
          <a:bodyPr/>
          <a:lstStyle>
            <a:lvl1pPr>
              <a:defRPr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052F644-756C-4530-A69F-A71AB7A98F48}" type="slidenum">
              <a:rPr lang="fi-FI" smtClean="0"/>
              <a:pPr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1344318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nsi violetti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tsikko 1">
            <a:extLst>
              <a:ext uri="{FF2B5EF4-FFF2-40B4-BE49-F238E27FC236}">
                <a16:creationId xmlns:a16="http://schemas.microsoft.com/office/drawing/2014/main" id="{CA4F6AB8-5B3A-4D26-91F4-2F9CDEAFF0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8018" y="910802"/>
            <a:ext cx="10440000" cy="2751522"/>
          </a:xfrm>
        </p:spPr>
        <p:txBody>
          <a:bodyPr anchor="b">
            <a:normAutofit/>
          </a:bodyPr>
          <a:lstStyle>
            <a:lvl1pPr algn="l">
              <a:defRPr sz="9600" b="1">
                <a:solidFill>
                  <a:schemeClr val="bg1"/>
                </a:solidFill>
              </a:defRPr>
            </a:lvl1pPr>
          </a:lstStyle>
          <a:p>
            <a:endParaRPr lang="fi-FI" dirty="0"/>
          </a:p>
        </p:txBody>
      </p:sp>
      <p:sp>
        <p:nvSpPr>
          <p:cNvPr id="3" name="Alaotsikko 2">
            <a:extLst>
              <a:ext uri="{FF2B5EF4-FFF2-40B4-BE49-F238E27FC236}">
                <a16:creationId xmlns:a16="http://schemas.microsoft.com/office/drawing/2014/main" id="{66072717-81C3-4F6B-9309-1674C171F5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8018" y="3973860"/>
            <a:ext cx="7478692" cy="674339"/>
          </a:xfrm>
        </p:spPr>
        <p:txBody>
          <a:bodyPr>
            <a:normAutofit/>
          </a:bodyPr>
          <a:lstStyle>
            <a:lvl1pPr marL="0" indent="0" algn="l">
              <a:buNone/>
              <a:defRPr sz="2000" b="1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fi-FI" dirty="0"/>
          </a:p>
        </p:txBody>
      </p:sp>
      <p:sp>
        <p:nvSpPr>
          <p:cNvPr id="13" name="Tekstin paikkamerkki 12">
            <a:extLst>
              <a:ext uri="{FF2B5EF4-FFF2-40B4-BE49-F238E27FC236}">
                <a16:creationId xmlns:a16="http://schemas.microsoft.com/office/drawing/2014/main" id="{889DA205-0B6C-45D6-91B2-25C1E2981B6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68018" y="4745772"/>
            <a:ext cx="7478692" cy="327673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endParaRPr lang="fi-FI" dirty="0"/>
          </a:p>
        </p:txBody>
      </p:sp>
      <p:pic>
        <p:nvPicPr>
          <p:cNvPr id="12" name="Picture 11" descr="Logo of the University of Turku with the winged torch emblem and the text University of Turku.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9366" y="5193622"/>
            <a:ext cx="3192434" cy="1182085"/>
          </a:xfrm>
          <a:prstGeom prst="rect">
            <a:avLst/>
          </a:prstGeom>
        </p:spPr>
      </p:pic>
      <p:sp>
        <p:nvSpPr>
          <p:cNvPr id="8" name="Date Placeholder 3"/>
          <p:cNvSpPr>
            <a:spLocks noGrp="1"/>
          </p:cNvSpPr>
          <p:nvPr>
            <p:ph type="dt" sz="half" idx="13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45440BC-9B28-4ACE-B7B8-D3C83187B980}" type="datetimeFigureOut">
              <a:rPr lang="fi-FI" smtClean="0"/>
              <a:pPr/>
              <a:t>5.5.2025</a:t>
            </a:fld>
            <a:endParaRPr lang="fi-FI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4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fi-FI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5"/>
          </p:nvPr>
        </p:nvSpPr>
        <p:spPr>
          <a:xfrm>
            <a:off x="8804753" y="6356350"/>
            <a:ext cx="2743200" cy="365125"/>
          </a:xfrm>
        </p:spPr>
        <p:txBody>
          <a:bodyPr/>
          <a:lstStyle>
            <a:lvl1pPr>
              <a:defRPr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052F644-756C-4530-A69F-A71AB7A98F48}" type="slidenum">
              <a:rPr lang="fi-FI" smtClean="0"/>
              <a:pPr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430000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tsikko ja sisältö valkoin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1078028" y="438150"/>
            <a:ext cx="10145029" cy="1252538"/>
          </a:xfrm>
        </p:spPr>
        <p:txBody>
          <a:bodyPr anchor="b" anchorCtr="0"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6" name="Sisällön paikkamerkki 2">
            <a:extLst>
              <a:ext uri="{FF2B5EF4-FFF2-40B4-BE49-F238E27FC236}">
                <a16:creationId xmlns:a16="http://schemas.microsoft.com/office/drawing/2014/main" id="{E252CC0E-D4C3-47CC-8F2E-90BE622B9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8028" y="1825625"/>
            <a:ext cx="10145029" cy="4069849"/>
          </a:xfrm>
        </p:spPr>
        <p:txBody>
          <a:bodyPr>
            <a:noAutofit/>
          </a:bodyPr>
          <a:lstStyle/>
          <a:p>
            <a:pPr lvl="0"/>
            <a:r>
              <a:rPr lang="fi-FI"/>
              <a:t>Muokkaa tekstin perustyylejä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pic>
        <p:nvPicPr>
          <p:cNvPr id="8" name="Pictur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7630" y="5935127"/>
            <a:ext cx="2374370" cy="883219"/>
          </a:xfrm>
          <a:prstGeom prst="rect">
            <a:avLst/>
          </a:prstGeom>
        </p:spPr>
      </p:pic>
      <p:sp>
        <p:nvSpPr>
          <p:cNvPr id="10" name="Date Placeholder 3"/>
          <p:cNvSpPr>
            <a:spLocks noGrp="1"/>
          </p:cNvSpPr>
          <p:nvPr>
            <p:ph type="dt" sz="half" idx="13"/>
          </p:nvPr>
        </p:nvSpPr>
        <p:spPr>
          <a:xfrm>
            <a:off x="1078028" y="6356350"/>
            <a:ext cx="2743200" cy="365125"/>
          </a:xfrm>
        </p:spPr>
        <p:txBody>
          <a:bodyPr/>
          <a:lstStyle>
            <a:lvl1pPr>
              <a:defRPr sz="105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45440BC-9B28-4ACE-B7B8-D3C83187B980}" type="datetimeFigureOut">
              <a:rPr lang="fi-FI" smtClean="0"/>
              <a:pPr/>
              <a:t>5.5.2025</a:t>
            </a:fld>
            <a:endParaRPr lang="fi-FI" dirty="0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4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105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fi-FI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5"/>
          </p:nvPr>
        </p:nvSpPr>
        <p:spPr>
          <a:xfrm>
            <a:off x="8353129" y="6356350"/>
            <a:ext cx="1464501" cy="365125"/>
          </a:xfrm>
        </p:spPr>
        <p:txBody>
          <a:bodyPr/>
          <a:lstStyle>
            <a:lvl1pPr>
              <a:defRPr sz="105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052F644-756C-4530-A69F-A71AB7A98F48}" type="slidenum">
              <a:rPr lang="fi-FI" smtClean="0"/>
              <a:pPr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9400209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tsikko ja sisältö must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3"/>
          <p:cNvSpPr>
            <a:spLocks noGrp="1"/>
          </p:cNvSpPr>
          <p:nvPr>
            <p:ph type="title"/>
          </p:nvPr>
        </p:nvSpPr>
        <p:spPr>
          <a:xfrm>
            <a:off x="1078028" y="438150"/>
            <a:ext cx="10145029" cy="1252538"/>
          </a:xfrm>
        </p:spPr>
        <p:txBody>
          <a:bodyPr anchor="b" anchorCtr="0"/>
          <a:lstStyle/>
          <a:p>
            <a:endParaRPr lang="fi-FI" dirty="0"/>
          </a:p>
        </p:txBody>
      </p:sp>
      <p:sp>
        <p:nvSpPr>
          <p:cNvPr id="10" name="Sisällön paikkamerkki 2">
            <a:extLst>
              <a:ext uri="{FF2B5EF4-FFF2-40B4-BE49-F238E27FC236}">
                <a16:creationId xmlns:a16="http://schemas.microsoft.com/office/drawing/2014/main" id="{E252CC0E-D4C3-47CC-8F2E-90BE622B9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8028" y="1825625"/>
            <a:ext cx="10145029" cy="4069849"/>
          </a:xfrm>
        </p:spPr>
        <p:txBody>
          <a:bodyPr>
            <a:noAutofit/>
          </a:bodyPr>
          <a:lstStyle/>
          <a:p>
            <a:pPr lvl="0"/>
            <a:r>
              <a:rPr lang="fi-FI" dirty="0"/>
              <a:t>Muokkaa tekstin perustyylejä</a:t>
            </a:r>
          </a:p>
          <a:p>
            <a:pPr lvl="1"/>
            <a:r>
              <a:rPr lang="fi-FI" dirty="0"/>
              <a:t>toinen taso</a:t>
            </a:r>
          </a:p>
          <a:p>
            <a:pPr lvl="2"/>
            <a:r>
              <a:rPr lang="fi-FI" dirty="0"/>
              <a:t>kolmas taso</a:t>
            </a:r>
          </a:p>
          <a:p>
            <a:pPr lvl="3"/>
            <a:r>
              <a:rPr lang="fi-FI" dirty="0"/>
              <a:t>neljäs taso</a:t>
            </a:r>
          </a:p>
          <a:p>
            <a:pPr lvl="4"/>
            <a:r>
              <a:rPr lang="fi-FI" dirty="0"/>
              <a:t>viides taso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3"/>
          </p:nvPr>
        </p:nvSpPr>
        <p:spPr>
          <a:xfrm>
            <a:off x="1078028" y="6356350"/>
            <a:ext cx="2743200" cy="365125"/>
          </a:xfrm>
        </p:spPr>
        <p:txBody>
          <a:bodyPr/>
          <a:lstStyle>
            <a:lvl1pPr>
              <a:defRPr sz="105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45440BC-9B28-4ACE-B7B8-D3C83187B980}" type="datetimeFigureOut">
              <a:rPr lang="fi-FI" smtClean="0"/>
              <a:pPr/>
              <a:t>5.5.2025</a:t>
            </a:fld>
            <a:endParaRPr lang="fi-FI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4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105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fi-FI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5"/>
          </p:nvPr>
        </p:nvSpPr>
        <p:spPr>
          <a:xfrm>
            <a:off x="8353129" y="6356350"/>
            <a:ext cx="1464501" cy="365125"/>
          </a:xfrm>
        </p:spPr>
        <p:txBody>
          <a:bodyPr/>
          <a:lstStyle>
            <a:lvl1pPr>
              <a:defRPr sz="105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052F644-756C-4530-A69F-A71AB7A98F48}" type="slidenum">
              <a:rPr lang="fi-FI" smtClean="0"/>
              <a:pPr/>
              <a:t>‹#›</a:t>
            </a:fld>
            <a:endParaRPr lang="fi-FI"/>
          </a:p>
        </p:txBody>
      </p:sp>
      <p:pic>
        <p:nvPicPr>
          <p:cNvPr id="11" name="Pictur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1352" y="5935987"/>
            <a:ext cx="2380647" cy="881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0469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tsikko ja kaksi palsta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3"/>
          <p:cNvSpPr>
            <a:spLocks noGrp="1"/>
          </p:cNvSpPr>
          <p:nvPr>
            <p:ph type="title"/>
          </p:nvPr>
        </p:nvSpPr>
        <p:spPr>
          <a:xfrm>
            <a:off x="1078028" y="438150"/>
            <a:ext cx="10145029" cy="1252538"/>
          </a:xfrm>
        </p:spPr>
        <p:txBody>
          <a:bodyPr anchor="b" anchorCtr="0"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16" name="Sisällön paikkamerkki 2">
            <a:extLst>
              <a:ext uri="{FF2B5EF4-FFF2-40B4-BE49-F238E27FC236}">
                <a16:creationId xmlns:a16="http://schemas.microsoft.com/office/drawing/2014/main" id="{E252CC0E-D4C3-47CC-8F2E-90BE622B9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8028" y="1825625"/>
            <a:ext cx="4932000" cy="4069849"/>
          </a:xfrm>
        </p:spPr>
        <p:txBody>
          <a:bodyPr>
            <a:noAutofit/>
          </a:bodyPr>
          <a:lstStyle/>
          <a:p>
            <a:pPr lvl="0"/>
            <a:r>
              <a:rPr lang="fi-FI" dirty="0"/>
              <a:t>Muokkaa tekstin perustyylejä</a:t>
            </a:r>
          </a:p>
          <a:p>
            <a:pPr lvl="1"/>
            <a:r>
              <a:rPr lang="fi-FI" dirty="0"/>
              <a:t>toinen taso</a:t>
            </a:r>
          </a:p>
          <a:p>
            <a:pPr lvl="2"/>
            <a:r>
              <a:rPr lang="fi-FI" dirty="0"/>
              <a:t>kolmas taso</a:t>
            </a:r>
          </a:p>
          <a:p>
            <a:pPr lvl="3"/>
            <a:r>
              <a:rPr lang="fi-FI" dirty="0"/>
              <a:t>neljäs taso</a:t>
            </a:r>
          </a:p>
          <a:p>
            <a:pPr lvl="4"/>
            <a:r>
              <a:rPr lang="fi-FI" dirty="0"/>
              <a:t>viides taso</a:t>
            </a:r>
          </a:p>
        </p:txBody>
      </p:sp>
      <p:sp>
        <p:nvSpPr>
          <p:cNvPr id="17" name="Sisällön paikkamerkki 2">
            <a:extLst>
              <a:ext uri="{FF2B5EF4-FFF2-40B4-BE49-F238E27FC236}">
                <a16:creationId xmlns:a16="http://schemas.microsoft.com/office/drawing/2014/main" id="{E252CC0E-D4C3-47CC-8F2E-90BE622B9EC9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91057" y="1825625"/>
            <a:ext cx="4932000" cy="4069849"/>
          </a:xfrm>
        </p:spPr>
        <p:txBody>
          <a:bodyPr>
            <a:noAutofit/>
          </a:bodyPr>
          <a:lstStyle/>
          <a:p>
            <a:pPr lvl="0"/>
            <a:r>
              <a:rPr lang="fi-FI" dirty="0"/>
              <a:t>Muokkaa tekstin perustyylejä</a:t>
            </a:r>
          </a:p>
          <a:p>
            <a:pPr lvl="1"/>
            <a:r>
              <a:rPr lang="fi-FI" dirty="0"/>
              <a:t>toinen taso</a:t>
            </a:r>
          </a:p>
          <a:p>
            <a:pPr lvl="2"/>
            <a:r>
              <a:rPr lang="fi-FI" dirty="0"/>
              <a:t>kolmas taso</a:t>
            </a:r>
          </a:p>
          <a:p>
            <a:pPr lvl="3"/>
            <a:r>
              <a:rPr lang="fi-FI" dirty="0"/>
              <a:t>neljäs taso</a:t>
            </a:r>
          </a:p>
          <a:p>
            <a:pPr lvl="4"/>
            <a:r>
              <a:rPr lang="fi-FI" dirty="0"/>
              <a:t>viides taso</a:t>
            </a:r>
          </a:p>
        </p:txBody>
      </p:sp>
      <p:sp>
        <p:nvSpPr>
          <p:cNvPr id="12" name="Date Placeholder 3"/>
          <p:cNvSpPr>
            <a:spLocks noGrp="1"/>
          </p:cNvSpPr>
          <p:nvPr>
            <p:ph type="dt" sz="half" idx="13"/>
          </p:nvPr>
        </p:nvSpPr>
        <p:spPr>
          <a:xfrm>
            <a:off x="1078028" y="6356350"/>
            <a:ext cx="2743200" cy="365125"/>
          </a:xfrm>
        </p:spPr>
        <p:txBody>
          <a:bodyPr/>
          <a:lstStyle>
            <a:lvl1pPr>
              <a:defRPr sz="105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45440BC-9B28-4ACE-B7B8-D3C83187B980}" type="datetimeFigureOut">
              <a:rPr lang="fi-FI" smtClean="0"/>
              <a:pPr/>
              <a:t>5.5.2025</a:t>
            </a:fld>
            <a:endParaRPr lang="fi-FI" dirty="0"/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14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105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fi-FI" dirty="0"/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15"/>
          </p:nvPr>
        </p:nvSpPr>
        <p:spPr>
          <a:xfrm>
            <a:off x="8353129" y="6356350"/>
            <a:ext cx="1464501" cy="365125"/>
          </a:xfrm>
        </p:spPr>
        <p:txBody>
          <a:bodyPr/>
          <a:lstStyle>
            <a:lvl1pPr>
              <a:defRPr sz="105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052F644-756C-4530-A69F-A71AB7A98F48}" type="slidenum">
              <a:rPr lang="fi-FI" smtClean="0"/>
              <a:pPr/>
              <a:t>‹#›</a:t>
            </a:fld>
            <a:endParaRPr lang="fi-FI"/>
          </a:p>
        </p:txBody>
      </p:sp>
      <p:pic>
        <p:nvPicPr>
          <p:cNvPr id="9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7630" y="5935127"/>
            <a:ext cx="2374370" cy="883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758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tsikko valkoin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1078028" y="438150"/>
            <a:ext cx="10145029" cy="1252538"/>
          </a:xfrm>
        </p:spPr>
        <p:txBody>
          <a:bodyPr anchor="b" anchorCtr="0"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3"/>
          </p:nvPr>
        </p:nvSpPr>
        <p:spPr>
          <a:xfrm>
            <a:off x="1078028" y="6356350"/>
            <a:ext cx="2743200" cy="365125"/>
          </a:xfrm>
        </p:spPr>
        <p:txBody>
          <a:bodyPr/>
          <a:lstStyle>
            <a:lvl1pPr>
              <a:defRPr sz="105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45440BC-9B28-4ACE-B7B8-D3C83187B980}" type="datetimeFigureOut">
              <a:rPr lang="fi-FI" smtClean="0"/>
              <a:pPr/>
              <a:t>5.5.2025</a:t>
            </a:fld>
            <a:endParaRPr lang="fi-FI" dirty="0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4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105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fi-FI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5"/>
          </p:nvPr>
        </p:nvSpPr>
        <p:spPr>
          <a:xfrm>
            <a:off x="8353129" y="6356350"/>
            <a:ext cx="1464501" cy="365125"/>
          </a:xfrm>
        </p:spPr>
        <p:txBody>
          <a:bodyPr/>
          <a:lstStyle>
            <a:lvl1pPr>
              <a:defRPr sz="105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052F644-756C-4530-A69F-A71AB7A98F48}" type="slidenum">
              <a:rPr lang="fi-FI" smtClean="0"/>
              <a:pPr/>
              <a:t>‹#›</a:t>
            </a:fld>
            <a:endParaRPr lang="fi-FI"/>
          </a:p>
        </p:txBody>
      </p:sp>
      <p:pic>
        <p:nvPicPr>
          <p:cNvPr id="7" name="Pictur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7630" y="5935127"/>
            <a:ext cx="2374370" cy="883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838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yhj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50"/>
            </a:lvl1pPr>
          </a:lstStyle>
          <a:p>
            <a:endParaRPr lang="fi-FI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1207030" cy="365125"/>
          </a:xfrm>
        </p:spPr>
        <p:txBody>
          <a:bodyPr/>
          <a:lstStyle>
            <a:lvl1pPr>
              <a:defRPr sz="1050"/>
            </a:lvl1pPr>
          </a:lstStyle>
          <a:p>
            <a:fld id="{D052F644-756C-4530-A69F-A71AB7A98F48}" type="slidenum">
              <a:rPr lang="fi-FI" smtClean="0"/>
              <a:pPr/>
              <a:t>‹#›</a:t>
            </a:fld>
            <a:endParaRPr lang="fi-FI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3"/>
          </p:nvPr>
        </p:nvSpPr>
        <p:spPr>
          <a:xfrm>
            <a:off x="1078028" y="6356350"/>
            <a:ext cx="2743200" cy="365125"/>
          </a:xfrm>
        </p:spPr>
        <p:txBody>
          <a:bodyPr/>
          <a:lstStyle>
            <a:lvl1pPr>
              <a:defRPr sz="105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45440BC-9B28-4ACE-B7B8-D3C83187B980}" type="datetimeFigureOut">
              <a:rPr lang="fi-FI" smtClean="0"/>
              <a:pPr/>
              <a:t>5.5.2025</a:t>
            </a:fld>
            <a:endParaRPr lang="fi-FI" dirty="0"/>
          </a:p>
        </p:txBody>
      </p:sp>
      <p:pic>
        <p:nvPicPr>
          <p:cNvPr id="7" name="Pictur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7630" y="5935127"/>
            <a:ext cx="2374370" cy="883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225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tsikko ja ingres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91800999-EDA5-4B6B-8344-7EB1B35BA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200" y="1673225"/>
            <a:ext cx="4780800" cy="3511550"/>
          </a:xfrm>
        </p:spPr>
        <p:txBody>
          <a:bodyPr>
            <a:normAutofit/>
          </a:bodyPr>
          <a:lstStyle>
            <a:lvl1pPr>
              <a:defRPr sz="5000" b="1"/>
            </a:lvl1pPr>
          </a:lstStyle>
          <a:p>
            <a:endParaRPr lang="fi-FI" dirty="0"/>
          </a:p>
        </p:txBody>
      </p:sp>
      <p:sp>
        <p:nvSpPr>
          <p:cNvPr id="6" name="Sisällön paikkamerkki 2">
            <a:extLst>
              <a:ext uri="{FF2B5EF4-FFF2-40B4-BE49-F238E27FC236}">
                <a16:creationId xmlns:a16="http://schemas.microsoft.com/office/drawing/2014/main" id="{E252CC0E-D4C3-47CC-8F2E-90BE622B9EC9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7272000" y="1227388"/>
            <a:ext cx="4534256" cy="4403224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2400" b="1"/>
            </a:lvl1pPr>
          </a:lstStyle>
          <a:p>
            <a:pPr lvl="0"/>
            <a:endParaRPr lang="fi-FI" dirty="0"/>
          </a:p>
        </p:txBody>
      </p:sp>
      <p:pic>
        <p:nvPicPr>
          <p:cNvPr id="5" name="Pictur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7464" y="2075205"/>
            <a:ext cx="1757071" cy="2707589"/>
          </a:xfrm>
          <a:prstGeom prst="rect">
            <a:avLst/>
          </a:prstGeom>
        </p:spPr>
      </p:pic>
      <p:sp>
        <p:nvSpPr>
          <p:cNvPr id="8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1050"/>
            </a:lvl1pPr>
          </a:lstStyle>
          <a:p>
            <a:endParaRPr lang="fi-FI"/>
          </a:p>
        </p:txBody>
      </p:sp>
      <p:sp>
        <p:nvSpPr>
          <p:cNvPr id="9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1207030" cy="365125"/>
          </a:xfrm>
        </p:spPr>
        <p:txBody>
          <a:bodyPr/>
          <a:lstStyle>
            <a:lvl1pPr>
              <a:defRPr sz="1050"/>
            </a:lvl1pPr>
          </a:lstStyle>
          <a:p>
            <a:fld id="{D052F644-756C-4530-A69F-A71AB7A98F48}" type="slidenum">
              <a:rPr lang="fi-FI" smtClean="0"/>
              <a:pPr/>
              <a:t>‹#›</a:t>
            </a:fld>
            <a:endParaRPr lang="fi-FI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3"/>
          </p:nvPr>
        </p:nvSpPr>
        <p:spPr>
          <a:xfrm>
            <a:off x="1078028" y="6356350"/>
            <a:ext cx="2743200" cy="365125"/>
          </a:xfrm>
        </p:spPr>
        <p:txBody>
          <a:bodyPr/>
          <a:lstStyle>
            <a:lvl1pPr>
              <a:defRPr sz="105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45440BC-9B28-4ACE-B7B8-D3C83187B980}" type="datetimeFigureOut">
              <a:rPr lang="fi-FI" smtClean="0"/>
              <a:pPr/>
              <a:t>5.5.2025</a:t>
            </a:fld>
            <a:endParaRPr lang="fi-FI" dirty="0"/>
          </a:p>
        </p:txBody>
      </p:sp>
      <p:pic>
        <p:nvPicPr>
          <p:cNvPr id="11" name="Pictur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7630" y="5935127"/>
            <a:ext cx="2374370" cy="883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577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sältö ja kuva valkoin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tsikko 1">
            <a:extLst>
              <a:ext uri="{FF2B5EF4-FFF2-40B4-BE49-F238E27FC236}">
                <a16:creationId xmlns:a16="http://schemas.microsoft.com/office/drawing/2014/main" id="{436EA9AB-4DAE-44E6-B3E6-A1CD4449B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029" y="397575"/>
            <a:ext cx="5017972" cy="1231200"/>
          </a:xfrm>
        </p:spPr>
        <p:txBody>
          <a:bodyPr anchor="b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fi-FI" dirty="0"/>
          </a:p>
        </p:txBody>
      </p:sp>
      <p:sp>
        <p:nvSpPr>
          <p:cNvPr id="8" name="Sisällön paikkamerkki 2">
            <a:extLst>
              <a:ext uri="{FF2B5EF4-FFF2-40B4-BE49-F238E27FC236}">
                <a16:creationId xmlns:a16="http://schemas.microsoft.com/office/drawing/2014/main" id="{890A10A0-19CC-4532-BE84-5127566411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78027" y="1887088"/>
            <a:ext cx="5017971" cy="4013427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fi-FI" dirty="0"/>
              <a:t>Muokkaa tekstin perustyylejä</a:t>
            </a:r>
          </a:p>
          <a:p>
            <a:pPr lvl="1"/>
            <a:r>
              <a:rPr lang="fi-FI" dirty="0"/>
              <a:t>toinen taso</a:t>
            </a:r>
          </a:p>
          <a:p>
            <a:pPr lvl="2"/>
            <a:r>
              <a:rPr lang="fi-FI" dirty="0"/>
              <a:t>kolmas taso</a:t>
            </a:r>
          </a:p>
          <a:p>
            <a:pPr lvl="3"/>
            <a:r>
              <a:rPr lang="fi-FI" dirty="0"/>
              <a:t>neljäs taso</a:t>
            </a:r>
          </a:p>
          <a:p>
            <a:pPr lvl="4"/>
            <a:r>
              <a:rPr lang="fi-FI" dirty="0"/>
              <a:t>viides taso</a:t>
            </a:r>
          </a:p>
        </p:txBody>
      </p:sp>
      <p:sp>
        <p:nvSpPr>
          <p:cNvPr id="5" name="Text Placeholder 2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 rot="2700000">
            <a:off x="6722429" y="3215374"/>
            <a:ext cx="427255" cy="427255"/>
          </a:xfrm>
          <a:solidFill>
            <a:schemeClr val="bg2"/>
          </a:solidFill>
        </p:spPr>
        <p:txBody>
          <a:bodyPr>
            <a:noAutofit/>
          </a:bodyPr>
          <a:lstStyle>
            <a:lvl1pPr marL="0" indent="0">
              <a:buNone/>
              <a:defRPr sz="400">
                <a:solidFill>
                  <a:schemeClr val="bg1"/>
                </a:solidFill>
              </a:defRPr>
            </a:lvl1pPr>
            <a:lvl2pPr marL="457200" indent="0">
              <a:buNone/>
              <a:defRPr sz="400"/>
            </a:lvl2pPr>
            <a:lvl3pPr marL="914400" indent="0">
              <a:buNone/>
              <a:defRPr sz="400"/>
            </a:lvl3pPr>
            <a:lvl4pPr marL="1371600" indent="0">
              <a:buNone/>
              <a:defRPr sz="400"/>
            </a:lvl4pPr>
            <a:lvl5pPr marL="1828800" indent="0">
              <a:buNone/>
              <a:defRPr sz="400"/>
            </a:lvl5pPr>
          </a:lstStyle>
          <a:p>
            <a:pPr lvl="0"/>
            <a:r>
              <a:rPr lang="en-US" dirty="0" err="1"/>
              <a:t>Nuoli</a:t>
            </a:r>
            <a:endParaRPr lang="en-US" dirty="0"/>
          </a:p>
        </p:txBody>
      </p:sp>
      <p:sp>
        <p:nvSpPr>
          <p:cNvPr id="7" name="Picture Placeholder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972300" y="0"/>
            <a:ext cx="52197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3922867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sältö ja kuva - must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tsikko 1">
            <a:extLst>
              <a:ext uri="{FF2B5EF4-FFF2-40B4-BE49-F238E27FC236}">
                <a16:creationId xmlns:a16="http://schemas.microsoft.com/office/drawing/2014/main" id="{436EA9AB-4DAE-44E6-B3E6-A1CD4449B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029" y="397575"/>
            <a:ext cx="5017972" cy="1231200"/>
          </a:xfrm>
        </p:spPr>
        <p:txBody>
          <a:bodyPr anchor="b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fi-FI" dirty="0"/>
          </a:p>
        </p:txBody>
      </p:sp>
      <p:sp>
        <p:nvSpPr>
          <p:cNvPr id="7" name="Picture Placeholder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972300" y="0"/>
            <a:ext cx="5219700" cy="6858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fi-FI" dirty="0"/>
          </a:p>
        </p:txBody>
      </p:sp>
      <p:sp>
        <p:nvSpPr>
          <p:cNvPr id="5" name="Text Placeholder 2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 rot="2700000">
            <a:off x="6722429" y="3215374"/>
            <a:ext cx="427255" cy="427255"/>
          </a:xfrm>
          <a:solidFill>
            <a:schemeClr val="tx1"/>
          </a:solidFill>
        </p:spPr>
        <p:txBody>
          <a:bodyPr>
            <a:noAutofit/>
          </a:bodyPr>
          <a:lstStyle>
            <a:lvl1pPr marL="0" indent="0">
              <a:buNone/>
              <a:defRPr sz="400">
                <a:solidFill>
                  <a:schemeClr val="tx1"/>
                </a:solidFill>
              </a:defRPr>
            </a:lvl1pPr>
            <a:lvl2pPr marL="457200" indent="0">
              <a:buNone/>
              <a:defRPr sz="400"/>
            </a:lvl2pPr>
            <a:lvl3pPr marL="914400" indent="0">
              <a:buNone/>
              <a:defRPr sz="400"/>
            </a:lvl3pPr>
            <a:lvl4pPr marL="1371600" indent="0">
              <a:buNone/>
              <a:defRPr sz="400"/>
            </a:lvl4pPr>
            <a:lvl5pPr marL="1828800" indent="0">
              <a:buNone/>
              <a:defRPr sz="400"/>
            </a:lvl5pPr>
          </a:lstStyle>
          <a:p>
            <a:pPr lvl="0"/>
            <a:r>
              <a:rPr lang="en-US" dirty="0" err="1"/>
              <a:t>Nuoli</a:t>
            </a:r>
            <a:endParaRPr lang="en-US" dirty="0"/>
          </a:p>
        </p:txBody>
      </p:sp>
      <p:sp>
        <p:nvSpPr>
          <p:cNvPr id="8" name="Sisällön paikkamerkki 2">
            <a:extLst>
              <a:ext uri="{FF2B5EF4-FFF2-40B4-BE49-F238E27FC236}">
                <a16:creationId xmlns:a16="http://schemas.microsoft.com/office/drawing/2014/main" id="{890A10A0-19CC-4532-BE84-5127566411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78027" y="1887088"/>
            <a:ext cx="5017971" cy="4013427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i-FI" dirty="0"/>
              <a:t>Muokkaa tekstin perustyylejä</a:t>
            </a:r>
          </a:p>
          <a:p>
            <a:pPr lvl="1"/>
            <a:r>
              <a:rPr lang="fi-FI" dirty="0"/>
              <a:t>toinen taso</a:t>
            </a:r>
          </a:p>
          <a:p>
            <a:pPr lvl="2"/>
            <a:r>
              <a:rPr lang="fi-FI" dirty="0"/>
              <a:t>kolmas taso</a:t>
            </a:r>
          </a:p>
          <a:p>
            <a:pPr lvl="3"/>
            <a:r>
              <a:rPr lang="fi-FI" dirty="0"/>
              <a:t>neljäs taso</a:t>
            </a:r>
          </a:p>
          <a:p>
            <a:pPr lvl="4"/>
            <a:r>
              <a:rPr lang="fi-FI" dirty="0"/>
              <a:t>viides taso</a:t>
            </a:r>
          </a:p>
        </p:txBody>
      </p:sp>
    </p:spTree>
    <p:extLst>
      <p:ext uri="{BB962C8B-B14F-4D97-AF65-F5344CB8AC3E}">
        <p14:creationId xmlns:p14="http://schemas.microsoft.com/office/powerpoint/2010/main" val="1397094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sältö ja kuva - vihreä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967800" y="0"/>
            <a:ext cx="5219700" cy="6858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fi-FI" dirty="0"/>
          </a:p>
        </p:txBody>
      </p:sp>
      <p:sp>
        <p:nvSpPr>
          <p:cNvPr id="5" name="Text Placeholder 2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 rot="2700000">
            <a:off x="6722429" y="3215374"/>
            <a:ext cx="427255" cy="427255"/>
          </a:xfrm>
          <a:solidFill>
            <a:schemeClr val="accent3"/>
          </a:solidFill>
        </p:spPr>
        <p:txBody>
          <a:bodyPr>
            <a:noAutofit/>
          </a:bodyPr>
          <a:lstStyle>
            <a:lvl1pPr marL="0" indent="0">
              <a:buNone/>
              <a:defRPr sz="400">
                <a:solidFill>
                  <a:schemeClr val="tx1"/>
                </a:solidFill>
              </a:defRPr>
            </a:lvl1pPr>
            <a:lvl2pPr marL="457200" indent="0">
              <a:buNone/>
              <a:defRPr sz="400"/>
            </a:lvl2pPr>
            <a:lvl3pPr marL="914400" indent="0">
              <a:buNone/>
              <a:defRPr sz="400"/>
            </a:lvl3pPr>
            <a:lvl4pPr marL="1371600" indent="0">
              <a:buNone/>
              <a:defRPr sz="400"/>
            </a:lvl4pPr>
            <a:lvl5pPr marL="1828800" indent="0">
              <a:buNone/>
              <a:defRPr sz="400"/>
            </a:lvl5pPr>
          </a:lstStyle>
          <a:p>
            <a:pPr lvl="0"/>
            <a:r>
              <a:rPr lang="en-US" dirty="0" err="1"/>
              <a:t>Nuoli</a:t>
            </a:r>
            <a:endParaRPr lang="en-US" dirty="0"/>
          </a:p>
        </p:txBody>
      </p:sp>
      <p:sp>
        <p:nvSpPr>
          <p:cNvPr id="6" name="Otsikko 1">
            <a:extLst>
              <a:ext uri="{FF2B5EF4-FFF2-40B4-BE49-F238E27FC236}">
                <a16:creationId xmlns:a16="http://schemas.microsoft.com/office/drawing/2014/main" id="{436EA9AB-4DAE-44E6-B3E6-A1CD4449B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029" y="397575"/>
            <a:ext cx="5017972" cy="1231200"/>
          </a:xfrm>
        </p:spPr>
        <p:txBody>
          <a:bodyPr anchor="b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fi-FI" dirty="0"/>
          </a:p>
        </p:txBody>
      </p:sp>
      <p:sp>
        <p:nvSpPr>
          <p:cNvPr id="8" name="Sisällön paikkamerkki 2">
            <a:extLst>
              <a:ext uri="{FF2B5EF4-FFF2-40B4-BE49-F238E27FC236}">
                <a16:creationId xmlns:a16="http://schemas.microsoft.com/office/drawing/2014/main" id="{890A10A0-19CC-4532-BE84-5127566411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78027" y="1887088"/>
            <a:ext cx="5017971" cy="4013427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fi-FI" dirty="0"/>
              <a:t>Muokkaa tekstin perustyylejä</a:t>
            </a:r>
          </a:p>
          <a:p>
            <a:pPr lvl="1"/>
            <a:r>
              <a:rPr lang="fi-FI" dirty="0"/>
              <a:t>toinen taso</a:t>
            </a:r>
          </a:p>
          <a:p>
            <a:pPr lvl="2"/>
            <a:r>
              <a:rPr lang="fi-FI" dirty="0"/>
              <a:t>kolmas taso</a:t>
            </a:r>
          </a:p>
          <a:p>
            <a:pPr lvl="3"/>
            <a:r>
              <a:rPr lang="fi-FI" dirty="0"/>
              <a:t>neljäs taso</a:t>
            </a:r>
          </a:p>
          <a:p>
            <a:pPr lvl="4"/>
            <a:r>
              <a:rPr lang="fi-FI" dirty="0"/>
              <a:t>viides taso</a:t>
            </a:r>
          </a:p>
        </p:txBody>
      </p:sp>
    </p:spTree>
    <p:extLst>
      <p:ext uri="{BB962C8B-B14F-4D97-AF65-F5344CB8AC3E}">
        <p14:creationId xmlns:p14="http://schemas.microsoft.com/office/powerpoint/2010/main" val="29368406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sältö ja kuva - violetti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972300" y="0"/>
            <a:ext cx="5219700" cy="6858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fi-FI" dirty="0"/>
          </a:p>
        </p:txBody>
      </p:sp>
      <p:sp>
        <p:nvSpPr>
          <p:cNvPr id="5" name="Text Placeholder 2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 rot="2700000">
            <a:off x="6722429" y="3215374"/>
            <a:ext cx="427255" cy="427255"/>
          </a:xfrm>
          <a:solidFill>
            <a:schemeClr val="accent2"/>
          </a:solidFill>
        </p:spPr>
        <p:txBody>
          <a:bodyPr>
            <a:noAutofit/>
          </a:bodyPr>
          <a:lstStyle>
            <a:lvl1pPr marL="0" indent="0">
              <a:buNone/>
              <a:defRPr sz="400">
                <a:solidFill>
                  <a:schemeClr val="accent2"/>
                </a:solidFill>
              </a:defRPr>
            </a:lvl1pPr>
            <a:lvl2pPr marL="457200" indent="0">
              <a:buNone/>
              <a:defRPr sz="400"/>
            </a:lvl2pPr>
            <a:lvl3pPr marL="914400" indent="0">
              <a:buNone/>
              <a:defRPr sz="400"/>
            </a:lvl3pPr>
            <a:lvl4pPr marL="1371600" indent="0">
              <a:buNone/>
              <a:defRPr sz="400"/>
            </a:lvl4pPr>
            <a:lvl5pPr marL="1828800" indent="0">
              <a:buNone/>
              <a:defRPr sz="400"/>
            </a:lvl5pPr>
          </a:lstStyle>
          <a:p>
            <a:pPr lvl="0"/>
            <a:r>
              <a:rPr lang="en-US" dirty="0" err="1"/>
              <a:t>Nuoli</a:t>
            </a:r>
            <a:endParaRPr lang="en-US" dirty="0"/>
          </a:p>
        </p:txBody>
      </p:sp>
      <p:sp>
        <p:nvSpPr>
          <p:cNvPr id="6" name="Otsikko 1">
            <a:extLst>
              <a:ext uri="{FF2B5EF4-FFF2-40B4-BE49-F238E27FC236}">
                <a16:creationId xmlns:a16="http://schemas.microsoft.com/office/drawing/2014/main" id="{436EA9AB-4DAE-44E6-B3E6-A1CD4449B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029" y="397575"/>
            <a:ext cx="5017972" cy="1231200"/>
          </a:xfrm>
        </p:spPr>
        <p:txBody>
          <a:bodyPr anchor="b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fi-FI" dirty="0"/>
          </a:p>
        </p:txBody>
      </p:sp>
      <p:sp>
        <p:nvSpPr>
          <p:cNvPr id="8" name="Sisällön paikkamerkki 2">
            <a:extLst>
              <a:ext uri="{FF2B5EF4-FFF2-40B4-BE49-F238E27FC236}">
                <a16:creationId xmlns:a16="http://schemas.microsoft.com/office/drawing/2014/main" id="{890A10A0-19CC-4532-BE84-5127566411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78027" y="1887088"/>
            <a:ext cx="5017971" cy="4013427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i-FI" dirty="0"/>
              <a:t>Muokkaa tekstin perustyylejä</a:t>
            </a:r>
          </a:p>
          <a:p>
            <a:pPr lvl="1"/>
            <a:r>
              <a:rPr lang="fi-FI" dirty="0"/>
              <a:t>toinen taso</a:t>
            </a:r>
          </a:p>
          <a:p>
            <a:pPr lvl="2"/>
            <a:r>
              <a:rPr lang="fi-FI" dirty="0"/>
              <a:t>kolmas taso</a:t>
            </a:r>
          </a:p>
          <a:p>
            <a:pPr lvl="3"/>
            <a:r>
              <a:rPr lang="fi-FI" dirty="0"/>
              <a:t>neljäs taso</a:t>
            </a:r>
          </a:p>
          <a:p>
            <a:pPr lvl="4"/>
            <a:r>
              <a:rPr lang="fi-FI" dirty="0"/>
              <a:t>viides taso</a:t>
            </a:r>
          </a:p>
        </p:txBody>
      </p:sp>
    </p:spTree>
    <p:extLst>
      <p:ext uri="{BB962C8B-B14F-4D97-AF65-F5344CB8AC3E}">
        <p14:creationId xmlns:p14="http://schemas.microsoft.com/office/powerpoint/2010/main" val="22264315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sältö ja kuva - turkoosi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972300" y="0"/>
            <a:ext cx="52197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endParaRPr lang="fi-FI" dirty="0"/>
          </a:p>
        </p:txBody>
      </p:sp>
      <p:sp>
        <p:nvSpPr>
          <p:cNvPr id="5" name="Text Placeholder 2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 rot="2700000">
            <a:off x="6722429" y="3215374"/>
            <a:ext cx="427255" cy="427255"/>
          </a:xfrm>
          <a:solidFill>
            <a:schemeClr val="accent1"/>
          </a:solidFill>
        </p:spPr>
        <p:txBody>
          <a:bodyPr>
            <a:noAutofit/>
          </a:bodyPr>
          <a:lstStyle>
            <a:lvl1pPr marL="0" indent="0">
              <a:buNone/>
              <a:defRPr sz="400">
                <a:solidFill>
                  <a:schemeClr val="accent2"/>
                </a:solidFill>
              </a:defRPr>
            </a:lvl1pPr>
            <a:lvl2pPr marL="457200" indent="0">
              <a:buNone/>
              <a:defRPr sz="400"/>
            </a:lvl2pPr>
            <a:lvl3pPr marL="914400" indent="0">
              <a:buNone/>
              <a:defRPr sz="400"/>
            </a:lvl3pPr>
            <a:lvl4pPr marL="1371600" indent="0">
              <a:buNone/>
              <a:defRPr sz="400"/>
            </a:lvl4pPr>
            <a:lvl5pPr marL="1828800" indent="0">
              <a:buNone/>
              <a:defRPr sz="400"/>
            </a:lvl5pPr>
          </a:lstStyle>
          <a:p>
            <a:pPr lvl="0"/>
            <a:r>
              <a:rPr lang="en-US" dirty="0" err="1"/>
              <a:t>Nuoli</a:t>
            </a:r>
            <a:endParaRPr lang="en-US" dirty="0"/>
          </a:p>
        </p:txBody>
      </p:sp>
      <p:sp>
        <p:nvSpPr>
          <p:cNvPr id="6" name="Otsikko 1">
            <a:extLst>
              <a:ext uri="{FF2B5EF4-FFF2-40B4-BE49-F238E27FC236}">
                <a16:creationId xmlns:a16="http://schemas.microsoft.com/office/drawing/2014/main" id="{436EA9AB-4DAE-44E6-B3E6-A1CD4449B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029" y="397575"/>
            <a:ext cx="5017972" cy="1231200"/>
          </a:xfrm>
        </p:spPr>
        <p:txBody>
          <a:bodyPr anchor="b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fi-FI" dirty="0"/>
          </a:p>
        </p:txBody>
      </p:sp>
      <p:sp>
        <p:nvSpPr>
          <p:cNvPr id="8" name="Sisällön paikkamerkki 2">
            <a:extLst>
              <a:ext uri="{FF2B5EF4-FFF2-40B4-BE49-F238E27FC236}">
                <a16:creationId xmlns:a16="http://schemas.microsoft.com/office/drawing/2014/main" id="{890A10A0-19CC-4532-BE84-5127566411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78027" y="1887088"/>
            <a:ext cx="5017971" cy="4013427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fi-FI" dirty="0"/>
              <a:t>Muokkaa tekstin perustyylejä</a:t>
            </a:r>
          </a:p>
          <a:p>
            <a:pPr lvl="1"/>
            <a:r>
              <a:rPr lang="fi-FI" dirty="0"/>
              <a:t>toinen taso</a:t>
            </a:r>
          </a:p>
          <a:p>
            <a:pPr lvl="2"/>
            <a:r>
              <a:rPr lang="fi-FI" dirty="0"/>
              <a:t>kolmas taso</a:t>
            </a:r>
          </a:p>
          <a:p>
            <a:pPr lvl="3"/>
            <a:r>
              <a:rPr lang="fi-FI" dirty="0"/>
              <a:t>neljäs taso</a:t>
            </a:r>
          </a:p>
          <a:p>
            <a:pPr lvl="4"/>
            <a:r>
              <a:rPr lang="fi-FI" dirty="0"/>
              <a:t>viides taso</a:t>
            </a:r>
          </a:p>
        </p:txBody>
      </p:sp>
    </p:spTree>
    <p:extLst>
      <p:ext uri="{BB962C8B-B14F-4D97-AF65-F5344CB8AC3E}">
        <p14:creationId xmlns:p14="http://schemas.microsoft.com/office/powerpoint/2010/main" val="25971858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sältö ja kuva - punainen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972300" y="0"/>
            <a:ext cx="52197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endParaRPr lang="fi-FI" dirty="0"/>
          </a:p>
        </p:txBody>
      </p:sp>
      <p:sp>
        <p:nvSpPr>
          <p:cNvPr id="2" name="Otsikko 1">
            <a:extLst>
              <a:ext uri="{FF2B5EF4-FFF2-40B4-BE49-F238E27FC236}">
                <a16:creationId xmlns:a16="http://schemas.microsoft.com/office/drawing/2014/main" id="{436EA9AB-4DAE-44E6-B3E6-A1CD4449B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029" y="397575"/>
            <a:ext cx="5017972" cy="1231200"/>
          </a:xfrm>
        </p:spPr>
        <p:txBody>
          <a:bodyPr anchor="b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fi-FI" dirty="0"/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890A10A0-19CC-4532-BE84-5127566411A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78027" y="1887088"/>
            <a:ext cx="5017971" cy="4013427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i-FI" dirty="0"/>
              <a:t>Muokkaa tekstin perustyylejä</a:t>
            </a:r>
          </a:p>
          <a:p>
            <a:pPr lvl="1"/>
            <a:r>
              <a:rPr lang="fi-FI" dirty="0"/>
              <a:t>toinen taso</a:t>
            </a:r>
          </a:p>
          <a:p>
            <a:pPr lvl="2"/>
            <a:r>
              <a:rPr lang="fi-FI" dirty="0"/>
              <a:t>kolmas taso</a:t>
            </a:r>
          </a:p>
          <a:p>
            <a:pPr lvl="3"/>
            <a:r>
              <a:rPr lang="fi-FI" dirty="0"/>
              <a:t>neljäs taso</a:t>
            </a:r>
          </a:p>
          <a:p>
            <a:pPr lvl="4"/>
            <a:r>
              <a:rPr lang="fi-FI" dirty="0"/>
              <a:t>viides taso</a:t>
            </a:r>
          </a:p>
        </p:txBody>
      </p:sp>
      <p:sp>
        <p:nvSpPr>
          <p:cNvPr id="5" name="Text Placeholder 2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 rot="2700000">
            <a:off x="6722429" y="3215374"/>
            <a:ext cx="427255" cy="427255"/>
          </a:xfrm>
          <a:solidFill>
            <a:schemeClr val="accent4"/>
          </a:solidFill>
        </p:spPr>
        <p:txBody>
          <a:bodyPr>
            <a:noAutofit/>
          </a:bodyPr>
          <a:lstStyle>
            <a:lvl1pPr marL="0" indent="0">
              <a:buNone/>
              <a:defRPr sz="400">
                <a:solidFill>
                  <a:schemeClr val="accent4"/>
                </a:solidFill>
              </a:defRPr>
            </a:lvl1pPr>
            <a:lvl2pPr marL="457200" indent="0">
              <a:buNone/>
              <a:defRPr sz="400"/>
            </a:lvl2pPr>
            <a:lvl3pPr marL="914400" indent="0">
              <a:buNone/>
              <a:defRPr sz="400"/>
            </a:lvl3pPr>
            <a:lvl4pPr marL="1371600" indent="0">
              <a:buNone/>
              <a:defRPr sz="400"/>
            </a:lvl4pPr>
            <a:lvl5pPr marL="1828800" indent="0">
              <a:buNone/>
              <a:defRPr sz="400"/>
            </a:lvl5pPr>
          </a:lstStyle>
          <a:p>
            <a:pPr lvl="0"/>
            <a:r>
              <a:rPr lang="en-US" dirty="0" err="1"/>
              <a:t>Nuoli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26965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6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va ja sisältö - must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0" y="0"/>
            <a:ext cx="5219700" cy="6858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fi-FI" dirty="0"/>
          </a:p>
        </p:txBody>
      </p:sp>
      <p:sp>
        <p:nvSpPr>
          <p:cNvPr id="2" name="Otsikko 1">
            <a:extLst>
              <a:ext uri="{FF2B5EF4-FFF2-40B4-BE49-F238E27FC236}">
                <a16:creationId xmlns:a16="http://schemas.microsoft.com/office/drawing/2014/main" id="{436EA9AB-4DAE-44E6-B3E6-A1CD4449B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7798" y="404038"/>
            <a:ext cx="5017972" cy="1229958"/>
          </a:xfrm>
        </p:spPr>
        <p:txBody>
          <a:bodyPr anchor="b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fi-FI" dirty="0"/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890A10A0-19CC-4532-BE84-5127566411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07796" y="1864243"/>
            <a:ext cx="5017971" cy="4217580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i-FI" dirty="0"/>
              <a:t>Muokkaa tekstin perustyylejä</a:t>
            </a:r>
          </a:p>
          <a:p>
            <a:pPr lvl="1"/>
            <a:r>
              <a:rPr lang="fi-FI" dirty="0"/>
              <a:t>toinen taso</a:t>
            </a:r>
          </a:p>
          <a:p>
            <a:pPr lvl="2"/>
            <a:r>
              <a:rPr lang="fi-FI" dirty="0"/>
              <a:t>kolmas taso</a:t>
            </a:r>
          </a:p>
          <a:p>
            <a:pPr lvl="3"/>
            <a:r>
              <a:rPr lang="fi-FI" dirty="0"/>
              <a:t>neljäs taso</a:t>
            </a:r>
          </a:p>
          <a:p>
            <a:pPr lvl="4"/>
            <a:r>
              <a:rPr lang="fi-FI" dirty="0"/>
              <a:t>viides taso</a:t>
            </a:r>
          </a:p>
        </p:txBody>
      </p:sp>
      <p:sp>
        <p:nvSpPr>
          <p:cNvPr id="5" name="Text Placeholder 2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 rot="2700000">
            <a:off x="5024861" y="3215374"/>
            <a:ext cx="427255" cy="427255"/>
          </a:xfrm>
          <a:solidFill>
            <a:schemeClr val="tx1"/>
          </a:solidFill>
        </p:spPr>
        <p:txBody>
          <a:bodyPr>
            <a:noAutofit/>
          </a:bodyPr>
          <a:lstStyle>
            <a:lvl1pPr marL="0" indent="0">
              <a:buNone/>
              <a:defRPr sz="400">
                <a:solidFill>
                  <a:schemeClr val="tx1"/>
                </a:solidFill>
              </a:defRPr>
            </a:lvl1pPr>
            <a:lvl2pPr marL="457200" indent="0">
              <a:buNone/>
              <a:defRPr sz="400"/>
            </a:lvl2pPr>
            <a:lvl3pPr marL="914400" indent="0">
              <a:buNone/>
              <a:defRPr sz="400"/>
            </a:lvl3pPr>
            <a:lvl4pPr marL="1371600" indent="0">
              <a:buNone/>
              <a:defRPr sz="400"/>
            </a:lvl4pPr>
            <a:lvl5pPr marL="1828800" indent="0">
              <a:buNone/>
              <a:defRPr sz="400"/>
            </a:lvl5pPr>
          </a:lstStyle>
          <a:p>
            <a:pPr lvl="0"/>
            <a:r>
              <a:rPr lang="en-US" dirty="0" err="1"/>
              <a:t>Nuoli</a:t>
            </a:r>
            <a:endParaRPr lang="en-US" dirty="0"/>
          </a:p>
        </p:txBody>
      </p:sp>
      <p:pic>
        <p:nvPicPr>
          <p:cNvPr id="9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1352" y="5935987"/>
            <a:ext cx="2380647" cy="881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7950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6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va ja sisältö - valkoine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0" y="0"/>
            <a:ext cx="5219700" cy="6858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endParaRPr lang="fi-FI" dirty="0"/>
          </a:p>
        </p:txBody>
      </p:sp>
      <p:sp>
        <p:nvSpPr>
          <p:cNvPr id="2" name="Otsikko 1">
            <a:extLst>
              <a:ext uri="{FF2B5EF4-FFF2-40B4-BE49-F238E27FC236}">
                <a16:creationId xmlns:a16="http://schemas.microsoft.com/office/drawing/2014/main" id="{436EA9AB-4DAE-44E6-B3E6-A1CD4449B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7798" y="404038"/>
            <a:ext cx="5017972" cy="1229958"/>
          </a:xfrm>
        </p:spPr>
        <p:txBody>
          <a:bodyPr anchor="b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fi-FI" dirty="0"/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890A10A0-19CC-4532-BE84-5127566411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07796" y="1864243"/>
            <a:ext cx="5017971" cy="4217580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fi-FI" dirty="0"/>
              <a:t>Muokkaa tekstin perustyylejä</a:t>
            </a:r>
          </a:p>
          <a:p>
            <a:pPr lvl="1"/>
            <a:r>
              <a:rPr lang="fi-FI" dirty="0"/>
              <a:t>toinen taso</a:t>
            </a:r>
          </a:p>
          <a:p>
            <a:pPr lvl="2"/>
            <a:r>
              <a:rPr lang="fi-FI" dirty="0"/>
              <a:t>kolmas taso</a:t>
            </a:r>
          </a:p>
          <a:p>
            <a:pPr lvl="3"/>
            <a:r>
              <a:rPr lang="fi-FI" dirty="0"/>
              <a:t>neljäs taso</a:t>
            </a:r>
          </a:p>
          <a:p>
            <a:pPr lvl="4"/>
            <a:r>
              <a:rPr lang="fi-FI" dirty="0"/>
              <a:t>viides taso</a:t>
            </a:r>
          </a:p>
        </p:txBody>
      </p:sp>
      <p:sp>
        <p:nvSpPr>
          <p:cNvPr id="5" name="Text Placeholder 2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 rot="2700000">
            <a:off x="5024861" y="3215374"/>
            <a:ext cx="427255" cy="427255"/>
          </a:xfrm>
          <a:solidFill>
            <a:schemeClr val="bg1"/>
          </a:solidFill>
        </p:spPr>
        <p:txBody>
          <a:bodyPr>
            <a:noAutofit/>
          </a:bodyPr>
          <a:lstStyle>
            <a:lvl1pPr marL="0" indent="0">
              <a:buNone/>
              <a:defRPr sz="400">
                <a:solidFill>
                  <a:schemeClr val="tx1"/>
                </a:solidFill>
              </a:defRPr>
            </a:lvl1pPr>
            <a:lvl2pPr marL="457200" indent="0">
              <a:buNone/>
              <a:defRPr sz="400"/>
            </a:lvl2pPr>
            <a:lvl3pPr marL="914400" indent="0">
              <a:buNone/>
              <a:defRPr sz="400"/>
            </a:lvl3pPr>
            <a:lvl4pPr marL="1371600" indent="0">
              <a:buNone/>
              <a:defRPr sz="400"/>
            </a:lvl4pPr>
            <a:lvl5pPr marL="1828800" indent="0">
              <a:buNone/>
              <a:defRPr sz="400"/>
            </a:lvl5pPr>
          </a:lstStyle>
          <a:p>
            <a:pPr lvl="0"/>
            <a:r>
              <a:rPr lang="en-US" dirty="0" err="1"/>
              <a:t>Nuoli</a:t>
            </a:r>
            <a:endParaRPr lang="en-US" dirty="0"/>
          </a:p>
        </p:txBody>
      </p:sp>
      <p:pic>
        <p:nvPicPr>
          <p:cNvPr id="8" name="Pictur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7630" y="5914740"/>
            <a:ext cx="2374370" cy="883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1948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6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va ja sisältö - violetti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0" y="0"/>
            <a:ext cx="5219700" cy="6858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fi-FI" dirty="0"/>
              <a:t>Lisää kuva</a:t>
            </a:r>
          </a:p>
        </p:txBody>
      </p:sp>
      <p:sp>
        <p:nvSpPr>
          <p:cNvPr id="2" name="Otsikko 1">
            <a:extLst>
              <a:ext uri="{FF2B5EF4-FFF2-40B4-BE49-F238E27FC236}">
                <a16:creationId xmlns:a16="http://schemas.microsoft.com/office/drawing/2014/main" id="{436EA9AB-4DAE-44E6-B3E6-A1CD4449B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7798" y="404038"/>
            <a:ext cx="5017972" cy="1229958"/>
          </a:xfrm>
        </p:spPr>
        <p:txBody>
          <a:bodyPr anchor="b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fi-FI" dirty="0"/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890A10A0-19CC-4532-BE84-5127566411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07796" y="1864243"/>
            <a:ext cx="5017971" cy="4217580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i-FI" dirty="0"/>
              <a:t>Muokkaa tekstin perustyylejä</a:t>
            </a:r>
          </a:p>
          <a:p>
            <a:pPr lvl="1"/>
            <a:r>
              <a:rPr lang="fi-FI" dirty="0"/>
              <a:t>toinen taso</a:t>
            </a:r>
          </a:p>
          <a:p>
            <a:pPr lvl="2"/>
            <a:r>
              <a:rPr lang="fi-FI" dirty="0"/>
              <a:t>kolmas taso</a:t>
            </a:r>
          </a:p>
          <a:p>
            <a:pPr lvl="3"/>
            <a:r>
              <a:rPr lang="fi-FI" dirty="0"/>
              <a:t>neljäs taso</a:t>
            </a:r>
          </a:p>
          <a:p>
            <a:pPr lvl="4"/>
            <a:r>
              <a:rPr lang="fi-FI" dirty="0"/>
              <a:t>viides taso</a:t>
            </a:r>
          </a:p>
        </p:txBody>
      </p:sp>
      <p:sp>
        <p:nvSpPr>
          <p:cNvPr id="5" name="Text Placeholder 2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 rot="2700000">
            <a:off x="5024861" y="3215374"/>
            <a:ext cx="427255" cy="427255"/>
          </a:xfrm>
          <a:solidFill>
            <a:schemeClr val="accent2"/>
          </a:solidFill>
        </p:spPr>
        <p:txBody>
          <a:bodyPr>
            <a:noAutofit/>
          </a:bodyPr>
          <a:lstStyle>
            <a:lvl1pPr marL="0" indent="0">
              <a:buNone/>
              <a:defRPr sz="400">
                <a:solidFill>
                  <a:schemeClr val="tx1"/>
                </a:solidFill>
              </a:defRPr>
            </a:lvl1pPr>
            <a:lvl2pPr marL="457200" indent="0">
              <a:buNone/>
              <a:defRPr sz="400"/>
            </a:lvl2pPr>
            <a:lvl3pPr marL="914400" indent="0">
              <a:buNone/>
              <a:defRPr sz="400"/>
            </a:lvl3pPr>
            <a:lvl4pPr marL="1371600" indent="0">
              <a:buNone/>
              <a:defRPr sz="400"/>
            </a:lvl4pPr>
            <a:lvl5pPr marL="1828800" indent="0">
              <a:buNone/>
              <a:defRPr sz="400"/>
            </a:lvl5pPr>
          </a:lstStyle>
          <a:p>
            <a:pPr lvl="0"/>
            <a:r>
              <a:rPr lang="en-US" dirty="0" err="1"/>
              <a:t>Nuoli</a:t>
            </a:r>
            <a:endParaRPr lang="en-US" dirty="0"/>
          </a:p>
        </p:txBody>
      </p:sp>
      <p:pic>
        <p:nvPicPr>
          <p:cNvPr id="8" name="Pictur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1352" y="5935987"/>
            <a:ext cx="2380647" cy="881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36995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äliotsikko punainen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87E587F3-499A-4FFF-8E39-6F7431222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924026"/>
            <a:ext cx="5264150" cy="1337911"/>
          </a:xfrm>
        </p:spPr>
        <p:txBody>
          <a:bodyPr anchor="t" anchorCtr="0"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endParaRPr lang="fi-FI" dirty="0"/>
          </a:p>
        </p:txBody>
      </p:sp>
      <p:pic>
        <p:nvPicPr>
          <p:cNvPr id="5" name="Pictur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1352" y="5935987"/>
            <a:ext cx="2380647" cy="881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66099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äliotsikko vihreä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1352" y="5935987"/>
            <a:ext cx="2380647" cy="881499"/>
          </a:xfrm>
          <a:prstGeom prst="rect">
            <a:avLst/>
          </a:prstGeom>
        </p:spPr>
      </p:pic>
      <p:sp>
        <p:nvSpPr>
          <p:cNvPr id="5" name="Otsikko 1">
            <a:extLst>
              <a:ext uri="{FF2B5EF4-FFF2-40B4-BE49-F238E27FC236}">
                <a16:creationId xmlns:a16="http://schemas.microsoft.com/office/drawing/2014/main" id="{87E587F3-499A-4FFF-8E39-6F7431222FD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924026"/>
            <a:ext cx="5264150" cy="1337911"/>
          </a:xfrm>
        </p:spPr>
        <p:txBody>
          <a:bodyPr anchor="t" anchorCtr="0">
            <a:norm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38056091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äliotsikko violetti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1352" y="5935987"/>
            <a:ext cx="2380647" cy="881499"/>
          </a:xfrm>
          <a:prstGeom prst="rect">
            <a:avLst/>
          </a:prstGeom>
        </p:spPr>
      </p:pic>
      <p:sp>
        <p:nvSpPr>
          <p:cNvPr id="5" name="Otsikko 1">
            <a:extLst>
              <a:ext uri="{FF2B5EF4-FFF2-40B4-BE49-F238E27FC236}">
                <a16:creationId xmlns:a16="http://schemas.microsoft.com/office/drawing/2014/main" id="{87E587F3-499A-4FFF-8E39-6F7431222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924026"/>
            <a:ext cx="5264150" cy="1337911"/>
          </a:xfrm>
        </p:spPr>
        <p:txBody>
          <a:bodyPr anchor="t" anchorCtr="0"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151454742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äliotsikko turkoosi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1352" y="5935987"/>
            <a:ext cx="2380647" cy="881499"/>
          </a:xfrm>
          <a:prstGeom prst="rect">
            <a:avLst/>
          </a:prstGeom>
        </p:spPr>
      </p:pic>
      <p:sp>
        <p:nvSpPr>
          <p:cNvPr id="5" name="Otsikko 1">
            <a:extLst>
              <a:ext uri="{FF2B5EF4-FFF2-40B4-BE49-F238E27FC236}">
                <a16:creationId xmlns:a16="http://schemas.microsoft.com/office/drawing/2014/main" id="{87E587F3-499A-4FFF-8E39-6F7431222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924026"/>
            <a:ext cx="5264150" cy="1337911"/>
          </a:xfrm>
        </p:spPr>
        <p:txBody>
          <a:bodyPr anchor="t" anchorCtr="0">
            <a:norm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137106435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ppu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laotsikko 2">
            <a:extLst>
              <a:ext uri="{FF2B5EF4-FFF2-40B4-BE49-F238E27FC236}">
                <a16:creationId xmlns:a16="http://schemas.microsoft.com/office/drawing/2014/main" id="{66072717-81C3-4F6B-9309-1674C171F5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55574" y="4831894"/>
            <a:ext cx="7480852" cy="505672"/>
          </a:xfrm>
        </p:spPr>
        <p:txBody>
          <a:bodyPr>
            <a:norm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fi-FI" dirty="0"/>
          </a:p>
        </p:txBody>
      </p:sp>
      <p:sp>
        <p:nvSpPr>
          <p:cNvPr id="5" name="Tekstin paikkamerkki 12">
            <a:extLst>
              <a:ext uri="{FF2B5EF4-FFF2-40B4-BE49-F238E27FC236}">
                <a16:creationId xmlns:a16="http://schemas.microsoft.com/office/drawing/2014/main" id="{889DA205-0B6C-45D6-91B2-25C1E2981B6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356654" y="5491071"/>
            <a:ext cx="7478692" cy="327673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accent5"/>
                </a:solidFill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5"/>
                </a:solidFill>
              </a:defRPr>
            </a:lvl3pPr>
            <a:lvl4pPr marL="1371600" indent="0">
              <a:buNone/>
              <a:defRPr>
                <a:solidFill>
                  <a:schemeClr val="accent5"/>
                </a:solidFill>
              </a:defRPr>
            </a:lvl4pPr>
            <a:lvl5pPr marL="1828800" indent="0">
              <a:buNone/>
              <a:defRPr>
                <a:solidFill>
                  <a:schemeClr val="accent5"/>
                </a:solidFill>
              </a:defRPr>
            </a:lvl5pPr>
          </a:lstStyle>
          <a:p>
            <a:pPr lvl="0"/>
            <a:endParaRPr lang="fi-FI" dirty="0"/>
          </a:p>
        </p:txBody>
      </p:sp>
      <p:pic>
        <p:nvPicPr>
          <p:cNvPr id="3" name="Picture 2" descr="Logo of the University of Turku with the winged torch emblem and the text University of Turku.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8109" y="2352016"/>
            <a:ext cx="5795784" cy="2153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916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fi-FI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fi-FI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5440BC-9B28-4ACE-B7B8-D3C83187B980}" type="datetimeFigureOut">
              <a:rPr lang="fi-FI" smtClean="0"/>
              <a:t>5.5.2025</a:t>
            </a:fld>
            <a:endParaRPr lang="fi-F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i-F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52F644-756C-4530-A69F-A71AB7A98F48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156673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79" r:id="rId7"/>
    <p:sldLayoutId id="2147483673" r:id="rId8"/>
    <p:sldLayoutId id="2147483666" r:id="rId9"/>
    <p:sldLayoutId id="2147483680" r:id="rId10"/>
    <p:sldLayoutId id="2147483681" r:id="rId11"/>
    <p:sldLayoutId id="2147483682" r:id="rId12"/>
    <p:sldLayoutId id="2147483683" r:id="rId13"/>
    <p:sldLayoutId id="2147483684" r:id="rId14"/>
    <p:sldLayoutId id="2147483685" r:id="rId15"/>
    <p:sldLayoutId id="2147483686" r:id="rId16"/>
    <p:sldLayoutId id="2147483687" r:id="rId17"/>
    <p:sldLayoutId id="2147483688" r:id="rId18"/>
    <p:sldLayoutId id="2147483674" r:id="rId19"/>
    <p:sldLayoutId id="2147483675" r:id="rId20"/>
    <p:sldLayoutId id="2147483676" r:id="rId21"/>
    <p:sldLayoutId id="2147483677" r:id="rId22"/>
    <p:sldLayoutId id="2147483678" r:id="rId2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i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i-FI" dirty="0" err="1"/>
              <a:t>Hologen</a:t>
            </a:r>
            <a:r>
              <a:rPr lang="fi-FI" dirty="0"/>
              <a:t> 1</a:t>
            </a:r>
            <a:r>
              <a:rPr lang="fi-FI" baseline="30000" dirty="0"/>
              <a:t>st</a:t>
            </a:r>
            <a:r>
              <a:rPr lang="fi-FI" dirty="0"/>
              <a:t> </a:t>
            </a:r>
            <a:r>
              <a:rPr lang="fi-FI" dirty="0" err="1"/>
              <a:t>training</a:t>
            </a:r>
            <a:r>
              <a:rPr lang="fi-FI" dirty="0"/>
              <a:t> </a:t>
            </a:r>
            <a:r>
              <a:rPr lang="fi-FI" dirty="0" err="1"/>
              <a:t>week</a:t>
            </a:r>
            <a:r>
              <a:rPr lang="fi-FI" dirty="0"/>
              <a:t> / </a:t>
            </a:r>
            <a:r>
              <a:rPr lang="fi-FI" dirty="0" err="1"/>
              <a:t>Copenhagen</a:t>
            </a:r>
            <a:endParaRPr lang="fi-FI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fi-FI" dirty="0"/>
              <a:t>Aki Havulinna, </a:t>
            </a:r>
            <a:r>
              <a:rPr lang="fi-FI" dirty="0" err="1"/>
              <a:t>University</a:t>
            </a:r>
            <a:r>
              <a:rPr lang="fi-FI" dirty="0"/>
              <a:t> of Turku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fi-FI" sz="6600" dirty="0" err="1"/>
              <a:t>Bayesian</a:t>
            </a:r>
            <a:r>
              <a:rPr lang="fi-FI" sz="6600" dirty="0"/>
              <a:t> </a:t>
            </a:r>
            <a:r>
              <a:rPr lang="fi-FI" sz="6600" dirty="0" err="1"/>
              <a:t>disease</a:t>
            </a:r>
            <a:r>
              <a:rPr lang="fi-FI" sz="6600" dirty="0"/>
              <a:t> </a:t>
            </a:r>
            <a:r>
              <a:rPr lang="fi-FI" sz="6600" dirty="0" err="1"/>
              <a:t>mapping</a:t>
            </a:r>
            <a:r>
              <a:rPr lang="fi-FI" sz="6600" dirty="0"/>
              <a:t> for </a:t>
            </a:r>
            <a:r>
              <a:rPr lang="fi-FI" sz="6600" dirty="0" err="1"/>
              <a:t>hologenomics</a:t>
            </a:r>
            <a:r>
              <a:rPr lang="fi-FI" sz="6600" dirty="0"/>
              <a:t> in Finland</a:t>
            </a:r>
          </a:p>
        </p:txBody>
      </p:sp>
      <p:pic>
        <p:nvPicPr>
          <p:cNvPr id="3" name="Kuva 2">
            <a:extLst>
              <a:ext uri="{FF2B5EF4-FFF2-40B4-BE49-F238E27FC236}">
                <a16:creationId xmlns:a16="http://schemas.microsoft.com/office/drawing/2014/main" id="{0339E092-8B41-D298-7819-8581D8A141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397" y="5703506"/>
            <a:ext cx="3062714" cy="487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956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6EDAE3EE-9025-39B3-84CE-199D88CDC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028" y="438150"/>
            <a:ext cx="4843087" cy="1252538"/>
          </a:xfrm>
        </p:spPr>
        <p:txBody>
          <a:bodyPr/>
          <a:lstStyle/>
          <a:p>
            <a:r>
              <a:rPr lang="fi-FI" dirty="0" err="1"/>
              <a:t>Mapping</a:t>
            </a:r>
            <a:r>
              <a:rPr lang="fi-FI" dirty="0"/>
              <a:t> London </a:t>
            </a:r>
            <a:r>
              <a:rPr lang="fi-FI" dirty="0" err="1"/>
              <a:t>cholera</a:t>
            </a:r>
            <a:r>
              <a:rPr lang="fi-FI" dirty="0"/>
              <a:t> 1854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29D52A2A-FE45-7C64-7F89-786F026BBD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8029" y="1825625"/>
            <a:ext cx="4843086" cy="1603375"/>
          </a:xfrm>
        </p:spPr>
        <p:txBody>
          <a:bodyPr/>
          <a:lstStyle/>
          <a:p>
            <a:r>
              <a:rPr lang="fi-FI" dirty="0" err="1"/>
              <a:t>Founding</a:t>
            </a:r>
            <a:r>
              <a:rPr lang="fi-FI" dirty="0"/>
              <a:t> </a:t>
            </a:r>
            <a:r>
              <a:rPr lang="fi-FI" dirty="0" err="1"/>
              <a:t>work</a:t>
            </a:r>
            <a:r>
              <a:rPr lang="fi-FI" dirty="0"/>
              <a:t> in </a:t>
            </a:r>
            <a:r>
              <a:rPr lang="fi-FI" dirty="0" err="1"/>
              <a:t>disease</a:t>
            </a:r>
            <a:r>
              <a:rPr lang="fi-FI" dirty="0"/>
              <a:t> </a:t>
            </a:r>
            <a:r>
              <a:rPr lang="fi-FI" dirty="0" err="1"/>
              <a:t>mapping</a:t>
            </a:r>
            <a:r>
              <a:rPr lang="fi-FI" dirty="0"/>
              <a:t>: </a:t>
            </a:r>
            <a:r>
              <a:rPr lang="fi-FI" dirty="0" err="1"/>
              <a:t>Source</a:t>
            </a:r>
            <a:r>
              <a:rPr lang="fi-FI" dirty="0"/>
              <a:t> of London </a:t>
            </a:r>
            <a:r>
              <a:rPr lang="fi-FI" dirty="0" err="1"/>
              <a:t>cholera</a:t>
            </a:r>
            <a:r>
              <a:rPr lang="fi-FI" dirty="0"/>
              <a:t> </a:t>
            </a:r>
            <a:r>
              <a:rPr lang="fi-FI" dirty="0" err="1"/>
              <a:t>epidemic</a:t>
            </a:r>
            <a:r>
              <a:rPr lang="fi-FI" dirty="0"/>
              <a:t> </a:t>
            </a:r>
            <a:r>
              <a:rPr lang="fi-FI" dirty="0" err="1"/>
              <a:t>was</a:t>
            </a:r>
            <a:r>
              <a:rPr lang="fi-FI" dirty="0"/>
              <a:t> </a:t>
            </a:r>
            <a:r>
              <a:rPr lang="fi-FI" dirty="0" err="1"/>
              <a:t>pinpointed</a:t>
            </a:r>
            <a:r>
              <a:rPr lang="fi-FI" dirty="0"/>
              <a:t> </a:t>
            </a:r>
          </a:p>
        </p:txBody>
      </p:sp>
      <p:pic>
        <p:nvPicPr>
          <p:cNvPr id="4" name="Kuva 3">
            <a:extLst>
              <a:ext uri="{FF2B5EF4-FFF2-40B4-BE49-F238E27FC236}">
                <a16:creationId xmlns:a16="http://schemas.microsoft.com/office/drawing/2014/main" id="{23024FB5-3300-A06F-4D4E-FE521BF650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438150"/>
            <a:ext cx="5983806" cy="5659716"/>
          </a:xfrm>
          <a:prstGeom prst="rect">
            <a:avLst/>
          </a:prstGeom>
        </p:spPr>
      </p:pic>
      <p:pic>
        <p:nvPicPr>
          <p:cNvPr id="5" name="Kuva 4">
            <a:extLst>
              <a:ext uri="{FF2B5EF4-FFF2-40B4-BE49-F238E27FC236}">
                <a16:creationId xmlns:a16="http://schemas.microsoft.com/office/drawing/2014/main" id="{C4AE4965-0D1D-276D-20EA-9110AA5B6B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5302" y="3429000"/>
            <a:ext cx="3711315" cy="3111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3653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23425B6B-9FE4-1A3A-3BEB-B9A19ECD5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Disease</a:t>
            </a:r>
            <a:r>
              <a:rPr lang="fi-FI" dirty="0"/>
              <a:t> </a:t>
            </a:r>
            <a:r>
              <a:rPr lang="fi-FI" dirty="0" err="1"/>
              <a:t>mapping</a:t>
            </a:r>
            <a:r>
              <a:rPr lang="fi-FI" dirty="0"/>
              <a:t>, </a:t>
            </a:r>
            <a:r>
              <a:rPr lang="fi-FI" dirty="0" err="1"/>
              <a:t>regional</a:t>
            </a:r>
            <a:r>
              <a:rPr lang="fi-FI" dirty="0"/>
              <a:t> </a:t>
            </a:r>
            <a:r>
              <a:rPr lang="fi-FI" dirty="0" err="1"/>
              <a:t>differences</a:t>
            </a:r>
            <a:r>
              <a:rPr lang="fi-FI" dirty="0"/>
              <a:t> </a:t>
            </a:r>
            <a:br>
              <a:rPr lang="fi-FI" dirty="0"/>
            </a:br>
            <a:r>
              <a:rPr lang="fi-FI" dirty="0" err="1"/>
              <a:t>Explore</a:t>
            </a:r>
            <a:r>
              <a:rPr lang="fi-FI" dirty="0"/>
              <a:t> </a:t>
            </a:r>
            <a:r>
              <a:rPr lang="fi-FI" dirty="0" err="1"/>
              <a:t>specific</a:t>
            </a:r>
            <a:r>
              <a:rPr lang="fi-FI" dirty="0"/>
              <a:t> </a:t>
            </a:r>
            <a:r>
              <a:rPr lang="fi-FI" dirty="0" err="1"/>
              <a:t>hypotheses</a:t>
            </a:r>
            <a:endParaRPr lang="fi-FI" dirty="0"/>
          </a:p>
        </p:txBody>
      </p:sp>
      <p:pic>
        <p:nvPicPr>
          <p:cNvPr id="4" name="Kuva 3">
            <a:extLst>
              <a:ext uri="{FF2B5EF4-FFF2-40B4-BE49-F238E27FC236}">
                <a16:creationId xmlns:a16="http://schemas.microsoft.com/office/drawing/2014/main" id="{64E17FD4-7AE1-7024-F190-53483BF40D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7527" y="1726448"/>
            <a:ext cx="7200417" cy="5096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1937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3E01B20D-7254-20F8-E864-31819E860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i-FI" b="0" i="0" u="none" strike="noStrike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Finland: </a:t>
            </a:r>
            <a:r>
              <a:rPr lang="fi-FI" b="0" i="0" u="none" strike="noStrike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prevalence</a:t>
            </a:r>
            <a:r>
              <a:rPr lang="fi-FI" b="0" i="0" u="none" strike="noStrike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of </a:t>
            </a:r>
            <a:r>
              <a:rPr lang="fi-FI" b="0" i="0" u="none" strike="noStrike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medicated</a:t>
            </a:r>
            <a:r>
              <a:rPr lang="fi-FI" b="0" i="0" u="none" strike="noStrike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fi-FI" b="0" i="0" u="none" strike="noStrike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parkinsonism</a:t>
            </a:r>
            <a:r>
              <a:rPr lang="fi-FI" b="0" i="0" u="none" strike="noStrike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in </a:t>
            </a:r>
            <a:r>
              <a:rPr lang="fi-FI" b="0" i="0" u="none" strike="noStrike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the</a:t>
            </a:r>
            <a:r>
              <a:rPr lang="fi-FI" b="0" i="0" u="none" strike="noStrike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fi-FI" b="0" i="0" u="none" strike="noStrike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year</a:t>
            </a:r>
            <a:r>
              <a:rPr lang="fi-FI" b="0" i="0" u="none" strike="noStrike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2000 </a:t>
            </a:r>
            <a:endParaRPr lang="fi-FI" dirty="0"/>
          </a:p>
        </p:txBody>
      </p:sp>
      <p:pic>
        <p:nvPicPr>
          <p:cNvPr id="3" name="Main graphic">
            <a:extLst>
              <a:ext uri="{FF2B5EF4-FFF2-40B4-BE49-F238E27FC236}">
                <a16:creationId xmlns:a16="http://schemas.microsoft.com/office/drawing/2014/main" id="{50B56FA0-B3CF-931D-0B12-C4DE8FBD79E6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4635723" y="1833256"/>
            <a:ext cx="5400063" cy="4390325"/>
          </a:xfrm>
          <a:prstGeom prst="rect">
            <a:avLst/>
          </a:prstGeom>
          <a:ln>
            <a:noFill/>
          </a:ln>
        </p:spPr>
      </p:pic>
      <p:sp>
        <p:nvSpPr>
          <p:cNvPr id="4" name="Tekstiruutu 3">
            <a:extLst>
              <a:ext uri="{FF2B5EF4-FFF2-40B4-BE49-F238E27FC236}">
                <a16:creationId xmlns:a16="http://schemas.microsoft.com/office/drawing/2014/main" id="{18A69BB5-8678-E685-4805-ED114B92AB65}"/>
              </a:ext>
            </a:extLst>
          </p:cNvPr>
          <p:cNvSpPr txBox="1"/>
          <p:nvPr/>
        </p:nvSpPr>
        <p:spPr>
          <a:xfrm>
            <a:off x="1078028" y="1951672"/>
            <a:ext cx="314828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b="0" i="0" u="none" strike="noStrike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Usage</a:t>
            </a:r>
            <a:r>
              <a:rPr lang="fi-FI" b="0" i="0" u="none" strike="noStrike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of </a:t>
            </a:r>
            <a:r>
              <a:rPr lang="fi-FI" b="0" i="0" u="none" strike="noStrike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any</a:t>
            </a:r>
            <a:r>
              <a:rPr lang="fi-FI" b="0" i="0" u="none" strike="noStrike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PD </a:t>
            </a:r>
            <a:r>
              <a:rPr lang="fi-FI" b="0" i="0" u="none" strike="noStrike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drug</a:t>
            </a:r>
            <a:r>
              <a:rPr lang="fi-FI" b="0" i="0" u="none" strike="noStrike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</a:p>
          <a:p>
            <a:r>
              <a:rPr lang="fi-FI" b="0" i="0" u="none" strike="noStrike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(n = 10,616), </a:t>
            </a:r>
            <a:r>
              <a:rPr lang="fi-FI" b="0" i="0" u="none" strike="noStrike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age-adjusted</a:t>
            </a:r>
            <a:r>
              <a:rPr lang="fi-FI" b="0" i="0" u="none" strike="noStrike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to </a:t>
            </a:r>
            <a:r>
              <a:rPr lang="fi-FI" b="0" i="0" u="none" strike="noStrike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the</a:t>
            </a:r>
            <a:r>
              <a:rPr lang="fi-FI" b="0" i="0" u="none" strike="noStrike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European </a:t>
            </a:r>
            <a:r>
              <a:rPr lang="fi-FI" b="0" i="0" u="none" strike="noStrike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standard</a:t>
            </a:r>
            <a:r>
              <a:rPr lang="fi-FI" b="0" i="0" u="none" strike="noStrike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fi-FI" b="0" i="0" u="none" strike="noStrike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population</a:t>
            </a:r>
            <a:r>
              <a:rPr lang="fi-FI" b="0" i="0" u="none" strike="noStrike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(</a:t>
            </a:r>
            <a:r>
              <a:rPr lang="fi-FI" b="1" i="0" u="none" strike="noStrike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</a:t>
            </a:r>
            <a:r>
              <a:rPr lang="fi-FI" b="0" i="0" u="none" strike="noStrike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) </a:t>
            </a:r>
            <a:r>
              <a:rPr lang="fi-FI" b="0" i="0" u="none" strike="noStrike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Men</a:t>
            </a:r>
            <a:r>
              <a:rPr lang="fi-FI" b="0" i="0" u="none" strike="noStrike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(</a:t>
            </a:r>
            <a:r>
              <a:rPr lang="fi-FI" b="1" i="0" u="none" strike="noStrike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B</a:t>
            </a:r>
            <a:r>
              <a:rPr lang="fi-FI" b="0" i="0" u="none" strike="noStrike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) </a:t>
            </a:r>
            <a:r>
              <a:rPr lang="fi-FI" b="0" i="0" u="none" strike="noStrike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Women</a:t>
            </a:r>
            <a:r>
              <a:rPr lang="fi-FI" b="0" i="0" u="none" strike="noStrike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</a:t>
            </a:r>
            <a:endParaRPr lang="fi-FI" dirty="0"/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B35D478F-5A29-DD44-C67E-3D4741BD589C}"/>
              </a:ext>
            </a:extLst>
          </p:cNvPr>
          <p:cNvSpPr txBox="1"/>
          <p:nvPr/>
        </p:nvSpPr>
        <p:spPr>
          <a:xfrm>
            <a:off x="880860" y="6278059"/>
            <a:ext cx="3866312" cy="283581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r>
              <a:rPr lang="en-US" sz="1000" b="1" strike="noStrike" spc="-1" dirty="0">
                <a:solidFill>
                  <a:srgbClr val="0054A6"/>
                </a:solidFill>
                <a:latin typeface="Arial"/>
              </a:rPr>
              <a:t>Havulinna et al., 2008. </a:t>
            </a:r>
            <a:r>
              <a:rPr lang="en-US" sz="1000" b="1" i="1" strike="noStrike" spc="-1" dirty="0">
                <a:solidFill>
                  <a:srgbClr val="0054A6"/>
                </a:solidFill>
                <a:latin typeface="Arial"/>
              </a:rPr>
              <a:t>Movement Disorders</a:t>
            </a:r>
            <a:r>
              <a:rPr lang="en-US" sz="1000" b="1" strike="noStrike" spc="-1" dirty="0">
                <a:solidFill>
                  <a:srgbClr val="0054A6"/>
                </a:solidFill>
                <a:latin typeface="Arial"/>
              </a:rPr>
              <a:t> 23(7)</a:t>
            </a:r>
            <a:r>
              <a:rPr lang="en-US" sz="1000" b="1" spc="-1" dirty="0">
                <a:solidFill>
                  <a:srgbClr val="0054A6"/>
                </a:solidFill>
                <a:latin typeface="Arial"/>
              </a:rPr>
              <a:t> </a:t>
            </a:r>
            <a:r>
              <a:rPr lang="en-US" sz="1000" b="1" strike="noStrike" spc="-1" dirty="0">
                <a:solidFill>
                  <a:srgbClr val="0054A6"/>
                </a:solidFill>
                <a:latin typeface="Arial"/>
              </a:rPr>
              <a:t>:1024-1031. </a:t>
            </a:r>
            <a:endParaRPr lang="en-US" sz="10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150637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BC29727A-AB58-B9EC-7A54-AD20503F6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028" y="438150"/>
            <a:ext cx="10145029" cy="568847"/>
          </a:xfrm>
        </p:spPr>
        <p:txBody>
          <a:bodyPr>
            <a:normAutofit fontScale="90000"/>
          </a:bodyPr>
          <a:lstStyle/>
          <a:p>
            <a:r>
              <a:rPr lang="fi-FI" dirty="0"/>
              <a:t>AMI and </a:t>
            </a:r>
            <a:r>
              <a:rPr lang="fi-FI" dirty="0" err="1"/>
              <a:t>stroke</a:t>
            </a:r>
            <a:r>
              <a:rPr lang="fi-FI" dirty="0"/>
              <a:t>, </a:t>
            </a:r>
            <a:r>
              <a:rPr lang="fi-FI" dirty="0" err="1"/>
              <a:t>shared</a:t>
            </a:r>
            <a:r>
              <a:rPr lang="fi-FI" dirty="0"/>
              <a:t> and </a:t>
            </a:r>
            <a:r>
              <a:rPr lang="fi-FI" dirty="0" err="1"/>
              <a:t>independent</a:t>
            </a:r>
            <a:r>
              <a:rPr lang="fi-FI" dirty="0"/>
              <a:t> RR</a:t>
            </a:r>
          </a:p>
        </p:txBody>
      </p:sp>
      <p:pic>
        <p:nvPicPr>
          <p:cNvPr id="3" name="Kuva 2">
            <a:extLst>
              <a:ext uri="{FF2B5EF4-FFF2-40B4-BE49-F238E27FC236}">
                <a16:creationId xmlns:a16="http://schemas.microsoft.com/office/drawing/2014/main" id="{646C86C7-2724-A221-D755-D4D74CF168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436" y="1021082"/>
            <a:ext cx="8611665" cy="5836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2322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F55D7A1F-8D35-CA78-3DFA-AC8C5B316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028" y="438150"/>
            <a:ext cx="10145029" cy="591997"/>
          </a:xfrm>
        </p:spPr>
        <p:txBody>
          <a:bodyPr>
            <a:normAutofit fontScale="90000"/>
          </a:bodyPr>
          <a:lstStyle/>
          <a:p>
            <a:r>
              <a:rPr lang="fi-FI" dirty="0"/>
              <a:t>              </a:t>
            </a:r>
            <a:r>
              <a:rPr lang="fi-FI" dirty="0" err="1"/>
              <a:t>Stroke</a:t>
            </a:r>
            <a:r>
              <a:rPr lang="fi-FI" dirty="0"/>
              <a:t>     and 	AMI </a:t>
            </a:r>
            <a:r>
              <a:rPr lang="fi-FI" dirty="0" err="1"/>
              <a:t>incidence</a:t>
            </a:r>
            <a:endParaRPr lang="fi-FI" dirty="0"/>
          </a:p>
        </p:txBody>
      </p:sp>
      <p:pic>
        <p:nvPicPr>
          <p:cNvPr id="3" name="Kuva 2">
            <a:extLst>
              <a:ext uri="{FF2B5EF4-FFF2-40B4-BE49-F238E27FC236}">
                <a16:creationId xmlns:a16="http://schemas.microsoft.com/office/drawing/2014/main" id="{A720B0CF-0723-2F9C-1E62-07AEADFB1A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3274" y="1102469"/>
            <a:ext cx="8496782" cy="5755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5492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CEFF452D-6800-286B-1402-768DDEA80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AMI vs. magnesium in </a:t>
            </a:r>
            <a:r>
              <a:rPr lang="fi-FI" dirty="0" err="1"/>
              <a:t>well</a:t>
            </a:r>
            <a:r>
              <a:rPr lang="fi-FI" dirty="0"/>
              <a:t> </a:t>
            </a:r>
            <a:r>
              <a:rPr lang="fi-FI" dirty="0" err="1"/>
              <a:t>water</a:t>
            </a:r>
            <a:endParaRPr lang="fi-FI" dirty="0"/>
          </a:p>
        </p:txBody>
      </p:sp>
      <p:pic>
        <p:nvPicPr>
          <p:cNvPr id="3" name="Kuva 2">
            <a:extLst>
              <a:ext uri="{FF2B5EF4-FFF2-40B4-BE49-F238E27FC236}">
                <a16:creationId xmlns:a16="http://schemas.microsoft.com/office/drawing/2014/main" id="{97DC6693-2EFA-C488-F16D-C343559AAB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104" y="2002541"/>
            <a:ext cx="3644900" cy="4711700"/>
          </a:xfrm>
          <a:prstGeom prst="rect">
            <a:avLst/>
          </a:prstGeom>
        </p:spPr>
      </p:pic>
      <p:pic>
        <p:nvPicPr>
          <p:cNvPr id="4" name="Kuva 3">
            <a:extLst>
              <a:ext uri="{FF2B5EF4-FFF2-40B4-BE49-F238E27FC236}">
                <a16:creationId xmlns:a16="http://schemas.microsoft.com/office/drawing/2014/main" id="{7B24F204-B840-401F-1B73-DF6EFBB567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0949" y="2002541"/>
            <a:ext cx="3032518" cy="4417309"/>
          </a:xfrm>
          <a:prstGeom prst="rect">
            <a:avLst/>
          </a:prstGeom>
        </p:spPr>
      </p:pic>
      <p:sp>
        <p:nvSpPr>
          <p:cNvPr id="5" name="Tekstiruutu 4">
            <a:extLst>
              <a:ext uri="{FF2B5EF4-FFF2-40B4-BE49-F238E27FC236}">
                <a16:creationId xmlns:a16="http://schemas.microsoft.com/office/drawing/2014/main" id="{4F1967BB-7E0C-9D0E-C460-DDEFDF595558}"/>
              </a:ext>
            </a:extLst>
          </p:cNvPr>
          <p:cNvSpPr txBox="1"/>
          <p:nvPr/>
        </p:nvSpPr>
        <p:spPr>
          <a:xfrm>
            <a:off x="7615003" y="2002541"/>
            <a:ext cx="4077325" cy="400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fi-FI" dirty="0"/>
              <a:t>On </a:t>
            </a:r>
            <a:r>
              <a:rPr lang="fi-FI" dirty="0" err="1"/>
              <a:t>average</a:t>
            </a:r>
            <a:r>
              <a:rPr lang="fi-FI" dirty="0"/>
              <a:t>, 1 mg/L </a:t>
            </a:r>
            <a:r>
              <a:rPr lang="fi-FI" dirty="0" err="1"/>
              <a:t>increment</a:t>
            </a:r>
            <a:r>
              <a:rPr lang="fi-FI" dirty="0"/>
              <a:t> in Mg </a:t>
            </a:r>
            <a:r>
              <a:rPr lang="fi-FI" dirty="0" err="1"/>
              <a:t>level</a:t>
            </a:r>
            <a:r>
              <a:rPr lang="fi-FI" dirty="0"/>
              <a:t> in </a:t>
            </a:r>
            <a:r>
              <a:rPr lang="fi-FI" dirty="0" err="1"/>
              <a:t>local</a:t>
            </a:r>
            <a:r>
              <a:rPr lang="fi-FI" dirty="0"/>
              <a:t> </a:t>
            </a:r>
            <a:r>
              <a:rPr lang="fi-FI" dirty="0" err="1"/>
              <a:t>ground</a:t>
            </a:r>
            <a:r>
              <a:rPr lang="fi-FI" dirty="0"/>
              <a:t> </a:t>
            </a:r>
            <a:r>
              <a:rPr lang="fi-FI" dirty="0" err="1"/>
              <a:t>water</a:t>
            </a:r>
            <a:r>
              <a:rPr lang="fi-FI" dirty="0"/>
              <a:t> </a:t>
            </a:r>
            <a:r>
              <a:rPr lang="fi-FI" dirty="0" err="1"/>
              <a:t>was</a:t>
            </a:r>
            <a:r>
              <a:rPr lang="fi-FI" dirty="0"/>
              <a:t> </a:t>
            </a:r>
            <a:r>
              <a:rPr lang="fi-FI" dirty="0" err="1"/>
              <a:t>associated</a:t>
            </a:r>
            <a:r>
              <a:rPr lang="fi-FI" dirty="0"/>
              <a:t> </a:t>
            </a:r>
            <a:r>
              <a:rPr lang="fi-FI" dirty="0" err="1"/>
              <a:t>with</a:t>
            </a:r>
            <a:r>
              <a:rPr lang="fi-FI" dirty="0"/>
              <a:t> 2% </a:t>
            </a:r>
            <a:r>
              <a:rPr lang="fi-FI" dirty="0" err="1"/>
              <a:t>decrease</a:t>
            </a:r>
            <a:r>
              <a:rPr lang="fi-FI" dirty="0"/>
              <a:t> in </a:t>
            </a:r>
            <a:r>
              <a:rPr lang="fi-FI" dirty="0" err="1"/>
              <a:t>incidence</a:t>
            </a:r>
            <a:r>
              <a:rPr lang="fi-FI" dirty="0"/>
              <a:t> of AMI in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rural</a:t>
            </a:r>
            <a:r>
              <a:rPr lang="fi-FI" dirty="0"/>
              <a:t> </a:t>
            </a:r>
            <a:r>
              <a:rPr lang="fi-FI" dirty="0" err="1"/>
              <a:t>population</a:t>
            </a:r>
            <a:r>
              <a:rPr lang="fi-FI" dirty="0"/>
              <a:t>.”</a:t>
            </a:r>
          </a:p>
          <a:p>
            <a:pPr marL="285750" indent="-285750">
              <a:buFontTx/>
              <a:buChar char="-"/>
            </a:pPr>
            <a:r>
              <a:rPr lang="fi-FI" dirty="0" err="1"/>
              <a:t>Also</a:t>
            </a:r>
            <a:r>
              <a:rPr lang="fi-FI" dirty="0"/>
              <a:t> magnesium </a:t>
            </a:r>
            <a:r>
              <a:rPr lang="fi-FI" dirty="0" err="1"/>
              <a:t>was</a:t>
            </a:r>
            <a:r>
              <a:rPr lang="fi-FI" dirty="0"/>
              <a:t> </a:t>
            </a:r>
            <a:r>
              <a:rPr lang="fi-FI" dirty="0" err="1"/>
              <a:t>interpolated</a:t>
            </a:r>
            <a:r>
              <a:rPr lang="fi-FI" dirty="0"/>
              <a:t> </a:t>
            </a:r>
            <a:r>
              <a:rPr lang="fi-FI" dirty="0" err="1"/>
              <a:t>with</a:t>
            </a:r>
            <a:r>
              <a:rPr lang="fi-FI" dirty="0"/>
              <a:t> CAR </a:t>
            </a:r>
            <a:r>
              <a:rPr lang="fi-FI" dirty="0" err="1"/>
              <a:t>model</a:t>
            </a:r>
            <a:r>
              <a:rPr lang="fi-FI" dirty="0"/>
              <a:t> (</a:t>
            </a:r>
            <a:r>
              <a:rPr lang="fi-FI" dirty="0" err="1"/>
              <a:t>log-linear</a:t>
            </a:r>
            <a:r>
              <a:rPr lang="fi-FI" dirty="0"/>
              <a:t>).</a:t>
            </a:r>
          </a:p>
          <a:p>
            <a:pPr marL="285750" indent="-285750">
              <a:buFontTx/>
              <a:buChar char="-"/>
            </a:pPr>
            <a:r>
              <a:rPr lang="fi-FI" dirty="0" err="1"/>
              <a:t>Anything</a:t>
            </a:r>
            <a:r>
              <a:rPr lang="fi-FI" dirty="0"/>
              <a:t> </a:t>
            </a:r>
            <a:r>
              <a:rPr lang="fi-FI" dirty="0" err="1"/>
              <a:t>observed</a:t>
            </a:r>
            <a:r>
              <a:rPr lang="fi-FI" dirty="0"/>
              <a:t> </a:t>
            </a:r>
            <a:r>
              <a:rPr lang="fi-FI" dirty="0" err="1"/>
              <a:t>regionally</a:t>
            </a:r>
            <a:r>
              <a:rPr lang="fi-FI" dirty="0"/>
              <a:t> </a:t>
            </a:r>
            <a:r>
              <a:rPr lang="fi-FI" dirty="0" err="1"/>
              <a:t>could</a:t>
            </a:r>
            <a:r>
              <a:rPr lang="fi-FI" dirty="0"/>
              <a:t> </a:t>
            </a:r>
            <a:r>
              <a:rPr lang="fi-FI" dirty="0" err="1"/>
              <a:t>be</a:t>
            </a:r>
            <a:r>
              <a:rPr lang="fi-FI" dirty="0"/>
              <a:t> </a:t>
            </a:r>
            <a:r>
              <a:rPr lang="fi-FI" dirty="0" err="1"/>
              <a:t>smoothed</a:t>
            </a:r>
            <a:r>
              <a:rPr lang="fi-FI" dirty="0"/>
              <a:t> / </a:t>
            </a:r>
            <a:r>
              <a:rPr lang="fi-FI" dirty="0" err="1"/>
              <a:t>interpolated</a:t>
            </a:r>
            <a:r>
              <a:rPr lang="fi-FI" dirty="0"/>
              <a:t> </a:t>
            </a:r>
            <a:r>
              <a:rPr lang="fi-FI" dirty="0" err="1"/>
              <a:t>with</a:t>
            </a:r>
            <a:r>
              <a:rPr lang="fi-FI" dirty="0"/>
              <a:t> </a:t>
            </a:r>
            <a:r>
              <a:rPr lang="fi-FI" dirty="0" err="1"/>
              <a:t>similar</a:t>
            </a:r>
            <a:r>
              <a:rPr lang="fi-FI" dirty="0"/>
              <a:t> </a:t>
            </a:r>
            <a:r>
              <a:rPr lang="fi-FI" dirty="0" err="1"/>
              <a:t>models</a:t>
            </a:r>
            <a:r>
              <a:rPr lang="fi-FI" dirty="0"/>
              <a:t> </a:t>
            </a:r>
          </a:p>
          <a:p>
            <a:pPr marL="285750" indent="-285750">
              <a:buFontTx/>
              <a:buChar char="-"/>
            </a:pPr>
            <a:r>
              <a:rPr lang="fi-FI" dirty="0" err="1"/>
              <a:t>Source</a:t>
            </a:r>
            <a:r>
              <a:rPr lang="fi-FI" dirty="0"/>
              <a:t>: </a:t>
            </a:r>
            <a:r>
              <a:rPr lang="fi-FI" sz="1400" dirty="0"/>
              <a:t>Kousa A, Havulinna AS, et al., 2008. Magnesium in </a:t>
            </a:r>
            <a:r>
              <a:rPr lang="fi-FI" sz="1400" dirty="0" err="1"/>
              <a:t>well</a:t>
            </a:r>
            <a:r>
              <a:rPr lang="fi-FI" sz="1400" dirty="0"/>
              <a:t> </a:t>
            </a:r>
            <a:r>
              <a:rPr lang="fi-FI" sz="1400" dirty="0" err="1"/>
              <a:t>water</a:t>
            </a:r>
            <a:r>
              <a:rPr lang="fi-FI" sz="1400" dirty="0"/>
              <a:t> and </a:t>
            </a:r>
            <a:r>
              <a:rPr lang="fi-FI" sz="1400" dirty="0" err="1"/>
              <a:t>the</a:t>
            </a:r>
            <a:r>
              <a:rPr lang="fi-FI" sz="1400" dirty="0"/>
              <a:t> </a:t>
            </a:r>
            <a:r>
              <a:rPr lang="fi-FI" sz="1400" dirty="0" err="1"/>
              <a:t>spatial</a:t>
            </a:r>
            <a:r>
              <a:rPr lang="fi-FI" sz="1400" dirty="0"/>
              <a:t> </a:t>
            </a:r>
            <a:r>
              <a:rPr lang="fi-FI" sz="1400" dirty="0" err="1"/>
              <a:t>variation</a:t>
            </a:r>
            <a:r>
              <a:rPr lang="fi-FI" sz="1400" dirty="0"/>
              <a:t> of </a:t>
            </a:r>
            <a:r>
              <a:rPr lang="fi-FI" sz="1400" dirty="0" err="1"/>
              <a:t>acute</a:t>
            </a:r>
            <a:r>
              <a:rPr lang="fi-FI" sz="1400" dirty="0"/>
              <a:t> </a:t>
            </a:r>
            <a:r>
              <a:rPr lang="fi-FI" sz="1400" dirty="0" err="1"/>
              <a:t>myocardial</a:t>
            </a:r>
            <a:r>
              <a:rPr lang="fi-FI" sz="1400" dirty="0"/>
              <a:t> </a:t>
            </a:r>
            <a:r>
              <a:rPr lang="fi-FI" sz="1400" dirty="0" err="1"/>
              <a:t>infarction</a:t>
            </a:r>
            <a:r>
              <a:rPr lang="fi-FI" sz="1400" dirty="0"/>
              <a:t> </a:t>
            </a:r>
            <a:r>
              <a:rPr lang="fi-FI" sz="1400" dirty="0" err="1"/>
              <a:t>incidence</a:t>
            </a:r>
            <a:r>
              <a:rPr lang="fi-FI" sz="1400" dirty="0"/>
              <a:t> in </a:t>
            </a:r>
            <a:r>
              <a:rPr lang="fi-FI" sz="1400" dirty="0" err="1"/>
              <a:t>rural</a:t>
            </a:r>
            <a:r>
              <a:rPr lang="fi-FI" sz="1400" dirty="0"/>
              <a:t> Finland, </a:t>
            </a:r>
            <a:r>
              <a:rPr lang="fi-FI" sz="1400" i="1" dirty="0" err="1"/>
              <a:t>Appl</a:t>
            </a:r>
            <a:r>
              <a:rPr lang="fi-FI" sz="1400" i="1" dirty="0"/>
              <a:t>. </a:t>
            </a:r>
            <a:r>
              <a:rPr lang="fi-FI" sz="1400" i="1" dirty="0" err="1"/>
              <a:t>Geochem</a:t>
            </a:r>
            <a:r>
              <a:rPr lang="fi-FI" sz="1400" dirty="0"/>
              <a:t>. </a:t>
            </a:r>
            <a:r>
              <a:rPr lang="fi-FI" sz="1400" b="1" dirty="0"/>
              <a:t>23</a:t>
            </a:r>
            <a:r>
              <a:rPr lang="fi-FI" sz="1400" dirty="0"/>
              <a:t>(4): 632-640.</a:t>
            </a:r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13999126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49039027-6EC5-FB6C-9949-DB63D04DB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643" y="438150"/>
            <a:ext cx="10145029" cy="557273"/>
          </a:xfrm>
        </p:spPr>
        <p:txBody>
          <a:bodyPr>
            <a:normAutofit fontScale="90000"/>
          </a:bodyPr>
          <a:lstStyle/>
          <a:p>
            <a:r>
              <a:rPr lang="fi-FI" dirty="0" err="1"/>
              <a:t>With</a:t>
            </a:r>
            <a:r>
              <a:rPr lang="fi-FI" dirty="0"/>
              <a:t> </a:t>
            </a:r>
            <a:r>
              <a:rPr lang="fi-FI" dirty="0" err="1"/>
              <a:t>our</a:t>
            </a:r>
            <a:r>
              <a:rPr lang="fi-FI" dirty="0"/>
              <a:t> </a:t>
            </a:r>
            <a:r>
              <a:rPr lang="fi-FI" dirty="0" err="1"/>
              <a:t>metagenome</a:t>
            </a:r>
            <a:r>
              <a:rPr lang="fi-FI" dirty="0"/>
              <a:t> data</a:t>
            </a:r>
          </a:p>
        </p:txBody>
      </p:sp>
      <p:sp>
        <p:nvSpPr>
          <p:cNvPr id="4" name="Tekstiruutu 3">
            <a:extLst>
              <a:ext uri="{FF2B5EF4-FFF2-40B4-BE49-F238E27FC236}">
                <a16:creationId xmlns:a16="http://schemas.microsoft.com/office/drawing/2014/main" id="{D397433E-1FC0-D9F4-ABF1-FF14FFBB629C}"/>
              </a:ext>
            </a:extLst>
          </p:cNvPr>
          <p:cNvSpPr txBox="1"/>
          <p:nvPr/>
        </p:nvSpPr>
        <p:spPr>
          <a:xfrm>
            <a:off x="254643" y="995423"/>
            <a:ext cx="7349924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dirty="0"/>
              <a:t>-</a:t>
            </a:r>
            <a:r>
              <a:rPr lang="fi-FI" sz="2400" dirty="0"/>
              <a:t> </a:t>
            </a:r>
            <a:r>
              <a:rPr lang="fi-FI" sz="2400" dirty="0" err="1"/>
              <a:t>The</a:t>
            </a:r>
            <a:r>
              <a:rPr lang="fi-FI" sz="2400" dirty="0"/>
              <a:t> FINRISK 2002 </a:t>
            </a:r>
            <a:r>
              <a:rPr lang="fi-FI" sz="2400" dirty="0" err="1"/>
              <a:t>metagenome</a:t>
            </a:r>
            <a:r>
              <a:rPr lang="fi-FI" sz="2400" dirty="0"/>
              <a:t> </a:t>
            </a:r>
            <a:r>
              <a:rPr lang="fi-FI" sz="2400" dirty="0" err="1"/>
              <a:t>project</a:t>
            </a:r>
            <a:endParaRPr lang="fi-FI" sz="2400" dirty="0"/>
          </a:p>
          <a:p>
            <a:pPr marL="342900" indent="-342900">
              <a:buFontTx/>
              <a:buChar char="-"/>
            </a:pPr>
            <a:r>
              <a:rPr lang="fi-FI" sz="2400" dirty="0" err="1"/>
              <a:t>Use</a:t>
            </a:r>
            <a:r>
              <a:rPr lang="fi-FI" sz="2400" dirty="0"/>
              <a:t> a 10x10 km</a:t>
            </a:r>
            <a:r>
              <a:rPr lang="fi-FI" sz="2400" baseline="30000" dirty="0"/>
              <a:t>2</a:t>
            </a:r>
            <a:r>
              <a:rPr lang="fi-FI" sz="2400" dirty="0"/>
              <a:t> </a:t>
            </a:r>
            <a:r>
              <a:rPr lang="fi-FI" sz="2400" dirty="0" err="1"/>
              <a:t>grid</a:t>
            </a:r>
            <a:r>
              <a:rPr lang="fi-FI" sz="2400" dirty="0"/>
              <a:t> </a:t>
            </a:r>
            <a:r>
              <a:rPr lang="fi-FI" sz="2400" dirty="0" err="1"/>
              <a:t>over</a:t>
            </a:r>
            <a:r>
              <a:rPr lang="fi-FI" sz="2400" dirty="0"/>
              <a:t> Finland</a:t>
            </a:r>
          </a:p>
          <a:p>
            <a:pPr marL="800100" lvl="1" indent="-342900">
              <a:buFontTx/>
              <a:buChar char="-"/>
            </a:pPr>
            <a:r>
              <a:rPr lang="fi-FI" sz="2400" dirty="0" err="1"/>
              <a:t>Inst</a:t>
            </a:r>
            <a:r>
              <a:rPr lang="fi-FI" sz="2400" dirty="0"/>
              <a:t>. of </a:t>
            </a:r>
            <a:r>
              <a:rPr lang="fi-FI" sz="2400" dirty="0" err="1"/>
              <a:t>administrative</a:t>
            </a:r>
            <a:r>
              <a:rPr lang="fi-FI" sz="2400" dirty="0"/>
              <a:t> </a:t>
            </a:r>
            <a:r>
              <a:rPr lang="fi-FI" sz="2400" dirty="0" err="1"/>
              <a:t>regions</a:t>
            </a:r>
            <a:endParaRPr lang="fi-FI" sz="2400" dirty="0"/>
          </a:p>
          <a:p>
            <a:pPr marL="342900" indent="-342900">
              <a:buFontTx/>
              <a:buChar char="-"/>
            </a:pPr>
            <a:r>
              <a:rPr lang="fi-FI" sz="2400" dirty="0" err="1"/>
              <a:t>Only</a:t>
            </a:r>
            <a:r>
              <a:rPr lang="fi-FI" sz="2400" dirty="0"/>
              <a:t> </a:t>
            </a:r>
            <a:r>
              <a:rPr lang="fi-FI" sz="2400" dirty="0" err="1"/>
              <a:t>part</a:t>
            </a:r>
            <a:r>
              <a:rPr lang="fi-FI" sz="2400" dirty="0"/>
              <a:t> of </a:t>
            </a:r>
            <a:r>
              <a:rPr lang="fi-FI" sz="2400" dirty="0" err="1"/>
              <a:t>the</a:t>
            </a:r>
            <a:r>
              <a:rPr lang="fi-FI" sz="2400" dirty="0"/>
              <a:t> </a:t>
            </a:r>
            <a:r>
              <a:rPr lang="fi-FI" sz="2400" dirty="0" err="1"/>
              <a:t>cells</a:t>
            </a:r>
            <a:r>
              <a:rPr lang="fi-FI" sz="2400" dirty="0"/>
              <a:t> </a:t>
            </a:r>
            <a:r>
              <a:rPr lang="fi-FI" sz="2400" dirty="0" err="1"/>
              <a:t>have</a:t>
            </a:r>
            <a:r>
              <a:rPr lang="fi-FI" sz="2400" dirty="0"/>
              <a:t> </a:t>
            </a:r>
            <a:r>
              <a:rPr lang="fi-FI" sz="2400" dirty="0" err="1"/>
              <a:t>observations</a:t>
            </a:r>
            <a:endParaRPr lang="fi-FI" sz="2400" dirty="0"/>
          </a:p>
          <a:p>
            <a:pPr marL="800100" lvl="1" indent="-342900">
              <a:buFontTx/>
              <a:buChar char="-"/>
            </a:pPr>
            <a:r>
              <a:rPr lang="fi-FI" dirty="0" err="1"/>
              <a:t>Observations</a:t>
            </a:r>
            <a:r>
              <a:rPr lang="fi-FI" dirty="0"/>
              <a:t> on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map</a:t>
            </a:r>
            <a:r>
              <a:rPr lang="fi-FI" dirty="0"/>
              <a:t> </a:t>
            </a:r>
            <a:r>
              <a:rPr lang="fi-FI" dirty="0" err="1"/>
              <a:t>have</a:t>
            </a:r>
            <a:r>
              <a:rPr lang="fi-FI" dirty="0"/>
              <a:t> </a:t>
            </a:r>
            <a:r>
              <a:rPr lang="fi-FI" dirty="0" err="1"/>
              <a:t>been</a:t>
            </a:r>
            <a:r>
              <a:rPr lang="fi-FI" dirty="0"/>
              <a:t> </a:t>
            </a:r>
            <a:r>
              <a:rPr lang="fi-FI" dirty="0" err="1"/>
              <a:t>jittered</a:t>
            </a:r>
            <a:endParaRPr lang="fi-FI" sz="2400" dirty="0"/>
          </a:p>
          <a:p>
            <a:r>
              <a:rPr lang="fi-FI" sz="2400" dirty="0"/>
              <a:t>- </a:t>
            </a:r>
            <a:r>
              <a:rPr lang="fi-FI" sz="2400" dirty="0" err="1"/>
              <a:t>Doing</a:t>
            </a:r>
            <a:r>
              <a:rPr lang="fi-FI" sz="2400" dirty="0"/>
              <a:t> </a:t>
            </a:r>
            <a:r>
              <a:rPr lang="fi-FI" sz="2400" dirty="0" err="1"/>
              <a:t>smooth</a:t>
            </a:r>
            <a:r>
              <a:rPr lang="fi-FI" sz="2400" dirty="0"/>
              <a:t> </a:t>
            </a:r>
            <a:r>
              <a:rPr lang="fi-FI" sz="2400" dirty="0" err="1"/>
              <a:t>interpolation</a:t>
            </a:r>
            <a:r>
              <a:rPr lang="fi-FI" sz="2400" dirty="0"/>
              <a:t> is </a:t>
            </a:r>
            <a:r>
              <a:rPr lang="fi-FI" sz="2400" dirty="0" err="1"/>
              <a:t>not</a:t>
            </a:r>
            <a:r>
              <a:rPr lang="fi-FI" sz="2400" dirty="0"/>
              <a:t> </a:t>
            </a:r>
            <a:r>
              <a:rPr lang="fi-FI" sz="2400" dirty="0" err="1"/>
              <a:t>enough</a:t>
            </a:r>
            <a:endParaRPr lang="fi-FI" sz="2400" dirty="0"/>
          </a:p>
          <a:p>
            <a:r>
              <a:rPr lang="fi-FI" sz="2400" dirty="0"/>
              <a:t>- </a:t>
            </a:r>
            <a:r>
              <a:rPr lang="fi-FI" sz="2400" dirty="0" err="1"/>
              <a:t>Higher</a:t>
            </a:r>
            <a:r>
              <a:rPr lang="fi-FI" sz="2400" dirty="0"/>
              <a:t> </a:t>
            </a:r>
            <a:r>
              <a:rPr lang="fi-FI" sz="2400" dirty="0" err="1"/>
              <a:t>spatial</a:t>
            </a:r>
            <a:r>
              <a:rPr lang="fi-FI" sz="2400" dirty="0"/>
              <a:t> </a:t>
            </a:r>
            <a:r>
              <a:rPr lang="fi-FI" sz="2400" dirty="0" err="1"/>
              <a:t>resolution</a:t>
            </a:r>
            <a:r>
              <a:rPr lang="fi-FI" sz="2400" dirty="0"/>
              <a:t> =&gt; </a:t>
            </a:r>
            <a:r>
              <a:rPr lang="fi-FI" sz="2400" dirty="0" err="1"/>
              <a:t>higher</a:t>
            </a:r>
            <a:r>
              <a:rPr lang="fi-FI" sz="2400" dirty="0"/>
              <a:t> </a:t>
            </a:r>
            <a:r>
              <a:rPr lang="fi-FI" sz="2400" dirty="0" err="1"/>
              <a:t>uncertainty</a:t>
            </a:r>
            <a:endParaRPr lang="fi-FI" sz="2400" dirty="0"/>
          </a:p>
          <a:p>
            <a:pPr lvl="1"/>
            <a:r>
              <a:rPr lang="fi-FI" sz="2400" dirty="0"/>
              <a:t>- </a:t>
            </a:r>
            <a:r>
              <a:rPr lang="fi-FI" sz="2400" dirty="0" err="1"/>
              <a:t>Due</a:t>
            </a:r>
            <a:r>
              <a:rPr lang="fi-FI" sz="2400" dirty="0"/>
              <a:t> to </a:t>
            </a:r>
            <a:r>
              <a:rPr lang="fi-FI" sz="2400" dirty="0" err="1"/>
              <a:t>lower</a:t>
            </a:r>
            <a:r>
              <a:rPr lang="fi-FI" sz="2400" dirty="0"/>
              <a:t> </a:t>
            </a:r>
            <a:r>
              <a:rPr lang="fi-FI" sz="2400" dirty="0" err="1"/>
              <a:t>number</a:t>
            </a:r>
            <a:r>
              <a:rPr lang="fi-FI" sz="2400" dirty="0"/>
              <a:t> of </a:t>
            </a:r>
            <a:r>
              <a:rPr lang="fi-FI" sz="2400" dirty="0" err="1"/>
              <a:t>obs</a:t>
            </a:r>
            <a:r>
              <a:rPr lang="fi-FI" sz="2400" dirty="0"/>
              <a:t>. per </a:t>
            </a:r>
            <a:r>
              <a:rPr lang="fi-FI" sz="2400" dirty="0" err="1"/>
              <a:t>region</a:t>
            </a:r>
            <a:endParaRPr lang="fi-FI" sz="2400" dirty="0"/>
          </a:p>
          <a:p>
            <a:r>
              <a:rPr lang="fi-FI" sz="2400" dirty="0"/>
              <a:t>- </a:t>
            </a:r>
            <a:r>
              <a:rPr lang="fi-FI" sz="2400" dirty="0" err="1"/>
              <a:t>Current</a:t>
            </a:r>
            <a:r>
              <a:rPr lang="fi-FI" sz="2400" dirty="0"/>
              <a:t> data </a:t>
            </a:r>
            <a:r>
              <a:rPr lang="fi-FI" sz="2400" dirty="0" err="1"/>
              <a:t>misses</a:t>
            </a:r>
            <a:r>
              <a:rPr lang="fi-FI" sz="2400" dirty="0"/>
              <a:t> </a:t>
            </a:r>
            <a:r>
              <a:rPr lang="fi-FI" sz="2400" dirty="0" err="1"/>
              <a:t>large</a:t>
            </a:r>
            <a:r>
              <a:rPr lang="fi-FI" sz="2400" dirty="0"/>
              <a:t> </a:t>
            </a:r>
            <a:r>
              <a:rPr lang="fi-FI" sz="2400" dirty="0" err="1"/>
              <a:t>part</a:t>
            </a:r>
            <a:r>
              <a:rPr lang="fi-FI" sz="2400" dirty="0"/>
              <a:t> of Finland  </a:t>
            </a:r>
          </a:p>
          <a:p>
            <a:pPr marL="342900" indent="-342900">
              <a:buFontTx/>
              <a:buChar char="-"/>
            </a:pPr>
            <a:r>
              <a:rPr lang="fi-FI" sz="2400" dirty="0" err="1"/>
              <a:t>Strategy</a:t>
            </a:r>
            <a:r>
              <a:rPr lang="fi-FI" sz="2400" dirty="0"/>
              <a:t>: </a:t>
            </a:r>
            <a:r>
              <a:rPr lang="fi-FI" sz="2400" dirty="0" err="1"/>
              <a:t>use</a:t>
            </a:r>
            <a:r>
              <a:rPr lang="fi-FI" sz="2400" dirty="0"/>
              <a:t> </a:t>
            </a:r>
            <a:r>
              <a:rPr lang="fi-FI" sz="2400" b="1" dirty="0" err="1"/>
              <a:t>spatial</a:t>
            </a:r>
            <a:r>
              <a:rPr lang="fi-FI" sz="2400" b="1" dirty="0"/>
              <a:t> </a:t>
            </a:r>
            <a:r>
              <a:rPr lang="fi-FI" sz="2400" b="1" dirty="0" err="1"/>
              <a:t>smoothing</a:t>
            </a:r>
            <a:r>
              <a:rPr lang="fi-FI" sz="2400" b="1" dirty="0"/>
              <a:t> </a:t>
            </a:r>
            <a:r>
              <a:rPr lang="fi-FI" sz="2400" dirty="0" err="1"/>
              <a:t>by</a:t>
            </a:r>
            <a:r>
              <a:rPr lang="fi-FI" sz="2400" dirty="0"/>
              <a:t> </a:t>
            </a:r>
            <a:r>
              <a:rPr lang="fi-FI" sz="2400" u="sng" dirty="0" err="1"/>
              <a:t>Tobler’s</a:t>
            </a:r>
            <a:r>
              <a:rPr lang="fi-FI" sz="2400" u="sng" dirty="0"/>
              <a:t> </a:t>
            </a:r>
          </a:p>
          <a:p>
            <a:r>
              <a:rPr lang="fi-FI" sz="2400" dirty="0"/>
              <a:t>    </a:t>
            </a:r>
            <a:r>
              <a:rPr lang="fi-FI" sz="2400" u="sng" dirty="0" err="1"/>
              <a:t>first</a:t>
            </a:r>
            <a:r>
              <a:rPr lang="fi-FI" sz="2400" u="sng" dirty="0"/>
              <a:t> </a:t>
            </a:r>
            <a:r>
              <a:rPr lang="fi-FI" sz="2400" u="sng" dirty="0" err="1"/>
              <a:t>law</a:t>
            </a:r>
            <a:r>
              <a:rPr lang="fi-FI" sz="2400" u="sng" dirty="0"/>
              <a:t> </a:t>
            </a:r>
          </a:p>
          <a:p>
            <a:pPr marL="285750" indent="-285750">
              <a:buFontTx/>
              <a:buChar char="-"/>
            </a:pPr>
            <a:endParaRPr lang="fi-FI" dirty="0"/>
          </a:p>
        </p:txBody>
      </p:sp>
      <p:pic>
        <p:nvPicPr>
          <p:cNvPr id="3" name="Kuva 2">
            <a:extLst>
              <a:ext uri="{FF2B5EF4-FFF2-40B4-BE49-F238E27FC236}">
                <a16:creationId xmlns:a16="http://schemas.microsoft.com/office/drawing/2014/main" id="{F5BB23C3-D475-1951-14AF-AB58D20703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4959" y="324661"/>
            <a:ext cx="4051037" cy="5663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4474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A220FEC8-318E-9C70-A4EF-A9849A746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Spatial</a:t>
            </a:r>
            <a:r>
              <a:rPr lang="fi-FI" dirty="0"/>
              <a:t> </a:t>
            </a:r>
            <a:r>
              <a:rPr lang="fi-FI" dirty="0" err="1"/>
              <a:t>smoothing</a:t>
            </a:r>
            <a:r>
              <a:rPr lang="fi-FI" dirty="0"/>
              <a:t> </a:t>
            </a:r>
            <a:r>
              <a:rPr lang="fi-FI" dirty="0" err="1"/>
              <a:t>interpolation</a:t>
            </a:r>
            <a:endParaRPr lang="fi-FI" dirty="0"/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B88B0F56-87C9-66B5-49B7-0A781E5398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i-FI" dirty="0" err="1"/>
              <a:t>First</a:t>
            </a:r>
            <a:r>
              <a:rPr lang="fi-FI" dirty="0"/>
              <a:t> </a:t>
            </a:r>
            <a:r>
              <a:rPr lang="fi-FI" dirty="0" err="1"/>
              <a:t>law</a:t>
            </a:r>
            <a:r>
              <a:rPr lang="fi-FI" dirty="0"/>
              <a:t> of </a:t>
            </a:r>
            <a:r>
              <a:rPr lang="fi-FI" dirty="0" err="1"/>
              <a:t>geography</a:t>
            </a:r>
            <a:r>
              <a:rPr lang="fi-FI" dirty="0"/>
              <a:t>: ”</a:t>
            </a:r>
            <a:r>
              <a:rPr lang="fi-FI" b="1" dirty="0" err="1"/>
              <a:t>Everything</a:t>
            </a:r>
            <a:r>
              <a:rPr lang="fi-FI" b="1" dirty="0"/>
              <a:t> is </a:t>
            </a:r>
            <a:r>
              <a:rPr lang="fi-FI" b="1" dirty="0" err="1"/>
              <a:t>related</a:t>
            </a:r>
            <a:r>
              <a:rPr lang="fi-FI" b="1" dirty="0"/>
              <a:t> </a:t>
            </a:r>
            <a:r>
              <a:rPr lang="fi-FI" dirty="0"/>
              <a:t>to </a:t>
            </a:r>
            <a:r>
              <a:rPr lang="fi-FI" dirty="0" err="1"/>
              <a:t>everything</a:t>
            </a:r>
            <a:r>
              <a:rPr lang="fi-FI" dirty="0"/>
              <a:t> </a:t>
            </a:r>
            <a:r>
              <a:rPr lang="fi-FI" dirty="0" err="1"/>
              <a:t>else</a:t>
            </a:r>
            <a:r>
              <a:rPr lang="fi-FI" dirty="0"/>
              <a:t>, </a:t>
            </a:r>
            <a:r>
              <a:rPr lang="fi-FI" dirty="0" err="1"/>
              <a:t>but</a:t>
            </a:r>
            <a:r>
              <a:rPr lang="fi-FI" dirty="0"/>
              <a:t> </a:t>
            </a:r>
            <a:r>
              <a:rPr lang="fi-FI" b="1" dirty="0" err="1"/>
              <a:t>near</a:t>
            </a:r>
            <a:r>
              <a:rPr lang="fi-FI" b="1" dirty="0"/>
              <a:t> </a:t>
            </a:r>
            <a:r>
              <a:rPr lang="fi-FI" b="1" dirty="0" err="1"/>
              <a:t>things</a:t>
            </a:r>
            <a:r>
              <a:rPr lang="fi-FI" b="1" dirty="0"/>
              <a:t> </a:t>
            </a:r>
            <a:r>
              <a:rPr lang="fi-FI" b="1" dirty="0" err="1"/>
              <a:t>are</a:t>
            </a:r>
            <a:r>
              <a:rPr lang="fi-FI" b="1" dirty="0"/>
              <a:t> </a:t>
            </a:r>
            <a:r>
              <a:rPr lang="fi-FI" b="1" dirty="0" err="1"/>
              <a:t>more</a:t>
            </a:r>
            <a:r>
              <a:rPr lang="fi-FI" b="1" dirty="0"/>
              <a:t> </a:t>
            </a:r>
            <a:r>
              <a:rPr lang="fi-FI" b="1" dirty="0" err="1"/>
              <a:t>related</a:t>
            </a:r>
            <a:r>
              <a:rPr lang="fi-FI" dirty="0"/>
              <a:t> </a:t>
            </a:r>
            <a:r>
              <a:rPr lang="fi-FI" dirty="0" err="1"/>
              <a:t>than</a:t>
            </a:r>
            <a:r>
              <a:rPr lang="fi-FI" dirty="0"/>
              <a:t> </a:t>
            </a:r>
            <a:r>
              <a:rPr lang="fi-FI" dirty="0" err="1"/>
              <a:t>distant</a:t>
            </a:r>
            <a:r>
              <a:rPr lang="fi-FI" dirty="0"/>
              <a:t> </a:t>
            </a:r>
            <a:r>
              <a:rPr lang="fi-FI" dirty="0" err="1"/>
              <a:t>things</a:t>
            </a:r>
            <a:r>
              <a:rPr lang="fi-FI" b="1" dirty="0"/>
              <a:t>.</a:t>
            </a:r>
            <a:r>
              <a:rPr lang="fi-FI" dirty="0"/>
              <a:t>”</a:t>
            </a:r>
          </a:p>
          <a:p>
            <a:pPr marL="0" indent="0">
              <a:buNone/>
            </a:pPr>
            <a:r>
              <a:rPr lang="fi-FI" dirty="0"/>
              <a:t>	- </a:t>
            </a:r>
            <a:r>
              <a:rPr lang="fi-FI" i="1" dirty="0"/>
              <a:t>Waldo </a:t>
            </a:r>
            <a:r>
              <a:rPr lang="fi-FI" i="1" dirty="0" err="1"/>
              <a:t>Tobler</a:t>
            </a:r>
            <a:endParaRPr lang="fi-FI" i="1" dirty="0"/>
          </a:p>
          <a:p>
            <a:pPr marL="0" indent="0">
              <a:buNone/>
            </a:pPr>
            <a:endParaRPr lang="fi-FI" i="1" dirty="0"/>
          </a:p>
          <a:p>
            <a:pPr>
              <a:buFontTx/>
              <a:buChar char="-"/>
            </a:pPr>
            <a:r>
              <a:rPr lang="fi-FI" dirty="0" err="1"/>
              <a:t>Fundamental</a:t>
            </a:r>
            <a:r>
              <a:rPr lang="fi-FI" dirty="0"/>
              <a:t> </a:t>
            </a:r>
            <a:r>
              <a:rPr lang="fi-FI" dirty="0" err="1"/>
              <a:t>assumption</a:t>
            </a:r>
            <a:r>
              <a:rPr lang="fi-FI" dirty="0"/>
              <a:t> of </a:t>
            </a:r>
            <a:r>
              <a:rPr lang="fi-FI" dirty="0" err="1"/>
              <a:t>all</a:t>
            </a:r>
            <a:r>
              <a:rPr lang="fi-FI" dirty="0"/>
              <a:t> </a:t>
            </a:r>
            <a:r>
              <a:rPr lang="fi-FI" dirty="0" err="1"/>
              <a:t>spatial</a:t>
            </a:r>
            <a:r>
              <a:rPr lang="fi-FI" dirty="0"/>
              <a:t> </a:t>
            </a:r>
            <a:r>
              <a:rPr lang="fi-FI" dirty="0" err="1"/>
              <a:t>analysis</a:t>
            </a:r>
            <a:r>
              <a:rPr lang="fi-FI" dirty="0"/>
              <a:t> </a:t>
            </a:r>
            <a:r>
              <a:rPr lang="fi-FI" dirty="0" err="1"/>
              <a:t>methods</a:t>
            </a:r>
            <a:r>
              <a:rPr lang="fi-FI" dirty="0"/>
              <a:t>.</a:t>
            </a:r>
          </a:p>
          <a:p>
            <a:pPr>
              <a:buFontTx/>
              <a:buChar char="-"/>
            </a:pPr>
            <a:r>
              <a:rPr lang="fi-FI" dirty="0"/>
              <a:t>Foundation for </a:t>
            </a:r>
            <a:r>
              <a:rPr lang="fi-FI" dirty="0" err="1"/>
              <a:t>spatial</a:t>
            </a:r>
            <a:r>
              <a:rPr lang="fi-FI" dirty="0"/>
              <a:t> </a:t>
            </a:r>
            <a:r>
              <a:rPr lang="fi-FI" dirty="0" err="1"/>
              <a:t>interpolation</a:t>
            </a:r>
            <a:r>
              <a:rPr lang="fi-FI" dirty="0"/>
              <a:t> and </a:t>
            </a:r>
            <a:r>
              <a:rPr lang="fi-FI" dirty="0" err="1"/>
              <a:t>autocorrelation</a:t>
            </a:r>
            <a:endParaRPr lang="fi-FI" dirty="0"/>
          </a:p>
          <a:p>
            <a:pPr>
              <a:buFontTx/>
              <a:buChar char="-"/>
            </a:pPr>
            <a:r>
              <a:rPr lang="fi-FI" dirty="0" err="1"/>
              <a:t>Conventional</a:t>
            </a:r>
            <a:r>
              <a:rPr lang="fi-FI" dirty="0"/>
              <a:t> in </a:t>
            </a:r>
            <a:r>
              <a:rPr lang="fi-FI" dirty="0" err="1"/>
              <a:t>disease</a:t>
            </a:r>
            <a:r>
              <a:rPr lang="fi-FI" dirty="0"/>
              <a:t> </a:t>
            </a:r>
            <a:r>
              <a:rPr lang="fi-FI" dirty="0" err="1"/>
              <a:t>mapping</a:t>
            </a:r>
            <a:r>
              <a:rPr lang="fi-FI" dirty="0"/>
              <a:t>: </a:t>
            </a:r>
            <a:r>
              <a:rPr lang="fi-FI" b="1" dirty="0" err="1"/>
              <a:t>Conditional</a:t>
            </a:r>
            <a:r>
              <a:rPr lang="fi-FI" b="1" dirty="0"/>
              <a:t> autoregression </a:t>
            </a:r>
            <a:r>
              <a:rPr lang="fi-FI" dirty="0"/>
              <a:t>(CAR), </a:t>
            </a:r>
            <a:r>
              <a:rPr lang="fi-FI" u="sng" dirty="0" err="1"/>
              <a:t>Bayesian</a:t>
            </a:r>
            <a:r>
              <a:rPr lang="fi-FI" u="sng" dirty="0"/>
              <a:t> </a:t>
            </a:r>
            <a:r>
              <a:rPr lang="fi-FI" u="sng" dirty="0" err="1"/>
              <a:t>hierarchical</a:t>
            </a:r>
            <a:r>
              <a:rPr lang="fi-FI" u="sng" dirty="0"/>
              <a:t> </a:t>
            </a:r>
            <a:r>
              <a:rPr lang="fi-FI" u="sng" dirty="0" err="1"/>
              <a:t>modelling</a:t>
            </a:r>
            <a:endParaRPr lang="fi-FI" u="sng" dirty="0"/>
          </a:p>
          <a:p>
            <a:pPr>
              <a:buFontTx/>
              <a:buChar char="-"/>
            </a:pP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previous</a:t>
            </a:r>
            <a:r>
              <a:rPr lang="fi-FI" dirty="0"/>
              <a:t> </a:t>
            </a:r>
            <a:r>
              <a:rPr lang="fi-FI" dirty="0" err="1"/>
              <a:t>examples</a:t>
            </a:r>
            <a:r>
              <a:rPr lang="fi-FI" dirty="0"/>
              <a:t> </a:t>
            </a:r>
            <a:r>
              <a:rPr lang="fi-FI" dirty="0" err="1"/>
              <a:t>were</a:t>
            </a:r>
            <a:r>
              <a:rPr lang="fi-FI" dirty="0"/>
              <a:t> </a:t>
            </a:r>
            <a:r>
              <a:rPr lang="fi-FI" dirty="0" err="1"/>
              <a:t>done</a:t>
            </a:r>
            <a:r>
              <a:rPr lang="fi-FI" dirty="0"/>
              <a:t> </a:t>
            </a:r>
            <a:r>
              <a:rPr lang="fi-FI" dirty="0" err="1"/>
              <a:t>using</a:t>
            </a:r>
            <a:r>
              <a:rPr lang="fi-FI" dirty="0"/>
              <a:t> </a:t>
            </a:r>
            <a:r>
              <a:rPr lang="fi-FI" dirty="0" err="1"/>
              <a:t>such</a:t>
            </a:r>
            <a:r>
              <a:rPr lang="fi-FI" dirty="0"/>
              <a:t> </a:t>
            </a:r>
            <a:r>
              <a:rPr lang="fi-FI" dirty="0" err="1"/>
              <a:t>models</a:t>
            </a:r>
            <a:r>
              <a:rPr lang="fi-FI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868944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uva 3">
            <a:extLst>
              <a:ext uri="{FF2B5EF4-FFF2-40B4-BE49-F238E27FC236}">
                <a16:creationId xmlns:a16="http://schemas.microsoft.com/office/drawing/2014/main" id="{22584AC2-09EB-D30F-91CD-A8303B12CC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4577" y="438150"/>
            <a:ext cx="4713172" cy="5546197"/>
          </a:xfrm>
          <a:prstGeom prst="rect">
            <a:avLst/>
          </a:prstGeom>
        </p:spPr>
      </p:pic>
      <p:sp>
        <p:nvSpPr>
          <p:cNvPr id="2" name="Otsikko 1">
            <a:extLst>
              <a:ext uri="{FF2B5EF4-FFF2-40B4-BE49-F238E27FC236}">
                <a16:creationId xmlns:a16="http://schemas.microsoft.com/office/drawing/2014/main" id="{74C1A70C-41B0-44EB-9556-72ACF0B43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i-FI" dirty="0"/>
              <a:t>CELL </a:t>
            </a:r>
            <a:r>
              <a:rPr lang="fi-FI" dirty="0" err="1"/>
              <a:t>average</a:t>
            </a:r>
            <a:r>
              <a:rPr lang="fi-FI" dirty="0"/>
              <a:t> of SYST. </a:t>
            </a:r>
            <a:br>
              <a:rPr lang="fi-FI" dirty="0"/>
            </a:br>
            <a:r>
              <a:rPr lang="fi-FI" dirty="0"/>
              <a:t>Blood </a:t>
            </a:r>
            <a:r>
              <a:rPr lang="fi-FI" dirty="0" err="1"/>
              <a:t>pressure</a:t>
            </a:r>
            <a:r>
              <a:rPr lang="fi-FI" dirty="0"/>
              <a:t>. </a:t>
            </a:r>
            <a:r>
              <a:rPr lang="fi-FI" dirty="0" err="1"/>
              <a:t>Noise</a:t>
            </a:r>
            <a:r>
              <a:rPr lang="fi-FI" dirty="0"/>
              <a:t>?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2F75AAD7-4DD0-A352-D67F-E2D7A2F4DC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8028" y="1825625"/>
            <a:ext cx="5975915" cy="4069849"/>
          </a:xfrm>
        </p:spPr>
        <p:txBody>
          <a:bodyPr/>
          <a:lstStyle/>
          <a:p>
            <a:r>
              <a:rPr lang="fi-FI" dirty="0" err="1"/>
              <a:t>Plot</a:t>
            </a:r>
            <a:r>
              <a:rPr lang="fi-FI" dirty="0"/>
              <a:t> </a:t>
            </a:r>
            <a:r>
              <a:rPr lang="fi-FI" dirty="0" err="1"/>
              <a:t>shows</a:t>
            </a:r>
            <a:r>
              <a:rPr lang="fi-FI" dirty="0"/>
              <a:t> </a:t>
            </a:r>
            <a:r>
              <a:rPr lang="fi-FI" dirty="0" err="1"/>
              <a:t>average</a:t>
            </a:r>
            <a:r>
              <a:rPr lang="fi-FI" dirty="0"/>
              <a:t> of </a:t>
            </a:r>
            <a:r>
              <a:rPr lang="fi-FI" dirty="0" err="1"/>
              <a:t>systolic</a:t>
            </a:r>
            <a:r>
              <a:rPr lang="fi-FI" dirty="0"/>
              <a:t> </a:t>
            </a:r>
            <a:r>
              <a:rPr lang="fi-FI" dirty="0" err="1"/>
              <a:t>blood</a:t>
            </a:r>
            <a:r>
              <a:rPr lang="fi-FI" dirty="0"/>
              <a:t> </a:t>
            </a:r>
            <a:r>
              <a:rPr lang="fi-FI" dirty="0" err="1"/>
              <a:t>pressure</a:t>
            </a:r>
            <a:endParaRPr lang="fi-FI" dirty="0"/>
          </a:p>
          <a:p>
            <a:r>
              <a:rPr lang="fi-FI" dirty="0" err="1"/>
              <a:t>Unobserved</a:t>
            </a:r>
            <a:r>
              <a:rPr lang="fi-FI" dirty="0"/>
              <a:t> </a:t>
            </a:r>
            <a:r>
              <a:rPr lang="fi-FI" dirty="0" err="1"/>
              <a:t>cells</a:t>
            </a:r>
            <a:r>
              <a:rPr lang="fi-FI" dirty="0"/>
              <a:t> </a:t>
            </a:r>
            <a:r>
              <a:rPr lang="fi-FI" dirty="0" err="1"/>
              <a:t>imputed</a:t>
            </a:r>
            <a:r>
              <a:rPr lang="fi-FI" dirty="0"/>
              <a:t> </a:t>
            </a:r>
            <a:r>
              <a:rPr lang="fi-FI" dirty="0" err="1"/>
              <a:t>by</a:t>
            </a:r>
            <a:r>
              <a:rPr lang="fi-FI" dirty="0"/>
              <a:t> random </a:t>
            </a:r>
            <a:r>
              <a:rPr lang="fi-FI" dirty="0" err="1"/>
              <a:t>values</a:t>
            </a:r>
            <a:r>
              <a:rPr lang="fi-FI" dirty="0"/>
              <a:t>, </a:t>
            </a:r>
            <a:r>
              <a:rPr lang="fi-FI" dirty="0" err="1"/>
              <a:t>observed</a:t>
            </a:r>
            <a:r>
              <a:rPr lang="fi-FI" dirty="0"/>
              <a:t> w/ </a:t>
            </a:r>
            <a:r>
              <a:rPr lang="fi-FI" dirty="0" err="1"/>
              <a:t>jitter</a:t>
            </a:r>
            <a:r>
              <a:rPr lang="fi-FI" dirty="0"/>
              <a:t> </a:t>
            </a:r>
          </a:p>
          <a:p>
            <a:pPr lvl="1"/>
            <a:r>
              <a:rPr lang="fi-FI" dirty="0" err="1"/>
              <a:t>Due</a:t>
            </a:r>
            <a:r>
              <a:rPr lang="fi-FI" dirty="0"/>
              <a:t> to </a:t>
            </a:r>
            <a:r>
              <a:rPr lang="fi-FI" dirty="0" err="1"/>
              <a:t>participant</a:t>
            </a:r>
            <a:r>
              <a:rPr lang="fi-FI" dirty="0"/>
              <a:t> </a:t>
            </a:r>
            <a:r>
              <a:rPr lang="fi-FI" dirty="0" err="1"/>
              <a:t>privacy</a:t>
            </a:r>
            <a:r>
              <a:rPr lang="fi-FI" dirty="0"/>
              <a:t>.</a:t>
            </a:r>
          </a:p>
          <a:p>
            <a:r>
              <a:rPr lang="fi-FI" dirty="0"/>
              <a:t>Regression </a:t>
            </a:r>
            <a:r>
              <a:rPr lang="fi-FI" dirty="0" err="1"/>
              <a:t>models</a:t>
            </a:r>
            <a:r>
              <a:rPr lang="fi-FI" dirty="0"/>
              <a:t> </a:t>
            </a:r>
            <a:r>
              <a:rPr lang="fi-FI" dirty="0" err="1"/>
              <a:t>would</a:t>
            </a:r>
            <a:r>
              <a:rPr lang="fi-FI" dirty="0"/>
              <a:t> </a:t>
            </a:r>
            <a:r>
              <a:rPr lang="fi-FI" dirty="0" err="1"/>
              <a:t>produce</a:t>
            </a:r>
            <a:r>
              <a:rPr lang="fi-FI" dirty="0"/>
              <a:t> a </a:t>
            </a:r>
            <a:r>
              <a:rPr lang="fi-FI" dirty="0" err="1"/>
              <a:t>smoothed</a:t>
            </a:r>
            <a:r>
              <a:rPr lang="fi-FI" dirty="0"/>
              <a:t> version</a:t>
            </a:r>
          </a:p>
          <a:p>
            <a:pPr lvl="1"/>
            <a:r>
              <a:rPr lang="fi-FI" dirty="0" err="1"/>
              <a:t>Such</a:t>
            </a:r>
            <a:r>
              <a:rPr lang="fi-FI" dirty="0"/>
              <a:t> </a:t>
            </a:r>
            <a:r>
              <a:rPr lang="fi-FI" dirty="0" err="1"/>
              <a:t>models</a:t>
            </a:r>
            <a:r>
              <a:rPr lang="fi-FI" dirty="0"/>
              <a:t> </a:t>
            </a:r>
            <a:r>
              <a:rPr lang="fi-FI" dirty="0" err="1"/>
              <a:t>aim</a:t>
            </a:r>
            <a:r>
              <a:rPr lang="fi-FI" dirty="0"/>
              <a:t> to omit random </a:t>
            </a:r>
            <a:r>
              <a:rPr lang="fi-FI" dirty="0" err="1"/>
              <a:t>noise</a:t>
            </a:r>
            <a:r>
              <a:rPr lang="fi-FI" dirty="0"/>
              <a:t> – </a:t>
            </a:r>
            <a:r>
              <a:rPr lang="fi-FI" dirty="0" err="1"/>
              <a:t>which</a:t>
            </a:r>
            <a:r>
              <a:rPr lang="fi-FI" dirty="0"/>
              <a:t> is </a:t>
            </a:r>
            <a:r>
              <a:rPr lang="fi-FI" dirty="0" err="1"/>
              <a:t>inherent</a:t>
            </a:r>
            <a:r>
              <a:rPr lang="fi-FI" dirty="0"/>
              <a:t> in </a:t>
            </a:r>
            <a:r>
              <a:rPr lang="fi-FI" dirty="0" err="1"/>
              <a:t>high</a:t>
            </a:r>
            <a:r>
              <a:rPr lang="fi-FI" dirty="0"/>
              <a:t> </a:t>
            </a:r>
            <a:r>
              <a:rPr lang="fi-FI" dirty="0" err="1"/>
              <a:t>resolution</a:t>
            </a:r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24296770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53E866D8-0013-DE0F-0883-4FCA0C799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Our</a:t>
            </a:r>
            <a:r>
              <a:rPr lang="fi-FI" dirty="0"/>
              <a:t> </a:t>
            </a:r>
            <a:r>
              <a:rPr lang="fi-FI" dirty="0" err="1"/>
              <a:t>plan</a:t>
            </a:r>
            <a:r>
              <a:rPr lang="fi-FI" dirty="0"/>
              <a:t> in </a:t>
            </a:r>
            <a:r>
              <a:rPr lang="fi-FI" dirty="0" err="1"/>
              <a:t>Hologen</a:t>
            </a:r>
            <a:endParaRPr lang="fi-FI" dirty="0"/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462081E7-F922-7359-BCC2-B75C9270E0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 err="1"/>
              <a:t>Produce</a:t>
            </a:r>
            <a:r>
              <a:rPr lang="fi-FI" dirty="0"/>
              <a:t> </a:t>
            </a:r>
            <a:r>
              <a:rPr lang="fi-FI" dirty="0" err="1"/>
              <a:t>smoothed</a:t>
            </a:r>
            <a:r>
              <a:rPr lang="fi-FI" dirty="0"/>
              <a:t> </a:t>
            </a:r>
            <a:r>
              <a:rPr lang="fi-FI" dirty="0" err="1"/>
              <a:t>maps</a:t>
            </a:r>
            <a:r>
              <a:rPr lang="fi-FI" dirty="0"/>
              <a:t> of </a:t>
            </a:r>
            <a:r>
              <a:rPr lang="fi-FI" dirty="0" err="1"/>
              <a:t>microbial</a:t>
            </a:r>
            <a:r>
              <a:rPr lang="fi-FI" dirty="0"/>
              <a:t> </a:t>
            </a:r>
            <a:r>
              <a:rPr lang="fi-FI" dirty="0" err="1"/>
              <a:t>variation</a:t>
            </a:r>
            <a:endParaRPr lang="fi-FI" dirty="0"/>
          </a:p>
          <a:p>
            <a:pPr lvl="1"/>
            <a:r>
              <a:rPr lang="fi-FI" dirty="0" err="1"/>
              <a:t>Test</a:t>
            </a:r>
            <a:r>
              <a:rPr lang="fi-FI" dirty="0"/>
              <a:t> </a:t>
            </a:r>
            <a:r>
              <a:rPr lang="fi-FI" dirty="0" err="1"/>
              <a:t>different</a:t>
            </a:r>
            <a:r>
              <a:rPr lang="fi-FI" dirty="0"/>
              <a:t> </a:t>
            </a:r>
            <a:r>
              <a:rPr lang="fi-FI" dirty="0" err="1"/>
              <a:t>spatial</a:t>
            </a:r>
            <a:r>
              <a:rPr lang="fi-FI" dirty="0"/>
              <a:t> regression </a:t>
            </a:r>
            <a:r>
              <a:rPr lang="fi-FI" dirty="0" err="1"/>
              <a:t>models</a:t>
            </a:r>
            <a:endParaRPr lang="fi-FI" dirty="0"/>
          </a:p>
          <a:p>
            <a:pPr lvl="1"/>
            <a:r>
              <a:rPr lang="fi-FI" dirty="0" err="1"/>
              <a:t>First</a:t>
            </a:r>
            <a:r>
              <a:rPr lang="fi-FI" dirty="0"/>
              <a:t> option: </a:t>
            </a:r>
            <a:r>
              <a:rPr lang="fi-FI" dirty="0" err="1"/>
              <a:t>conditional</a:t>
            </a:r>
            <a:r>
              <a:rPr lang="fi-FI" dirty="0"/>
              <a:t> autoregression (CAR) in INLA</a:t>
            </a:r>
          </a:p>
          <a:p>
            <a:pPr lvl="1"/>
            <a:r>
              <a:rPr lang="fi-FI" dirty="0" err="1"/>
              <a:t>Explore</a:t>
            </a:r>
            <a:r>
              <a:rPr lang="fi-FI" dirty="0"/>
              <a:t> </a:t>
            </a:r>
            <a:r>
              <a:rPr lang="fi-FI" dirty="0" err="1"/>
              <a:t>different</a:t>
            </a:r>
            <a:r>
              <a:rPr lang="fi-FI" dirty="0"/>
              <a:t> </a:t>
            </a:r>
            <a:r>
              <a:rPr lang="fi-FI" dirty="0" err="1"/>
              <a:t>aspects</a:t>
            </a:r>
            <a:r>
              <a:rPr lang="fi-FI" dirty="0"/>
              <a:t> of </a:t>
            </a:r>
            <a:r>
              <a:rPr lang="fi-FI" dirty="0" err="1"/>
              <a:t>microbiome</a:t>
            </a:r>
            <a:r>
              <a:rPr lang="fi-FI" dirty="0"/>
              <a:t>, </a:t>
            </a:r>
            <a:r>
              <a:rPr lang="fi-FI" dirty="0" err="1"/>
              <a:t>such</a:t>
            </a:r>
            <a:r>
              <a:rPr lang="fi-FI" dirty="0"/>
              <a:t> as </a:t>
            </a:r>
            <a:r>
              <a:rPr lang="fi-FI" b="1" dirty="0" err="1"/>
              <a:t>enterosignatures</a:t>
            </a:r>
            <a:endParaRPr lang="fi-FI" b="1" dirty="0"/>
          </a:p>
          <a:p>
            <a:r>
              <a:rPr lang="fi-FI" dirty="0"/>
              <a:t>If </a:t>
            </a:r>
            <a:r>
              <a:rPr lang="fi-FI" dirty="0" err="1"/>
              <a:t>spatial</a:t>
            </a:r>
            <a:r>
              <a:rPr lang="fi-FI" dirty="0"/>
              <a:t> </a:t>
            </a:r>
            <a:r>
              <a:rPr lang="fi-FI" dirty="0" err="1"/>
              <a:t>variation</a:t>
            </a:r>
            <a:r>
              <a:rPr lang="fi-FI" dirty="0"/>
              <a:t> is </a:t>
            </a:r>
            <a:r>
              <a:rPr lang="fi-FI" dirty="0" err="1"/>
              <a:t>found</a:t>
            </a:r>
            <a:r>
              <a:rPr lang="fi-FI" dirty="0"/>
              <a:t> </a:t>
            </a:r>
            <a:r>
              <a:rPr lang="fi-FI" dirty="0" err="1"/>
              <a:t>does</a:t>
            </a:r>
            <a:r>
              <a:rPr lang="fi-FI" dirty="0"/>
              <a:t> it </a:t>
            </a:r>
            <a:r>
              <a:rPr lang="fi-FI" dirty="0" err="1"/>
              <a:t>explain</a:t>
            </a:r>
            <a:r>
              <a:rPr lang="fi-FI" dirty="0"/>
              <a:t> </a:t>
            </a:r>
            <a:r>
              <a:rPr lang="fi-FI" dirty="0" err="1"/>
              <a:t>any</a:t>
            </a:r>
            <a:r>
              <a:rPr lang="fi-FI" dirty="0"/>
              <a:t> of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variation</a:t>
            </a:r>
            <a:r>
              <a:rPr lang="fi-FI" dirty="0"/>
              <a:t> </a:t>
            </a:r>
            <a:r>
              <a:rPr lang="fi-FI" dirty="0" err="1"/>
              <a:t>found</a:t>
            </a:r>
            <a:r>
              <a:rPr lang="fi-FI" dirty="0"/>
              <a:t> on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variation</a:t>
            </a:r>
            <a:r>
              <a:rPr lang="fi-FI" dirty="0"/>
              <a:t> in </a:t>
            </a:r>
            <a:r>
              <a:rPr lang="fi-FI" dirty="0" err="1"/>
              <a:t>chronic</a:t>
            </a:r>
            <a:r>
              <a:rPr lang="fi-FI" dirty="0"/>
              <a:t> </a:t>
            </a:r>
            <a:r>
              <a:rPr lang="fi-FI" dirty="0" err="1"/>
              <a:t>diseases</a:t>
            </a:r>
            <a:r>
              <a:rPr lang="fi-FI" dirty="0"/>
              <a:t>?</a:t>
            </a:r>
          </a:p>
          <a:p>
            <a:r>
              <a:rPr lang="fi-FI" dirty="0" err="1"/>
              <a:t>Implement</a:t>
            </a:r>
            <a:r>
              <a:rPr lang="fi-FI" dirty="0"/>
              <a:t>/</a:t>
            </a:r>
            <a:r>
              <a:rPr lang="fi-FI" dirty="0" err="1"/>
              <a:t>integrate</a:t>
            </a:r>
            <a:r>
              <a:rPr lang="fi-FI" dirty="0"/>
              <a:t>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chosen</a:t>
            </a:r>
            <a:r>
              <a:rPr lang="fi-FI" dirty="0"/>
              <a:t> regression </a:t>
            </a:r>
            <a:r>
              <a:rPr lang="fi-FI" dirty="0" err="1"/>
              <a:t>models</a:t>
            </a:r>
            <a:r>
              <a:rPr lang="fi-FI" dirty="0"/>
              <a:t> in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microbiome</a:t>
            </a:r>
            <a:r>
              <a:rPr lang="fi-FI" dirty="0"/>
              <a:t> </a:t>
            </a:r>
            <a:r>
              <a:rPr lang="fi-FI" dirty="0" err="1"/>
              <a:t>framework</a:t>
            </a:r>
            <a:r>
              <a:rPr lang="fi-FI" dirty="0"/>
              <a:t> (MIA)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F40B6D5-F901-55AE-6BB0-2956377FFA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1097" y="378307"/>
            <a:ext cx="1662875" cy="2523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47402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TU-2018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78C8D2"/>
      </a:accent1>
      <a:accent2>
        <a:srgbClr val="9063CD"/>
      </a:accent2>
      <a:accent3>
        <a:srgbClr val="ADCB00"/>
      </a:accent3>
      <a:accent4>
        <a:srgbClr val="F8485E"/>
      </a:accent4>
      <a:accent5>
        <a:srgbClr val="868686"/>
      </a:accent5>
      <a:accent6>
        <a:srgbClr val="D9D9D9"/>
      </a:accent6>
      <a:hlink>
        <a:srgbClr val="9063CD"/>
      </a:hlink>
      <a:folHlink>
        <a:srgbClr val="9063C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Asiakirja" ma:contentTypeID="0x010100A407D4FD17612942B689264A64C80E05" ma:contentTypeVersion="1" ma:contentTypeDescription="Luo uusi asiakirja." ma:contentTypeScope="" ma:versionID="0480f80a69f636fdb437def8970b05bc">
  <xsd:schema xmlns:xsd="http://www.w3.org/2001/XMLSchema" xmlns:xs="http://www.w3.org/2001/XMLSchema" xmlns:p="http://schemas.microsoft.com/office/2006/metadata/properties" xmlns:ns1="http://schemas.microsoft.com/sharepoint/v3" targetNamespace="http://schemas.microsoft.com/office/2006/metadata/properties" ma:root="true" ma:fieldsID="fd992add4e3bc107ac41e75fb37a5a16" ns1:_="">
    <xsd:import namespace="http://schemas.microsoft.com/sharepoint/v3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Ajoituksen alkamispäivämäärä" ma:description="Ajoituksen alkamispäivämäärä on julkaisuominaisuuden luoma sivustosarake. Sillä määritetään päivämäärä ja kellonaika, jolloin vierailijat näkevät sivuston ensimmäisen kerran." ma:hidden="true" ma:internalName="PublishingStartDate">
      <xsd:simpleType>
        <xsd:restriction base="dms:Unknown"/>
      </xsd:simpleType>
    </xsd:element>
    <xsd:element name="PublishingExpirationDate" ma:index="9" nillable="true" ma:displayName="Ajoituksen päättymispäivämäärä" ma:description="Ajoituksen päättymispäivämäärä on julkaisuominaisuuden luoma sivustosarake. Sillä määritetään päivämäärä ja kellonaika, jolloin vierailijat eivät enää näe tätä sivustoa." ma:hidden="true" ma:internalName="PublishingExpirationDat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Sisältölaji"/>
        <xsd:element ref="dc:title" minOccurs="0" maxOccurs="1" ma:index="4" ma:displayName="Otsikk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DD425F4-6F88-4EF6-B6D4-CBA8937CC1BB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BCDF4772-F6E9-4CDC-A377-AA1F66B5AA2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E279BB5-4AFF-46DF-8449-888BC8E5C31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2131</TotalTime>
  <Words>471</Words>
  <Application>Microsoft Macintosh PowerPoint</Application>
  <PresentationFormat>Laajakuva</PresentationFormat>
  <Paragraphs>50</Paragraphs>
  <Slides>11</Slides>
  <Notes>0</Notes>
  <HiddenSlides>0</HiddenSlides>
  <MMClips>0</MMClips>
  <ScaleCrop>false</ScaleCrop>
  <HeadingPairs>
    <vt:vector size="6" baseType="variant">
      <vt:variant>
        <vt:lpstr>Käytetyt fontit</vt:lpstr>
      </vt:variant>
      <vt:variant>
        <vt:i4>3</vt:i4>
      </vt:variant>
      <vt:variant>
        <vt:lpstr>Teema</vt:lpstr>
      </vt:variant>
      <vt:variant>
        <vt:i4>1</vt:i4>
      </vt:variant>
      <vt:variant>
        <vt:lpstr>Dian otsikot</vt:lpstr>
      </vt:variant>
      <vt:variant>
        <vt:i4>11</vt:i4>
      </vt:variant>
    </vt:vector>
  </HeadingPairs>
  <TitlesOfParts>
    <vt:vector size="15" baseType="lpstr">
      <vt:lpstr>Arial</vt:lpstr>
      <vt:lpstr>Calibri</vt:lpstr>
      <vt:lpstr>Open Sans</vt:lpstr>
      <vt:lpstr>Office Theme</vt:lpstr>
      <vt:lpstr>Bayesian disease mapping for hologenomics in Finland</vt:lpstr>
      <vt:lpstr>Mapping London cholera 1854</vt:lpstr>
      <vt:lpstr>Disease mapping, regional differences  Explore specific hypotheses</vt:lpstr>
      <vt:lpstr>Finland: prevalence of medicated parkinsonism in the year 2000 </vt:lpstr>
      <vt:lpstr>AMI and stroke, shared and independent RR</vt:lpstr>
      <vt:lpstr>              Stroke     and  AMI incidence</vt:lpstr>
      <vt:lpstr>AMI vs. magnesium in well water</vt:lpstr>
      <vt:lpstr>With our metagenome data</vt:lpstr>
      <vt:lpstr>Spatial smoothing interpolation</vt:lpstr>
      <vt:lpstr>CELL average of SYST.  Blood pressure. Noise?</vt:lpstr>
      <vt:lpstr>Our plan in Hologen</vt:lpstr>
    </vt:vector>
  </TitlesOfParts>
  <Company>University of Turku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UTU PowerPoint template 2018</dc:title>
  <dc:creator/>
  <cp:lastModifiedBy>Aki Havulinna</cp:lastModifiedBy>
  <cp:revision>32</cp:revision>
  <dcterms:created xsi:type="dcterms:W3CDTF">2018-08-30T06:12:36Z</dcterms:created>
  <dcterms:modified xsi:type="dcterms:W3CDTF">2025-05-05T21:31:59Z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0x010100A407D4FD17612942B689264A64C80E05</vt:lpwstr>
  </property>
</Properties>
</file>