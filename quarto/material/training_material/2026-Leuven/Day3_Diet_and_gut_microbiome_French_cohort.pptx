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21.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presProps.xml" ContentType="application/vnd.openxmlformats-officedocument.presentationml.presProps+xml"/>
  <Override PartName="/ppt/media/image39.emf" ContentType="image/x-emf"/>
  <Override PartName="/ppt/media/image40.emf" ContentType="image/x-emf"/>
  <Override PartName="/ppt/media/image10.emf" ContentType="image/x-emf"/>
  <Override PartName="/ppt/media/image45.emf" ContentType="image/x-emf"/>
  <Override PartName="/ppt/media/hdphoto1.wdp" ContentType="image/vnd.ms-photo"/>
  <Override PartName="/ppt/media/image46.emf" ContentType="image/x-emf"/>
  <Override PartName="/ppt/notesMasters/notesMaster1.xml" ContentType="application/vnd.openxmlformats-officedocument.presentationml.notesMaster+xml"/>
  <Override PartName="/ppt/slides/slide29.xml" ContentType="application/vnd.openxmlformats-officedocument.presentationml.slide+xml"/>
  <Override PartName="/ppt/slides/slide2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5.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3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6"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8.xml"/><Relationship Id="rId4" Type="http://schemas.openxmlformats.org/officeDocument/2006/relationships/slideMaster" Target="slideMasters/slideMaster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914400">
              <a:lnSpc>
                <a:spcPct val="90000"/>
              </a:lnSpc>
            </a:pPr>
            <a:r>
              <a:rPr lang="fr-FR" sz="6000" b="1" u="none" strike="noStrike">
                <a:solidFill>
                  <a:srgbClr val="00A3A6"/>
                </a:solidFill>
                <a:effectLst/>
                <a:uFillTx/>
                <a:latin typeface="AvenirNext LT Pro MediumCn"/>
              </a:rPr>
              <a:t>Cliquez pour déplacer la diapo</a:t>
            </a:r>
            <a:endParaRPr lang="fr-FR" sz="6000" b="1" u="none" strike="noStrike">
              <a:solidFill>
                <a:srgbClr val="00A3A6"/>
              </a:solidFill>
              <a:effectLst/>
              <a:uFillTx/>
              <a:latin typeface="AvenirNext LT Pro MediumCn"/>
            </a:endParaRPr>
          </a:p>
        </p:txBody>
      </p:sp>
      <p:sp>
        <p:nvSpPr>
          <p:cNvPr id="16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16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167"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168"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169"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D1E86619-7358-4D48-9474-F12E6F3781F8}"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5320" cy="3085200"/>
          </a:xfrm>
          <a:prstGeom prst="rect">
            <a:avLst/>
          </a:prstGeom>
          <a:ln w="0">
            <a:noFill/>
          </a:ln>
        </p:spPr>
      </p:sp>
      <p:sp>
        <p:nvSpPr>
          <p:cNvPr id="43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32"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2A089F6-5995-45B5-ABB4-CD231F20B17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5320" cy="3085200"/>
          </a:xfrm>
          <a:prstGeom prst="rect">
            <a:avLst/>
          </a:prstGeom>
          <a:ln w="0">
            <a:noFill/>
          </a:ln>
        </p:spPr>
      </p:sp>
      <p:sp>
        <p:nvSpPr>
          <p:cNvPr id="43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Gut microbiome is shaped by genetics, external and internal host factors and ecological forces. While our lifestyle and diet change, our genomes did not change and we may uncouple the relation between our gut microbiome and our genes. This result in a few association (except bifide/lactase deficiency) between genes polymorphism and microbiome structure.</a:t>
            </a:r>
            <a:endParaRPr lang="fr-FR" sz="2000" b="0" u="none" strike="noStrike">
              <a:solidFill>
                <a:srgbClr val="000000"/>
              </a:solidFill>
              <a:effectLst/>
              <a:uFillTx/>
              <a:latin typeface="Arial"/>
            </a:endParaRPr>
          </a:p>
        </p:txBody>
      </p:sp>
      <p:sp>
        <p:nvSpPr>
          <p:cNvPr id="435"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44C4EA76-D369-45EA-A972-E1FDF0AAAE64}" type="slidenum">
              <a:rPr lang="fr-FR"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5320" cy="3085200"/>
          </a:xfrm>
          <a:prstGeom prst="rect">
            <a:avLst/>
          </a:prstGeom>
          <a:ln w="0">
            <a:noFill/>
          </a:ln>
        </p:spPr>
      </p:sp>
      <p:sp>
        <p:nvSpPr>
          <p:cNvPr id="43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US" sz="1200" b="0" u="none" strike="noStrike">
                <a:solidFill>
                  <a:schemeClr val="dk1"/>
                </a:solidFill>
                <a:effectLst/>
                <a:uFillTx/>
                <a:latin typeface="+mn-lt"/>
                <a:ea typeface="+mn-ea"/>
              </a:rPr>
              <a:t>In addition to all these factors responsible for the variation of the microbiota, there are ecological phenomena that govern the microbiota, such as resilience/resistance to external perturbation. Depending on those ecological phenomenon, there may be a shift from one state to another.</a:t>
            </a:r>
            <a:endParaRPr lang="fr-FR" sz="1200" b="0" u="none" strike="noStrike">
              <a:solidFill>
                <a:srgbClr val="000000"/>
              </a:solidFill>
              <a:effectLst/>
              <a:uFillTx/>
              <a:latin typeface="Arial"/>
            </a:endParaRPr>
          </a:p>
          <a:p>
            <a:pPr indent="0" algn="l" defTabSz="914400">
              <a:lnSpc>
                <a:spcPct val="100000"/>
              </a:lnSpc>
              <a:buNone/>
              <a:tabLst>
                <a:tab pos="0" algn="l"/>
              </a:tabLst>
            </a:pPr>
            <a:endParaRPr lang="fr-FR" sz="1200" b="0" u="none" strike="noStrike">
              <a:solidFill>
                <a:srgbClr val="000000"/>
              </a:solidFill>
              <a:effectLst/>
              <a:uFillTx/>
              <a:latin typeface="Arial"/>
            </a:endParaRPr>
          </a:p>
        </p:txBody>
      </p:sp>
      <p:sp>
        <p:nvSpPr>
          <p:cNvPr id="438" name="PlaceHolder 3"/>
          <p:cNvSpPr>
            <a:spLocks noGrp="1"/>
          </p:cNvSpPr>
          <p:nvPr>
            <p:ph type="sldNum" idx="26"/>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3D8396D-544B-4381-9CE0-335E3FF34813}"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Several attempts have been made in the past to understand the structure of the gut microbiome, but with limitations. Here I show the enterotypes with few stability assessment.</a:t>
            </a:r>
            <a:endParaRPr lang="fr-FR"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5320" cy="3085200"/>
          </a:xfrm>
          <a:prstGeom prst="rect">
            <a:avLst/>
          </a:prstGeom>
          <a:ln w="0">
            <a:noFill/>
          </a:ln>
        </p:spPr>
      </p:sp>
      <p:sp>
        <p:nvSpPr>
          <p:cNvPr id="44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We have tried to go further by analyzing the available data from 35,000 samples from several regions of the world and reusing recent methodologies for classification and visualization of data, allowing us local and global exploration of the microbiota. Moreover, we have time series data that will give us stability estimates. The collected metadata will allow us to model these different states.</a:t>
            </a:r>
            <a:endParaRPr lang="fr-FR" sz="2000" b="0" u="none" strike="noStrike">
              <a:solidFill>
                <a:srgbClr val="000000"/>
              </a:solidFill>
              <a:effectLst/>
              <a:uFillTx/>
              <a:latin typeface="Arial"/>
            </a:endParaRPr>
          </a:p>
        </p:txBody>
      </p:sp>
      <p:sp>
        <p:nvSpPr>
          <p:cNvPr id="442" name="PlaceHolder 3"/>
          <p:cNvSpPr>
            <a:spLocks noGrp="1"/>
          </p:cNvSpPr>
          <p:nvPr>
            <p:ph type="sldNum" idx="27"/>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9F70E01-5801-4027-BA57-4C6F37EFAB9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5320" cy="3085200"/>
          </a:xfrm>
          <a:prstGeom prst="rect">
            <a:avLst/>
          </a:prstGeom>
          <a:ln w="0">
            <a:noFill/>
          </a:ln>
        </p:spPr>
      </p:sp>
      <p:sp>
        <p:nvSpPr>
          <p:cNvPr id="44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Here, I present a recent way of representing the microbiota with such large dataset. And as you can see, we can visualize the samples distributed in branches and represent the different partitions on these branches. If we look at diversity, it is maximal at the center of the structure, while it drops at tips</a:t>
            </a:r>
            <a:endParaRPr lang="fr-FR"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we use a GMHI algorithm, it shows that the core and a branch are healthier. Another score allows us to calculate how oxygen-tolerant bacteria are distributed on the branches. Again, we see a separation that occurs with the branches.</a:t>
            </a:r>
            <a:endParaRPr lang="fr-FR" sz="2000" b="0" u="none" strike="noStrike">
              <a:solidFill>
                <a:srgbClr val="000000"/>
              </a:solidFill>
              <a:effectLst/>
              <a:uFillTx/>
              <a:latin typeface="Arial"/>
            </a:endParaRPr>
          </a:p>
          <a:p>
            <a:pPr indent="0" algn="l">
              <a:lnSpc>
                <a:spcPct val="100000"/>
              </a:lnSpc>
              <a:buNone/>
              <a:tabLst>
                <a:tab pos="0" algn="l"/>
              </a:tabLst>
            </a:pPr>
            <a:endParaRPr lang="fr-FR" sz="2000" b="0" u="none" strike="noStrike">
              <a:solidFill>
                <a:srgbClr val="000000"/>
              </a:solidFill>
              <a:effectLst/>
              <a:uFillTx/>
              <a:latin typeface="Arial"/>
            </a:endParaRPr>
          </a:p>
        </p:txBody>
      </p:sp>
      <p:sp>
        <p:nvSpPr>
          <p:cNvPr id="445" name="PlaceHolder 3"/>
          <p:cNvSpPr>
            <a:spLocks noGrp="1"/>
          </p:cNvSpPr>
          <p:nvPr>
            <p:ph type="sldNum" idx="28"/>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14A8A96-7267-4D83-B77B-FBB75D3EE3D2}"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5320" cy="3085200"/>
          </a:xfrm>
          <a:prstGeom prst="rect">
            <a:avLst/>
          </a:prstGeom>
          <a:ln w="0">
            <a:noFill/>
          </a:ln>
        </p:spPr>
      </p:sp>
      <p:sp>
        <p:nvSpPr>
          <p:cNvPr id="44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mn-lt"/>
                <a:ea typeface="+mn-ea"/>
              </a:rPr>
              <a:t>The time series data we have collected have allowed us to assess what is the preferred path of microbiota dynamics between partitions, and we see that it first occurs within the branches. The states thus observed are more or less stable. Some states are like ecological traps.</a:t>
            </a:r>
            <a:endParaRPr lang="fr-FR" sz="1200" b="0" u="none" strike="noStrike">
              <a:solidFill>
                <a:srgbClr val="000000"/>
              </a:solidFill>
              <a:effectLst/>
              <a:uFillTx/>
              <a:latin typeface="Arial"/>
            </a:endParaRPr>
          </a:p>
          <a:p>
            <a:pPr indent="0" algn="l">
              <a:lnSpc>
                <a:spcPct val="100000"/>
              </a:lnSpc>
              <a:buNone/>
              <a:tabLst>
                <a:tab pos="0" algn="l"/>
              </a:tabLst>
            </a:pPr>
            <a:endParaRPr lang="fr-FR" sz="1200" b="0" u="none" strike="noStrike">
              <a:solidFill>
                <a:srgbClr val="000000"/>
              </a:solidFill>
              <a:effectLst/>
              <a:uFillTx/>
              <a:latin typeface="Arial"/>
            </a:endParaRPr>
          </a:p>
          <a:p>
            <a:pPr indent="0" algn="l">
              <a:lnSpc>
                <a:spcPct val="100000"/>
              </a:lnSpc>
              <a:buNone/>
              <a:tabLst>
                <a:tab pos="0" algn="l"/>
              </a:tabLst>
            </a:pPr>
            <a:r>
              <a:rPr lang="en-US" sz="1200" b="0" u="none" strike="noStrike">
                <a:solidFill>
                  <a:schemeClr val="dk1"/>
                </a:solidFill>
                <a:effectLst/>
                <a:uFillTx/>
                <a:latin typeface="+mn-lt"/>
                <a:ea typeface="+mn-ea"/>
              </a:rPr>
              <a:t>We detected that the faecalibacterium.bacteroides ratio could be considered as a biomarker of certain switches.</a:t>
            </a:r>
            <a:endParaRPr lang="fr-FR" sz="1200" b="0" u="none" strike="noStrike">
              <a:solidFill>
                <a:srgbClr val="000000"/>
              </a:solidFill>
              <a:effectLst/>
              <a:uFillTx/>
              <a:latin typeface="Arial"/>
            </a:endParaRPr>
          </a:p>
        </p:txBody>
      </p:sp>
      <p:sp>
        <p:nvSpPr>
          <p:cNvPr id="448" name="PlaceHolder 3"/>
          <p:cNvSpPr>
            <a:spLocks noGrp="1"/>
          </p:cNvSpPr>
          <p:nvPr>
            <p:ph type="sldNum" idx="29"/>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2013C33-0B9F-45E0-93FB-052912D50A3A}"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5320" cy="3085200"/>
          </a:xfrm>
          <a:prstGeom prst="rect">
            <a:avLst/>
          </a:prstGeom>
          <a:ln w="0">
            <a:noFill/>
          </a:ln>
        </p:spPr>
      </p:sp>
      <p:sp>
        <p:nvSpPr>
          <p:cNvPr id="45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mn-lt"/>
                <a:ea typeface="+mn-ea"/>
              </a:rPr>
              <a:t>Another observation surprised me. At the center of the tree, the average identity card is a Southeast Asian elderly woman who eats healthily. On the ends of the branches, we find the youngest adults. Are we not already observing a shift in intergenerational diversity? Here, you see a pseudo-time analysis on the branches, and we see species that disappear step by step along the branches.</a:t>
            </a:r>
            <a:endParaRPr lang="fr-FR" sz="1200" b="0" u="none" strike="noStrike">
              <a:solidFill>
                <a:srgbClr val="000000"/>
              </a:solidFill>
              <a:effectLst/>
              <a:uFillTx/>
              <a:latin typeface="Arial"/>
            </a:endParaRPr>
          </a:p>
        </p:txBody>
      </p:sp>
      <p:sp>
        <p:nvSpPr>
          <p:cNvPr id="451" name="PlaceHolder 3"/>
          <p:cNvSpPr>
            <a:spLocks noGrp="1"/>
          </p:cNvSpPr>
          <p:nvPr>
            <p:ph type="sldNum" idx="30"/>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7676CEF-9F00-4087-BA15-A1BA13949B60}"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5680" cy="3085560"/>
          </a:xfrm>
          <a:prstGeom prst="rect">
            <a:avLst/>
          </a:prstGeom>
          <a:ln w="0">
            <a:noFill/>
          </a:ln>
        </p:spPr>
      </p:sp>
      <p:sp>
        <p:nvSpPr>
          <p:cNvPr id="4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US" sz="1200" b="0" u="none" strike="noStrike">
                <a:solidFill>
                  <a:schemeClr val="dk1"/>
                </a:solidFill>
                <a:effectLst/>
                <a:uFillTx/>
                <a:latin typeface="+mn-lt"/>
                <a:ea typeface="+mn-ea"/>
              </a:rPr>
              <a:t>These observations reinforce the hypothesis that there are indeed alternative ecological states in the gut microbiome</a:t>
            </a:r>
            <a:endParaRPr lang="fr-FR" sz="1200" b="0" u="none" strike="noStrike">
              <a:solidFill>
                <a:srgbClr val="000000"/>
              </a:solidFill>
              <a:effectLst/>
              <a:uFillTx/>
              <a:latin typeface="Arial"/>
            </a:endParaRPr>
          </a:p>
          <a:p>
            <a:pPr indent="0" algn="l" defTabSz="914400">
              <a:lnSpc>
                <a:spcPct val="100000"/>
              </a:lnSpc>
              <a:buNone/>
              <a:tabLst>
                <a:tab pos="0" algn="l"/>
              </a:tabLst>
            </a:pPr>
            <a:endParaRPr lang="fr-FR" sz="1200" b="0" u="none" strike="noStrike">
              <a:solidFill>
                <a:srgbClr val="000000"/>
              </a:solidFill>
              <a:effectLst/>
              <a:uFillTx/>
              <a:latin typeface="Arial"/>
            </a:endParaRPr>
          </a:p>
        </p:txBody>
      </p:sp>
      <p:sp>
        <p:nvSpPr>
          <p:cNvPr id="454"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147751F-3A02-45CB-B983-208AAC64ED0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5320" cy="3085200"/>
          </a:xfrm>
          <a:prstGeom prst="rect">
            <a:avLst/>
          </a:prstGeom>
          <a:ln w="0">
            <a:noFill/>
          </a:ln>
        </p:spPr>
      </p:sp>
      <p:sp>
        <p:nvSpPr>
          <p:cNvPr id="45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mn-lt"/>
                <a:ea typeface="+mn-ea"/>
              </a:rPr>
              <a:t>How to avoid the point of no return?</a:t>
            </a:r>
            <a:endParaRPr lang="fr-FR" sz="1200" b="0" u="none" strike="noStrike">
              <a:solidFill>
                <a:srgbClr val="000000"/>
              </a:solidFill>
              <a:effectLst/>
              <a:uFillTx/>
              <a:latin typeface="Arial"/>
            </a:endParaRPr>
          </a:p>
          <a:p>
            <a:pPr indent="0" algn="l">
              <a:lnSpc>
                <a:spcPct val="100000"/>
              </a:lnSpc>
              <a:buNone/>
              <a:tabLst>
                <a:tab pos="0" algn="l"/>
              </a:tabLst>
            </a:pPr>
            <a:r>
              <a:rPr lang="en-US" sz="1200" b="0" u="none" strike="noStrike">
                <a:solidFill>
                  <a:schemeClr val="dk1"/>
                </a:solidFill>
                <a:effectLst/>
                <a:uFillTx/>
                <a:latin typeface="+mn-lt"/>
                <a:ea typeface="+mn-ea"/>
              </a:rPr>
              <a:t>Our belief is that fermented  foods can play a role. </a:t>
            </a:r>
            <a:endParaRPr lang="fr-FR" sz="1200" b="0" u="none" strike="noStrike">
              <a:solidFill>
                <a:srgbClr val="000000"/>
              </a:solidFill>
              <a:effectLst/>
              <a:uFillTx/>
              <a:latin typeface="Arial"/>
            </a:endParaRPr>
          </a:p>
        </p:txBody>
      </p:sp>
      <p:sp>
        <p:nvSpPr>
          <p:cNvPr id="457" name="PlaceHolder 3"/>
          <p:cNvSpPr>
            <a:spLocks noGrp="1"/>
          </p:cNvSpPr>
          <p:nvPr>
            <p:ph type="sldNum" idx="32"/>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4BDBBC61-9913-41F4-97FD-C29DA1954BBB}"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5320" cy="3085200"/>
          </a:xfrm>
          <a:prstGeom prst="rect">
            <a:avLst/>
          </a:prstGeom>
          <a:ln w="0">
            <a:noFill/>
          </a:ln>
        </p:spPr>
      </p:sp>
      <p:sp>
        <p:nvSpPr>
          <p:cNvPr id="45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mn-lt"/>
                <a:ea typeface="+mn-ea"/>
              </a:rPr>
              <a:t>They may even play a role in precision nutrition. They can be a good complement to fibers, with, for example, in this study, specific effect on diversity. How about interaction between food and gut microbiome?</a:t>
            </a:r>
            <a:endParaRPr lang="fr-FR" sz="1200" b="0" u="none" strike="noStrike">
              <a:solidFill>
                <a:srgbClr val="000000"/>
              </a:solidFill>
              <a:effectLst/>
              <a:uFillTx/>
              <a:latin typeface="Arial"/>
            </a:endParaRPr>
          </a:p>
        </p:txBody>
      </p:sp>
      <p:sp>
        <p:nvSpPr>
          <p:cNvPr id="460" name="PlaceHolder 3"/>
          <p:cNvSpPr>
            <a:spLocks noGrp="1"/>
          </p:cNvSpPr>
          <p:nvPr>
            <p:ph type="sldNum" idx="33"/>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D55936D-28FA-4A98-8F6B-6A0ABD717B58}"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5320" cy="3085200"/>
          </a:xfrm>
          <a:prstGeom prst="rect">
            <a:avLst/>
          </a:prstGeom>
          <a:ln w="0">
            <a:noFill/>
          </a:ln>
        </p:spPr>
      </p:sp>
      <p:sp>
        <p:nvSpPr>
          <p:cNvPr id="46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mn-lt"/>
                <a:ea typeface="+mn-ea"/>
              </a:rPr>
              <a:t>Here are the take-home messages</a:t>
            </a:r>
            <a:endParaRPr lang="fr-FR" sz="1200" b="0" u="none" strike="noStrike">
              <a:solidFill>
                <a:srgbClr val="000000"/>
              </a:solidFill>
              <a:effectLst/>
              <a:uFillTx/>
              <a:latin typeface="Arial"/>
            </a:endParaRPr>
          </a:p>
        </p:txBody>
      </p:sp>
      <p:sp>
        <p:nvSpPr>
          <p:cNvPr id="463" name="PlaceHolder 3"/>
          <p:cNvSpPr>
            <a:spLocks noGrp="1"/>
          </p:cNvSpPr>
          <p:nvPr>
            <p:ph type="sldNum" idx="34"/>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D91EBF4-D65B-4C35-B586-FEE4CF531D81}"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 Version 1">
    <p:bg>
      <p:bgPr>
        <a:solidFill>
          <a:srgbClr val="FFFFFF"/>
        </a:solidFill>
      </p:bgPr>
    </p:bg>
    <p:spTree>
      <p:nvGrpSpPr>
        <p:cNvPr id="1" name=""/>
        <p:cNvGrpSpPr/>
        <p:nvPr/>
      </p:nvGrpSpPr>
      <p:grpSpPr>
        <a:xfrm>
          <a:off x="0" y="0"/>
          <a:ext cx="0" cy="0"/>
          <a:chOff x="0" y="0"/>
          <a:chExt cx="0" cy="0"/>
        </a:xfrm>
      </p:grpSpPr>
      <p:sp>
        <p:nvSpPr>
          <p:cNvPr id="2"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4426F548-83F1-444D-AAC0-4F674F9A1894}"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3" name="Image 13"/>
          <p:cNvPicPr/>
          <p:nvPr/>
        </p:nvPicPr>
        <p:blipFill>
          <a:blip r:embed="rId2"/>
          <a:stretch/>
        </p:blipFill>
        <p:spPr>
          <a:xfrm>
            <a:off x="0" y="6076080"/>
            <a:ext cx="1999080" cy="799200"/>
          </a:xfrm>
          <a:prstGeom prst="rect">
            <a:avLst/>
          </a:prstGeom>
          <a:noFill/>
          <a:ln w="0">
            <a:noFill/>
          </a:ln>
        </p:spPr>
      </p:pic>
      <p:sp>
        <p:nvSpPr>
          <p:cNvPr id="4"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5"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pic>
        <p:nvPicPr>
          <p:cNvPr id="6" name="Image 4"/>
          <p:cNvPicPr/>
          <p:nvPr/>
        </p:nvPicPr>
        <p:blipFill>
          <a:blip r:embed="rId3"/>
          <a:stretch/>
        </p:blipFill>
        <p:spPr>
          <a:xfrm>
            <a:off x="0" y="2394360"/>
            <a:ext cx="4075560" cy="2789640"/>
          </a:xfrm>
          <a:prstGeom prst="rect">
            <a:avLst/>
          </a:prstGeom>
          <a:noFill/>
          <a:ln w="0">
            <a:noFill/>
          </a:ln>
        </p:spPr>
      </p:pic>
      <p:pic>
        <p:nvPicPr>
          <p:cNvPr id="7" name="Image 5"/>
          <p:cNvPicPr/>
          <p:nvPr/>
        </p:nvPicPr>
        <p:blipFill>
          <a:blip r:embed="rId4"/>
          <a:stretch/>
        </p:blipFill>
        <p:spPr>
          <a:xfrm>
            <a:off x="1869480" y="2418840"/>
            <a:ext cx="313200" cy="427680"/>
          </a:xfrm>
          <a:prstGeom prst="rect">
            <a:avLst/>
          </a:prstGeom>
          <a:noFill/>
          <a:ln w="0">
            <a:noFill/>
          </a:ln>
        </p:spPr>
      </p:pic>
      <p:sp>
        <p:nvSpPr>
          <p:cNvPr id="8" name="Rectangle 6"/>
          <p:cNvSpPr/>
          <p:nvPr/>
        </p:nvSpPr>
        <p:spPr>
          <a:xfrm>
            <a:off x="0" y="5994720"/>
            <a:ext cx="12191040" cy="863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tIns="45000" rIns="90000" bIns="45000" anchor="ctr">
            <a:noAutofit/>
          </a:bodyPr>
          <a:p>
            <a:endParaRPr lang="fr-FR" sz="1800" b="0" u="none" strike="noStrike">
              <a:solidFill>
                <a:schemeClr val="lt1"/>
              </a:solidFill>
              <a:effectLst/>
              <a:uFillTx/>
              <a:latin typeface="Calibri"/>
            </a:endParaRPr>
          </a:p>
        </p:txBody>
      </p:sp>
      <p:sp>
        <p:nvSpPr>
          <p:cNvPr id="9" name="PlaceHolder 1"/>
          <p:cNvSpPr>
            <a:spLocks noGrp="1"/>
          </p:cNvSpPr>
          <p:nvPr>
            <p:ph type="title"/>
          </p:nvPr>
        </p:nvSpPr>
        <p:spPr>
          <a:xfrm>
            <a:off x="2401920" y="2323800"/>
            <a:ext cx="9142920" cy="1056600"/>
          </a:xfrm>
          <a:prstGeom prst="rect">
            <a:avLst/>
          </a:prstGeom>
          <a:noFill/>
          <a:ln w="0">
            <a:noFill/>
          </a:ln>
        </p:spPr>
        <p:txBody>
          <a:bodyPr lIns="0" tIns="46800" rIns="91440" bIns="45720" anchor="t">
            <a:normAutofit/>
          </a:bodyPr>
          <a:lstStyle>
            <a:lvl1pPr indent="0" algn="l" defTabSz="914400">
              <a:lnSpc>
                <a:spcPct val="90000"/>
              </a:lnSpc>
              <a:buNone/>
              <a:tabLst>
                <a:tab pos="0" algn="l"/>
              </a:tabLst>
              <a:defRPr lang="fr-FR" sz="3600" b="1" u="none" strike="noStrike">
                <a:solidFill>
                  <a:srgbClr val="00A3A6"/>
                </a:solidFill>
                <a:effectLst/>
                <a:uFillTx/>
                <a:latin typeface="AvenirNext LT Pro MediumCn"/>
              </a:defRPr>
            </a:lvl1pPr>
          </a:lstStyle>
          <a:p>
            <a:pPr indent="0" algn="l" defTabSz="914400">
              <a:lnSpc>
                <a:spcPct val="90000"/>
              </a:lnSpc>
              <a:buNone/>
              <a:tabLst>
                <a:tab pos="0" algn="l"/>
              </a:tabLst>
            </a:pPr>
            <a:r>
              <a:rPr lang="fr-FR" sz="3600" b="1" u="none" strike="noStrike">
                <a:solidFill>
                  <a:srgbClr val="00A3A6"/>
                </a:solidFill>
                <a:effectLst/>
                <a:uFillTx/>
                <a:latin typeface="AvenirNext LT Pro MediumCn"/>
              </a:rPr>
              <a:t>Modifiez le style du titre</a:t>
            </a:r>
            <a:endParaRPr lang="fr-FR" sz="3600" b="1" u="none" strike="noStrike">
              <a:solidFill>
                <a:srgbClr val="00A3A6"/>
              </a:solidFill>
              <a:effectLst/>
              <a:uFillTx/>
              <a:latin typeface="AvenirNext LT Pro MediumCn"/>
            </a:endParaRPr>
          </a:p>
        </p:txBody>
      </p:sp>
      <p:pic>
        <p:nvPicPr>
          <p:cNvPr id="10" name="Image 2" descr="Une image contenant dessin, signe&#10;&#10;Description générée automatiquement"/>
          <p:cNvPicPr/>
          <p:nvPr/>
        </p:nvPicPr>
        <p:blipFill>
          <a:blip r:embed="rId5"/>
          <a:stretch/>
        </p:blipFill>
        <p:spPr>
          <a:xfrm>
            <a:off x="2401920" y="5628600"/>
            <a:ext cx="2284920" cy="89604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re et texte vertical">
    <p:bg>
      <p:bgPr>
        <a:solidFill>
          <a:srgbClr val="FFFFFF"/>
        </a:solidFill>
      </p:bgPr>
    </p:bg>
    <p:spTree>
      <p:nvGrpSpPr>
        <p:cNvPr id="1" name=""/>
        <p:cNvGrpSpPr/>
        <p:nvPr/>
      </p:nvGrpSpPr>
      <p:grpSpPr>
        <a:xfrm>
          <a:off x="0" y="0"/>
          <a:ext cx="0" cy="0"/>
          <a:chOff x="0" y="0"/>
          <a:chExt cx="0" cy="0"/>
        </a:xfrm>
      </p:grpSpPr>
      <p:sp>
        <p:nvSpPr>
          <p:cNvPr id="11"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F10578FE-48ED-499A-B48C-F1AD718DAD0C}"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2" name="Image 13"/>
          <p:cNvPicPr/>
          <p:nvPr/>
        </p:nvPicPr>
        <p:blipFill>
          <a:blip r:embed="rId2"/>
          <a:stretch/>
        </p:blipFill>
        <p:spPr>
          <a:xfrm>
            <a:off x="0" y="6076080"/>
            <a:ext cx="1999080" cy="799200"/>
          </a:xfrm>
          <a:prstGeom prst="rect">
            <a:avLst/>
          </a:prstGeom>
          <a:noFill/>
          <a:ln w="0">
            <a:noFill/>
          </a:ln>
        </p:spPr>
      </p:pic>
      <p:sp>
        <p:nvSpPr>
          <p:cNvPr id="13"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4"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5" name="PlaceHolder 1"/>
          <p:cNvSpPr>
            <a:spLocks noGrp="1"/>
          </p:cNvSpPr>
          <p:nvPr>
            <p:ph type="body"/>
          </p:nvPr>
        </p:nvSpPr>
        <p:spPr>
          <a:xfrm>
            <a:off x="1257840" y="1424160"/>
            <a:ext cx="9712440" cy="44121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A3A6"/>
              </a:buClr>
              <a:buFont typeface="Arial"/>
              <a:buChar char="•"/>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2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200" b="0" u="none" strike="noStrike">
                <a:solidFill>
                  <a:schemeClr val="dk1"/>
                </a:solidFill>
                <a:effectLst/>
                <a:uFillTx/>
                <a:latin typeface="AvenirNext LT Pro MediumCn"/>
              </a:rPr>
              <a:t>Deuxième niveau</a:t>
            </a:r>
            <a:endParaRPr lang="fr-FR" sz="22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6" name="PlaceHolder 2"/>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re vertical et texte">
    <p:bg>
      <p:bgPr>
        <a:solidFill>
          <a:srgbClr val="FFFFFF"/>
        </a:solidFill>
      </p:bgPr>
    </p:bg>
    <p:spTree>
      <p:nvGrpSpPr>
        <p:cNvPr id="1" name=""/>
        <p:cNvGrpSpPr/>
        <p:nvPr/>
      </p:nvGrpSpPr>
      <p:grpSpPr>
        <a:xfrm>
          <a:off x="0" y="0"/>
          <a:ext cx="0" cy="0"/>
          <a:chOff x="0" y="0"/>
          <a:chExt cx="0" cy="0"/>
        </a:xfrm>
      </p:grpSpPr>
      <p:sp>
        <p:nvSpPr>
          <p:cNvPr id="17"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304717F3-AAD0-4D72-A5C9-E2FF83A731EC}"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8" name="Image 13"/>
          <p:cNvPicPr/>
          <p:nvPr/>
        </p:nvPicPr>
        <p:blipFill>
          <a:blip r:embed="rId2"/>
          <a:stretch/>
        </p:blipFill>
        <p:spPr>
          <a:xfrm>
            <a:off x="0" y="6076080"/>
            <a:ext cx="1999080" cy="799200"/>
          </a:xfrm>
          <a:prstGeom prst="rect">
            <a:avLst/>
          </a:prstGeom>
          <a:noFill/>
          <a:ln w="0">
            <a:noFill/>
          </a:ln>
        </p:spPr>
      </p:pic>
      <p:sp>
        <p:nvSpPr>
          <p:cNvPr id="19"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20"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21" name="PlaceHolder 1"/>
          <p:cNvSpPr>
            <a:spLocks noGrp="1"/>
          </p:cNvSpPr>
          <p:nvPr>
            <p:ph type="title"/>
          </p:nvPr>
        </p:nvSpPr>
        <p:spPr>
          <a:xfrm>
            <a:off x="9598320" y="365040"/>
            <a:ext cx="1754280" cy="5810760"/>
          </a:xfrm>
          <a:prstGeom prst="rect">
            <a:avLst/>
          </a:prstGeom>
          <a:noFill/>
          <a:ln w="0">
            <a:noFill/>
          </a:ln>
        </p:spPr>
        <p:txBody>
          <a:bodyPr lIns="0" tIns="46800" rIns="91440" bIns="45720" anchor="ctr" vert="eaVert">
            <a:no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22" name="PlaceHolder 2"/>
          <p:cNvSpPr>
            <a:spLocks noGrp="1"/>
          </p:cNvSpPr>
          <p:nvPr>
            <p:ph type="body"/>
          </p:nvPr>
        </p:nvSpPr>
        <p:spPr>
          <a:xfrm>
            <a:off x="838080" y="365040"/>
            <a:ext cx="8240040" cy="58107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A3A6"/>
              </a:buClr>
              <a:buFont typeface="Arial"/>
              <a:buChar char="•"/>
              <a:defRPr lang="fr-FR"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600" b="0" u="none" strike="noStrike">
                <a:solidFill>
                  <a:srgbClr val="00A3A6"/>
                </a:solidFill>
                <a:effectLst/>
                <a:uFillTx/>
                <a:latin typeface="AvenirNext LT Pro MediumCn"/>
              </a:rPr>
              <a:t>Modifier les styles du texte du masque</a:t>
            </a:r>
            <a:endParaRPr lang="fr-FR" sz="26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Next LT Pro MediumCn"/>
              </a:rPr>
              <a:t>Deuxième niveau</a:t>
            </a:r>
            <a:endParaRPr lang="fr-FR" sz="24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solidFill>
          <a:srgbClr val="FFFFFF"/>
        </a:solidFill>
      </p:bgPr>
    </p:bg>
    <p:spTree>
      <p:nvGrpSpPr>
        <p:cNvPr id="1" name=""/>
        <p:cNvGrpSpPr/>
        <p:nvPr/>
      </p:nvGrpSpPr>
      <p:grpSpPr>
        <a:xfrm>
          <a:off x="0" y="0"/>
          <a:ext cx="0" cy="0"/>
          <a:chOff x="0" y="0"/>
          <a:chExt cx="0" cy="0"/>
        </a:xfrm>
      </p:grpSpPr>
      <p:sp>
        <p:nvSpPr>
          <p:cNvPr id="23"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615FC461-3BAF-417E-AD47-53FE04311A84}"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24" name="Image 13"/>
          <p:cNvPicPr/>
          <p:nvPr/>
        </p:nvPicPr>
        <p:blipFill>
          <a:blip r:embed="rId2"/>
          <a:stretch/>
        </p:blipFill>
        <p:spPr>
          <a:xfrm>
            <a:off x="0" y="6076080"/>
            <a:ext cx="1999080" cy="799200"/>
          </a:xfrm>
          <a:prstGeom prst="rect">
            <a:avLst/>
          </a:prstGeom>
          <a:noFill/>
          <a:ln w="0">
            <a:noFill/>
          </a:ln>
        </p:spPr>
      </p:pic>
      <p:sp>
        <p:nvSpPr>
          <p:cNvPr id="25"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26" name="ZoneTexte 15"/>
          <p:cNvSpPr/>
          <p:nvPr/>
        </p:nvSpPr>
        <p:spPr>
          <a:xfrm>
            <a:off x="1143000" y="6533280"/>
            <a:ext cx="671508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26.10.20 / Julien Tap / fme.micalis.fr  </a:t>
            </a:r>
            <a:endParaRPr lang="fr-FR" sz="1000" b="0" u="none" strike="noStrike">
              <a:solidFill>
                <a:srgbClr val="000000"/>
              </a:solidFill>
              <a:effectLst/>
              <a:uFillTx/>
              <a:latin typeface="Arial"/>
            </a:endParaRPr>
          </a:p>
        </p:txBody>
      </p:sp>
      <p:sp>
        <p:nvSpPr>
          <p:cNvPr id="27" name="PlaceHolder 1"/>
          <p:cNvSpPr>
            <a:spLocks noGrp="1"/>
          </p:cNvSpPr>
          <p:nvPr>
            <p:ph type="title"/>
          </p:nvPr>
        </p:nvSpPr>
        <p:spPr>
          <a:xfrm>
            <a:off x="1523880" y="1122480"/>
            <a:ext cx="9142920" cy="2386440"/>
          </a:xfrm>
          <a:prstGeom prst="rect">
            <a:avLst/>
          </a:prstGeom>
          <a:noFill/>
          <a:ln w="0">
            <a:noFill/>
          </a:ln>
        </p:spPr>
        <p:txBody>
          <a:bodyPr lIns="0" tIns="46800" rIns="91440" bIns="45720" anchor="b">
            <a:noAutofit/>
          </a:bodyPr>
          <a:lstStyle>
            <a:lvl1pPr algn="ctr" defTabSz="914400">
              <a:lnSpc>
                <a:spcPct val="90000"/>
              </a:lnSpc>
              <a:buSzPct val="100007"/>
              <a:buBlip>
                <a:blip r:embed="rId3"/>
              </a:buBlip>
              <a:defRPr lang="fr-FR" sz="6000" b="1" u="none" strike="noStrike">
                <a:solidFill>
                  <a:srgbClr val="00A3A6"/>
                </a:solidFill>
                <a:effectLst/>
                <a:uFillTx/>
                <a:latin typeface="AvenirNext LT Pro MediumCn"/>
              </a:defRPr>
            </a:lvl1pPr>
          </a:lstStyle>
          <a:p>
            <a:pPr marL="457200" indent="-457200" algn="ctr" defTabSz="914400">
              <a:lnSpc>
                <a:spcPct val="90000"/>
              </a:lnSpc>
              <a:buSzPct val="100007"/>
              <a:buBlip>
                <a:blip r:embed="rId4"/>
              </a:buBlip>
            </a:pPr>
            <a:r>
              <a:rPr lang="fr-FR" sz="6000" b="1" u="none" strike="noStrike">
                <a:solidFill>
                  <a:srgbClr val="00A3A6"/>
                </a:solidFill>
                <a:effectLst/>
                <a:uFillTx/>
                <a:latin typeface="AvenirNext LT Pro MediumCn"/>
              </a:rPr>
              <a:t>Modifiez le style du titre</a:t>
            </a:r>
            <a:endParaRPr lang="fr-FR" sz="6000" b="1" u="none" strike="noStrike">
              <a:solidFill>
                <a:srgbClr val="00A3A6"/>
              </a:solidFill>
              <a:effectLst/>
              <a:uFillTx/>
              <a:latin typeface="AvenirNext LT Pro MediumCn"/>
            </a:endParaRPr>
          </a:p>
        </p:txBody>
      </p:sp>
      <p:sp>
        <p:nvSpPr>
          <p:cNvPr id="28" name="PlaceHolder 2"/>
          <p:cNvSpPr>
            <a:spLocks noGrp="1"/>
          </p:cNvSpPr>
          <p:nvPr>
            <p:ph type="dt" idx="1"/>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Calibri"/>
              </a:defRPr>
            </a:lvl1pPr>
          </a:lstStyle>
          <a:p>
            <a:pPr indent="0" algn="l" defTabSz="457200">
              <a:lnSpc>
                <a:spcPct val="100000"/>
              </a:lnSpc>
              <a:buNone/>
              <a:tabLst>
                <a:tab pos="0" algn="l"/>
              </a:tabLst>
            </a:pPr>
            <a:r>
              <a:rPr lang="en-US"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29" name="PlaceHolder 3"/>
          <p:cNvSpPr>
            <a:spLocks noGrp="1"/>
          </p:cNvSpPr>
          <p:nvPr>
            <p:ph type="ftr" idx="2"/>
          </p:nvPr>
        </p:nvSpPr>
        <p:spPr>
          <a:xfrm>
            <a:off x="0" y="0"/>
            <a:ext cx="0" cy="0"/>
          </a:xfrm>
          <a:prstGeom prst="rect">
            <a:avLst/>
          </a:prstGeom>
          <a:noFill/>
          <a:ln w="0">
            <a:noFill/>
          </a:ln>
        </p:spPr>
        <p:txBody>
          <a:bodyPr lIns="90000" tIns="-45000" rIns="90000" bIns="-45000" anchor="t">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0" name="PlaceHolder 4"/>
          <p:cNvSpPr>
            <a:spLocks noGrp="1"/>
          </p:cNvSpPr>
          <p:nvPr>
            <p:ph type="sldNum" idx="3"/>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Calibri"/>
              </a:defRPr>
            </a:lvl1pPr>
          </a:lstStyle>
          <a:p>
            <a:pPr indent="0" algn="l" defTabSz="457200">
              <a:lnSpc>
                <a:spcPct val="100000"/>
              </a:lnSpc>
              <a:buNone/>
              <a:tabLst>
                <a:tab pos="0" algn="l"/>
              </a:tabLst>
            </a:pPr>
            <a:fld id="{CF786988-7FAB-4CF3-941F-2DA9507FFEB0}" type="slidenum">
              <a:rPr lang="en-US" sz="1800" b="0" u="none" strike="noStrike">
                <a:solidFill>
                  <a:schemeClr val="dk1"/>
                </a:solidFill>
                <a:effectLst/>
                <a:uFillTx/>
                <a:latin typeface="Calibri"/>
              </a:rPr>
              <a:t>&lt;numéro&gt;</a:t>
            </a:fld>
            <a:endParaRPr lang="fr-FR" sz="1800" b="0" u="none" strike="noStrike">
              <a:solidFill>
                <a:srgbClr val="000000"/>
              </a:solidFill>
              <a:effectLst/>
              <a:uFillTx/>
              <a:latin typeface="Times New Roman"/>
            </a:endParaRPr>
          </a:p>
        </p:txBody>
      </p:sp>
      <p:sp>
        <p:nvSpPr>
          <p:cNvPr id="31"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914400">
              <a:lnSpc>
                <a:spcPct val="90000"/>
              </a:lnSpc>
              <a:spcBef>
                <a:spcPts val="1001"/>
              </a:spcBef>
              <a:buClr>
                <a:srgbClr val="00A3A6"/>
              </a:buClr>
              <a:buFont typeface="Arial"/>
              <a:buChar char="•"/>
              <a:defRPr lang="en-US"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venirNext LT Pro UltLightCn"/>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7pPr>
          </a:lstStyle>
          <a:p>
            <a:pPr marL="228600" indent="-228600" algn="l" defTabSz="914400">
              <a:lnSpc>
                <a:spcPct val="90000"/>
              </a:lnSpc>
              <a:spcBef>
                <a:spcPts val="1001"/>
              </a:spcBef>
              <a:buClr>
                <a:srgbClr val="00A3A6"/>
              </a:buClr>
              <a:buFont typeface="Arial"/>
              <a:buChar char="•"/>
            </a:pPr>
            <a:r>
              <a:rPr lang="en-US" sz="2600" b="0" u="none" strike="noStrike">
                <a:solidFill>
                  <a:srgbClr val="00A3A6"/>
                </a:solidFill>
                <a:effectLst/>
                <a:uFillTx/>
                <a:latin typeface="AvenirNext LT Pro MediumCn"/>
              </a:rPr>
              <a:t>Cliquez pour éditer le format du plan de texte</a:t>
            </a:r>
            <a:endParaRPr lang="en-US" sz="2600" b="0" u="none" strike="noStrike">
              <a:solidFill>
                <a:srgbClr val="00A3A6"/>
              </a:solidFill>
              <a:effectLst/>
              <a:uFillTx/>
              <a:latin typeface="AvenirNext LT Pro MediumCn"/>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venirNext LT Pro MediumCn"/>
              </a:rPr>
              <a:t>Second niveau de plan</a:t>
            </a:r>
            <a:endParaRPr lang="en-US" sz="2400" b="0" u="none" strike="noStrike">
              <a:solidFill>
                <a:schemeClr val="dk1"/>
              </a:solidFill>
              <a:effectLst/>
              <a:uFillTx/>
              <a:latin typeface="AvenirNext LT Pro MediumCn"/>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venirNext LT Pro MediumCn"/>
              </a:rPr>
              <a:t>Troisième niveau de plan</a:t>
            </a:r>
            <a:endParaRPr lang="en-US" sz="2000" b="0" u="none" strike="noStrike">
              <a:solidFill>
                <a:schemeClr val="dk1"/>
              </a:solidFill>
              <a:effectLst/>
              <a:uFillTx/>
              <a:latin typeface="AvenirNext LT Pro MediumCn"/>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venirNext LT Pro ThinCn"/>
              </a:rPr>
              <a:t>Quatrième niveau de plan</a:t>
            </a:r>
            <a:endParaRPr lang="en-US" sz="1800" b="0" u="none" strike="noStrike">
              <a:solidFill>
                <a:schemeClr val="dk1"/>
              </a:solidFill>
              <a:effectLst/>
              <a:uFillTx/>
              <a:latin typeface="AvenirNext LT Pro ThinCn"/>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venirNext LT Pro UltLightCn"/>
              </a:rPr>
              <a:t>Cinquième niveau de plan</a:t>
            </a:r>
            <a:endParaRPr lang="en-US" sz="1800" b="0" u="none" strike="noStrike">
              <a:solidFill>
                <a:schemeClr val="dk1"/>
              </a:solidFill>
              <a:effectLst/>
              <a:uFillTx/>
              <a:latin typeface="AvenirNext LT Pro UltLightCn"/>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Sixième niveau de plan</a:t>
            </a:r>
            <a:endParaRPr lang="en-US" sz="2000" b="0" u="none" strike="noStrike">
              <a:solidFill>
                <a:schemeClr val="dk1"/>
              </a:solidFill>
              <a:effectLst/>
              <a:uFillTx/>
              <a:latin typeface="AvenirNext LT Pro UltLightCn"/>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Septième niveau de plan</a:t>
            </a:r>
            <a:endParaRPr lang="en-US" sz="2000" b="0" u="none" strike="noStrike">
              <a:solidFill>
                <a:schemeClr val="dk1"/>
              </a:solidFill>
              <a:effectLst/>
              <a:uFillTx/>
              <a:latin typeface="AvenirNext LT Pro UltLightC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Content and illustration">
    <p:bg>
      <p:bgPr>
        <a:solidFill>
          <a:srgbClr val="FFFFFF"/>
        </a:solidFill>
      </p:bgPr>
    </p:bg>
    <p:spTree>
      <p:nvGrpSpPr>
        <p:cNvPr id="1" name=""/>
        <p:cNvGrpSpPr/>
        <p:nvPr/>
      </p:nvGrpSpPr>
      <p:grpSpPr>
        <a:xfrm>
          <a:off x="0" y="0"/>
          <a:ext cx="0" cy="0"/>
          <a:chOff x="0" y="0"/>
          <a:chExt cx="0" cy="0"/>
        </a:xfrm>
      </p:grpSpPr>
      <p:sp>
        <p:nvSpPr>
          <p:cNvPr id="32"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AE299D0D-944E-4844-A4CF-8E346B3C4FFC}"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33" name="Image 13"/>
          <p:cNvPicPr/>
          <p:nvPr/>
        </p:nvPicPr>
        <p:blipFill>
          <a:blip r:embed="rId2"/>
          <a:stretch/>
        </p:blipFill>
        <p:spPr>
          <a:xfrm>
            <a:off x="0" y="6076080"/>
            <a:ext cx="1999080" cy="799200"/>
          </a:xfrm>
          <a:prstGeom prst="rect">
            <a:avLst/>
          </a:prstGeom>
          <a:noFill/>
          <a:ln w="0">
            <a:noFill/>
          </a:ln>
        </p:spPr>
      </p:pic>
      <p:sp>
        <p:nvSpPr>
          <p:cNvPr id="34"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35"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36" name="PlaceHolder 1"/>
          <p:cNvSpPr>
            <a:spLocks noGrp="1"/>
          </p:cNvSpPr>
          <p:nvPr>
            <p:ph type="dt" idx="4"/>
          </p:nvPr>
        </p:nvSpPr>
        <p:spPr>
          <a:xfrm>
            <a:off x="513720" y="6586920"/>
            <a:ext cx="4113720" cy="18360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GB" sz="1800" b="0" u="none" strike="noStrike">
                <a:solidFill>
                  <a:schemeClr val="dk1"/>
                </a:solidFill>
                <a:effectLst/>
                <a:uFillTx/>
                <a:latin typeface="Calibri"/>
              </a:defRPr>
            </a:lvl1pPr>
          </a:lstStyle>
          <a:p>
            <a:pPr indent="0" algn="l" defTabSz="457200">
              <a:lnSpc>
                <a:spcPct val="100000"/>
              </a:lnSpc>
              <a:buNone/>
              <a:tabLst>
                <a:tab pos="0" algn="l"/>
              </a:tabLst>
            </a:pPr>
            <a:r>
              <a:rPr lang="en-GB"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37" name="PlaceHolder 2"/>
          <p:cNvSpPr>
            <a:spLocks noGrp="1"/>
          </p:cNvSpPr>
          <p:nvPr>
            <p:ph type="ftr" idx="5"/>
          </p:nvPr>
        </p:nvSpPr>
        <p:spPr>
          <a:xfrm>
            <a:off x="513720" y="6458400"/>
            <a:ext cx="4113720" cy="13104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Calibri"/>
              </a:defRPr>
            </a:lvl1pPr>
          </a:lstStyle>
          <a:p>
            <a:pPr indent="0" algn="l" defTabSz="457200">
              <a:lnSpc>
                <a:spcPct val="100000"/>
              </a:lnSpc>
              <a:buNone/>
              <a:tabLst>
                <a:tab pos="0" algn="l"/>
              </a:tabLst>
            </a:pPr>
            <a:r>
              <a:rPr lang="en-US" sz="1800" b="0" u="none" strike="noStrike">
                <a:solidFill>
                  <a:schemeClr val="dk1"/>
                </a:solidFill>
                <a:effectLst/>
                <a:uFillTx/>
                <a:latin typeface="Calibri"/>
              </a:rPr>
              <a:t>&lt;pied de page&gt;</a:t>
            </a:r>
            <a:endParaRPr lang="fr-FR" sz="1800" b="0" u="none" strike="noStrike">
              <a:solidFill>
                <a:srgbClr val="000000"/>
              </a:solidFill>
              <a:effectLst/>
              <a:uFillTx/>
              <a:latin typeface="Times New Roman"/>
            </a:endParaRPr>
          </a:p>
        </p:txBody>
      </p:sp>
      <p:sp>
        <p:nvSpPr>
          <p:cNvPr id="38" name="PlaceHolder 3"/>
          <p:cNvSpPr>
            <a:spLocks noGrp="1"/>
          </p:cNvSpPr>
          <p:nvPr>
            <p:ph type="sldNum" idx="6"/>
          </p:nvPr>
        </p:nvSpPr>
        <p:spPr>
          <a:xfrm>
            <a:off x="11255040" y="400680"/>
            <a:ext cx="434520" cy="12744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2"/>
                </a:solidFill>
                <a:effectLst/>
                <a:uFillTx/>
                <a:latin typeface="Calibri"/>
              </a:defRPr>
            </a:lvl1pPr>
          </a:lstStyle>
          <a:p>
            <a:pPr indent="0" algn="l" defTabSz="457200">
              <a:lnSpc>
                <a:spcPct val="100000"/>
              </a:lnSpc>
              <a:buNone/>
              <a:tabLst>
                <a:tab pos="0" algn="l"/>
              </a:tabLst>
            </a:pPr>
            <a:fld id="{3E529C7B-7045-48A9-BCA5-E923AEDAAB40}" type="slidenum">
              <a:rPr lang="en-US" sz="1800" b="0" u="none" strike="noStrike">
                <a:solidFill>
                  <a:schemeClr val="dk2"/>
                </a:solidFill>
                <a:effectLst/>
                <a:uFillTx/>
                <a:latin typeface="Calibri"/>
              </a:rPr>
              <a:t>&lt;numéro&gt;</a:t>
            </a:fld>
            <a:endParaRPr lang="fr-FR" sz="1800" b="0" u="none" strike="noStrike">
              <a:solidFill>
                <a:srgbClr val="000000"/>
              </a:solidFill>
              <a:effectLst/>
              <a:uFillTx/>
              <a:latin typeface="Times New Roman"/>
            </a:endParaRPr>
          </a:p>
        </p:txBody>
      </p:sp>
      <p:sp>
        <p:nvSpPr>
          <p:cNvPr id="39" name="PlaceHolder 4"/>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lstStyle>
            <a:lvl1pPr algn="l" defTabSz="914400">
              <a:lnSpc>
                <a:spcPct val="90000"/>
              </a:lnSpc>
              <a:buSzPct val="100054"/>
              <a:buBlip>
                <a:blip r:embed="rId3"/>
              </a:buBlip>
              <a:defRPr lang="en-US"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en-US" sz="3000" b="1" u="none" strike="noStrike">
                <a:solidFill>
                  <a:srgbClr val="00A3A6"/>
                </a:solidFill>
                <a:effectLst/>
                <a:uFillTx/>
                <a:latin typeface="AvenirNext LT Pro MediumCn"/>
              </a:rPr>
              <a:t>GRAPHIC ELEMENTS AT YOUR DISPOSAL</a:t>
            </a:r>
            <a:endParaRPr lang="en-US" sz="3000" b="1" u="none" strike="noStrike">
              <a:solidFill>
                <a:srgbClr val="00A3A6"/>
              </a:solidFill>
              <a:effectLst/>
              <a:uFillTx/>
              <a:latin typeface="AvenirNext LT Pro MediumCn"/>
            </a:endParaRPr>
          </a:p>
        </p:txBody>
      </p:sp>
      <p:sp>
        <p:nvSpPr>
          <p:cNvPr id="40" name="PlaceHolder 5"/>
          <p:cNvSpPr>
            <a:spLocks noGrp="1"/>
          </p:cNvSpPr>
          <p:nvPr>
            <p:ph type="body" hasCustomPrompt="1"/>
          </p:nvPr>
        </p:nvSpPr>
        <p:spPr>
          <a:xfrm>
            <a:off x="700200" y="814320"/>
            <a:ext cx="10285200" cy="5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800" b="0" u="none" strike="noStrike" cap="all">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en-US" sz="1800" b="0" u="none" strike="noStrike" cap="all">
                <a:solidFill>
                  <a:schemeClr val="dk1"/>
                </a:solidFill>
                <a:effectLst/>
                <a:uFillTx/>
                <a:latin typeface="AvenirNext LT Pro MediumCn"/>
              </a:rPr>
              <a:t>SUBHEADING IN Calibri REGULAR 18PT</a:t>
            </a:r>
            <a:endParaRPr lang="en-US" sz="1800" b="0" u="none" strike="noStrike">
              <a:solidFill>
                <a:schemeClr val="dk1"/>
              </a:solidFill>
              <a:effectLst/>
              <a:uFillTx/>
              <a:latin typeface="AvenirNext LT Pro MediumCn"/>
            </a:endParaRPr>
          </a:p>
        </p:txBody>
      </p:sp>
      <p:sp>
        <p:nvSpPr>
          <p:cNvPr id="41" name="PlaceHolder 6"/>
          <p:cNvSpPr>
            <a:spLocks noGrp="1"/>
          </p:cNvSpPr>
          <p:nvPr>
            <p:ph type="body" hasCustomPrompt="1"/>
          </p:nvPr>
        </p:nvSpPr>
        <p:spPr>
          <a:xfrm>
            <a:off x="700200" y="1506240"/>
            <a:ext cx="10283400" cy="4342320"/>
          </a:xfrm>
          <a:prstGeom prst="rect">
            <a:avLst/>
          </a:prstGeom>
          <a:noFill/>
          <a:ln w="0">
            <a:noFill/>
          </a:ln>
        </p:spPr>
        <p:txBody>
          <a:bodyPr lIns="91440" tIns="45720" rIns="91440" bIns="45720" anchor="t">
            <a:noAutofit/>
          </a:bodyPr>
          <a:lstStyle>
            <a:lvl1pPr lvl="2" algn="l" defTabSz="914400">
              <a:lnSpc>
                <a:spcPct val="110000"/>
              </a:lnSpc>
              <a:buClr>
                <a:srgbClr val="000000"/>
              </a:buClr>
              <a:buFont typeface="Arial"/>
              <a:buChar char="•"/>
              <a:tabLst>
                <a:tab pos="0" algn="l"/>
              </a:tabLst>
              <a:defRPr lang="en-US" sz="2400" b="0" u="none" strike="noStrike">
                <a:solidFill>
                  <a:schemeClr val="dk1"/>
                </a:solidFill>
                <a:effectLst/>
                <a:uFillTx/>
                <a:latin typeface="AvenirNext LT Pro MediumCn"/>
              </a:defRPr>
            </a:lvl1pPr>
          </a:lstStyle>
          <a:p>
            <a:pPr marL="1143000" lvl="2" indent="-228600" algn="l" defTabSz="914400">
              <a:lnSpc>
                <a:spcPct val="110000"/>
              </a:lnSpc>
              <a:buClr>
                <a:srgbClr val="000000"/>
              </a:buClr>
              <a:buFont typeface="Arial"/>
              <a:buChar char="•"/>
              <a:tabLst>
                <a:tab pos="0" algn="l"/>
              </a:tabLst>
            </a:pPr>
            <a:r>
              <a:rPr lang="en-US" sz="2400" b="0" u="none" strike="noStrike">
                <a:solidFill>
                  <a:schemeClr val="dk1"/>
                </a:solidFill>
                <a:effectLst/>
                <a:uFillTx/>
                <a:latin typeface="AvenirNext LT Pro MediumCn"/>
              </a:rPr>
              <a:t>Heading level 3 Calibri Bold 23pt</a:t>
            </a:r>
            <a:endParaRPr lang="en-US" sz="2400" b="0" u="none" strike="noStrike">
              <a:solidFill>
                <a:schemeClr val="dk1"/>
              </a:solidFill>
              <a:effectLst/>
              <a:uFillTx/>
              <a:latin typeface="AvenirNext LT Pro MediumC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contenu">
    <p:bg>
      <p:bgPr>
        <a:solidFill>
          <a:srgbClr val="FFFFFF"/>
        </a:solidFill>
      </p:bgPr>
    </p:bg>
    <p:spTree>
      <p:nvGrpSpPr>
        <p:cNvPr id="1" name=""/>
        <p:cNvGrpSpPr/>
        <p:nvPr/>
      </p:nvGrpSpPr>
      <p:grpSpPr>
        <a:xfrm>
          <a:off x="0" y="0"/>
          <a:ext cx="0" cy="0"/>
          <a:chOff x="0" y="0"/>
          <a:chExt cx="0" cy="0"/>
        </a:xfrm>
      </p:grpSpPr>
      <p:sp>
        <p:nvSpPr>
          <p:cNvPr id="42"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87BF5708-AEB0-40C2-8D39-EC500BB61A6B}"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43" name="Image 13"/>
          <p:cNvPicPr/>
          <p:nvPr/>
        </p:nvPicPr>
        <p:blipFill>
          <a:blip r:embed="rId2"/>
          <a:stretch/>
        </p:blipFill>
        <p:spPr>
          <a:xfrm>
            <a:off x="0" y="6076080"/>
            <a:ext cx="1999080" cy="799200"/>
          </a:xfrm>
          <a:prstGeom prst="rect">
            <a:avLst/>
          </a:prstGeom>
          <a:noFill/>
          <a:ln w="0">
            <a:noFill/>
          </a:ln>
        </p:spPr>
      </p:pic>
      <p:sp>
        <p:nvSpPr>
          <p:cNvPr id="44"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45"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46" name="PlaceHolder 1"/>
          <p:cNvSpPr>
            <a:spLocks noGrp="1"/>
          </p:cNvSpPr>
          <p:nvPr>
            <p:ph type="title"/>
          </p:nvPr>
        </p:nvSpPr>
        <p:spPr>
          <a:xfrm>
            <a:off x="628560" y="365040"/>
            <a:ext cx="7885800" cy="764280"/>
          </a:xfrm>
          <a:prstGeom prst="rect">
            <a:avLst/>
          </a:prstGeom>
          <a:noFill/>
          <a:ln w="0">
            <a:noFill/>
          </a:ln>
        </p:spPr>
        <p:txBody>
          <a:bodyPr lIns="0" tIns="46800" rIns="91440" bIns="45720" anchor="ctr">
            <a:no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47" name="PlaceHolder 2"/>
          <p:cNvSpPr>
            <a:spLocks noGrp="1"/>
          </p:cNvSpPr>
          <p:nvPr>
            <p:ph type="body"/>
          </p:nvPr>
        </p:nvSpPr>
        <p:spPr>
          <a:xfrm>
            <a:off x="532440" y="1640520"/>
            <a:ext cx="10721520" cy="4683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600" b="0" u="none" strike="noStrike">
                <a:solidFill>
                  <a:srgbClr val="00A3A6"/>
                </a:solidFill>
                <a:effectLst/>
                <a:uFillTx/>
                <a:latin typeface="AvenirNext LT Pro MediumCn"/>
              </a:rPr>
              <a:t>Modifier les styles du texte du masque</a:t>
            </a:r>
            <a:endParaRPr lang="fr-FR" sz="26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Next LT Pro MediumCn"/>
              </a:rPr>
              <a:t>Deuxième niveau</a:t>
            </a:r>
            <a:endParaRPr lang="fr-FR" sz="24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48" name="PlaceHolder 3"/>
          <p:cNvSpPr>
            <a:spLocks noGrp="1"/>
          </p:cNvSpPr>
          <p:nvPr>
            <p:ph type="dt" idx="7"/>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1"/>
                </a:solidFill>
                <a:effectLst/>
                <a:uFillTx/>
                <a:latin typeface="Calibri"/>
              </a:defRPr>
            </a:lvl1pPr>
          </a:lstStyle>
          <a:p>
            <a:pPr indent="0" algn="l" defTabSz="457200">
              <a:lnSpc>
                <a:spcPct val="100000"/>
              </a:lnSpc>
              <a:buNone/>
              <a:tabLst>
                <a:tab pos="0" algn="l"/>
              </a:tabLst>
            </a:pPr>
            <a:r>
              <a:rPr lang="fr-FR"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49" name="PlaceHolder 4"/>
          <p:cNvSpPr>
            <a:spLocks noGrp="1"/>
          </p:cNvSpPr>
          <p:nvPr>
            <p:ph type="ftr" idx="8"/>
          </p:nvPr>
        </p:nvSpPr>
        <p:spPr>
          <a:xfrm>
            <a:off x="0" y="0"/>
            <a:ext cx="0" cy="0"/>
          </a:xfrm>
          <a:prstGeom prst="rect">
            <a:avLst/>
          </a:prstGeom>
          <a:noFill/>
          <a:ln w="0">
            <a:noFill/>
          </a:ln>
        </p:spPr>
        <p:txBody>
          <a:bodyPr lIns="90000" tIns="-45000" rIns="90000" bIns="-45000" anchor="t">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0" name="PlaceHolder 5"/>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1"/>
                </a:solidFill>
                <a:effectLst/>
                <a:uFillTx/>
                <a:latin typeface="Calibri"/>
              </a:defRPr>
            </a:lvl1pPr>
          </a:lstStyle>
          <a:p>
            <a:pPr indent="0" algn="l" defTabSz="457200">
              <a:lnSpc>
                <a:spcPct val="100000"/>
              </a:lnSpc>
              <a:buNone/>
              <a:tabLst>
                <a:tab pos="0" algn="l"/>
              </a:tabLst>
            </a:pPr>
            <a:fld id="{D77CDE21-ED7E-4590-B4C7-1691BB7674AB}" type="slidenum">
              <a:rPr lang="fr-FR" sz="1800" b="0" u="none" strike="noStrike">
                <a:solidFill>
                  <a:schemeClr val="dk1"/>
                </a:solidFill>
                <a:effectLst/>
                <a:uFillTx/>
                <a:latin typeface="Calibri"/>
              </a:rPr>
              <a:t>&lt;numéro&gt;</a:t>
            </a:fld>
            <a:endParaRPr lang="fr-FR" sz="1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p:bg>
      <p:bgPr>
        <a:solidFill>
          <a:srgbClr val="FFFFFF"/>
        </a:solidFill>
      </p:bgPr>
    </p:bg>
    <p:spTree>
      <p:nvGrpSpPr>
        <p:cNvPr id="1" name=""/>
        <p:cNvGrpSpPr/>
        <p:nvPr/>
      </p:nvGrpSpPr>
      <p:grpSpPr>
        <a:xfrm>
          <a:off x="0" y="0"/>
          <a:ext cx="0" cy="0"/>
          <a:chOff x="0" y="0"/>
          <a:chExt cx="0" cy="0"/>
        </a:xfrm>
      </p:grpSpPr>
      <p:sp>
        <p:nvSpPr>
          <p:cNvPr id="51"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18D7A11C-A025-41FD-B363-4A557A561FEE}"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52" name="Image 13"/>
          <p:cNvPicPr/>
          <p:nvPr/>
        </p:nvPicPr>
        <p:blipFill>
          <a:blip r:embed="rId2"/>
          <a:stretch/>
        </p:blipFill>
        <p:spPr>
          <a:xfrm>
            <a:off x="0" y="6076080"/>
            <a:ext cx="1999080" cy="799200"/>
          </a:xfrm>
          <a:prstGeom prst="rect">
            <a:avLst/>
          </a:prstGeom>
          <a:noFill/>
          <a:ln w="0">
            <a:noFill/>
          </a:ln>
        </p:spPr>
      </p:pic>
      <p:sp>
        <p:nvSpPr>
          <p:cNvPr id="53"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54"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55" name="PlaceHolder 1"/>
          <p:cNvSpPr>
            <a:spLocks noGrp="1"/>
          </p:cNvSpPr>
          <p:nvPr>
            <p:ph type="title"/>
          </p:nvPr>
        </p:nvSpPr>
        <p:spPr>
          <a:xfrm>
            <a:off x="628560" y="365040"/>
            <a:ext cx="7885800" cy="764280"/>
          </a:xfrm>
          <a:prstGeom prst="rect">
            <a:avLst/>
          </a:prstGeom>
          <a:noFill/>
          <a:ln w="0">
            <a:noFill/>
          </a:ln>
        </p:spPr>
        <p:txBody>
          <a:bodyPr lIns="0" tIns="46800" rIns="91440" bIns="45720" anchor="ctr">
            <a:no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56" name="PlaceHolder 2"/>
          <p:cNvSpPr>
            <a:spLocks noGrp="1"/>
          </p:cNvSpPr>
          <p:nvPr>
            <p:ph type="body"/>
          </p:nvPr>
        </p:nvSpPr>
        <p:spPr>
          <a:xfrm>
            <a:off x="532440" y="1640520"/>
            <a:ext cx="10721520" cy="4683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600" b="0" u="none" strike="noStrike">
                <a:solidFill>
                  <a:srgbClr val="00A3A6"/>
                </a:solidFill>
                <a:effectLst/>
                <a:uFillTx/>
                <a:latin typeface="AvenirNext LT Pro MediumCn"/>
              </a:rPr>
              <a:t>Modifier les styles du texte du masque</a:t>
            </a:r>
            <a:endParaRPr lang="fr-FR" sz="26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Next LT Pro MediumCn"/>
              </a:rPr>
              <a:t>Deuxième niveau</a:t>
            </a:r>
            <a:endParaRPr lang="fr-FR" sz="24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57" name="PlaceHolder 3"/>
          <p:cNvSpPr>
            <a:spLocks noGrp="1"/>
          </p:cNvSpPr>
          <p:nvPr>
            <p:ph type="dt" idx="10"/>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1"/>
                </a:solidFill>
                <a:effectLst/>
                <a:uFillTx/>
                <a:latin typeface="Calibri"/>
              </a:defRPr>
            </a:lvl1pPr>
          </a:lstStyle>
          <a:p>
            <a:pPr indent="0" algn="l" defTabSz="457200">
              <a:lnSpc>
                <a:spcPct val="100000"/>
              </a:lnSpc>
              <a:buNone/>
              <a:tabLst>
                <a:tab pos="0" algn="l"/>
              </a:tabLst>
            </a:pPr>
            <a:r>
              <a:rPr lang="fr-FR"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58" name="PlaceHolder 4"/>
          <p:cNvSpPr>
            <a:spLocks noGrp="1"/>
          </p:cNvSpPr>
          <p:nvPr>
            <p:ph type="ftr" idx="11"/>
          </p:nvPr>
        </p:nvSpPr>
        <p:spPr>
          <a:xfrm>
            <a:off x="0" y="0"/>
            <a:ext cx="0" cy="0"/>
          </a:xfrm>
          <a:prstGeom prst="rect">
            <a:avLst/>
          </a:prstGeom>
          <a:noFill/>
          <a:ln w="0">
            <a:noFill/>
          </a:ln>
        </p:spPr>
        <p:txBody>
          <a:bodyPr lIns="90000" tIns="-45000" rIns="90000" bIns="-45000" anchor="t">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9" name="PlaceHolder 5"/>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1"/>
                </a:solidFill>
                <a:effectLst/>
                <a:uFillTx/>
                <a:latin typeface="Calibri"/>
              </a:defRPr>
            </a:lvl1pPr>
          </a:lstStyle>
          <a:p>
            <a:pPr indent="0" algn="l" defTabSz="457200">
              <a:lnSpc>
                <a:spcPct val="100000"/>
              </a:lnSpc>
              <a:buNone/>
              <a:tabLst>
                <a:tab pos="0" algn="l"/>
              </a:tabLst>
            </a:pPr>
            <a:fld id="{15D5739C-BA31-4D7C-88F9-A255CB3389E0}" type="slidenum">
              <a:rPr lang="fr-FR" sz="1800" b="0" u="none" strike="noStrike">
                <a:solidFill>
                  <a:schemeClr val="dk1"/>
                </a:solidFill>
                <a:effectLst/>
                <a:uFillTx/>
                <a:latin typeface="Calibri"/>
              </a:rPr>
              <a:t>&lt;numéro&gt;</a:t>
            </a:fld>
            <a:endParaRPr lang="fr-FR" sz="18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1">
    <p:bg>
      <p:bgPr>
        <a:solidFill>
          <a:srgbClr val="FFFFFF"/>
        </a:solidFill>
      </p:bgPr>
    </p:bg>
    <p:spTree>
      <p:nvGrpSpPr>
        <p:cNvPr id="1" name=""/>
        <p:cNvGrpSpPr/>
        <p:nvPr/>
      </p:nvGrpSpPr>
      <p:grpSpPr>
        <a:xfrm>
          <a:off x="0" y="0"/>
          <a:ext cx="0" cy="0"/>
          <a:chOff x="0" y="0"/>
          <a:chExt cx="0" cy="0"/>
        </a:xfrm>
      </p:grpSpPr>
      <p:sp>
        <p:nvSpPr>
          <p:cNvPr id="60"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125420B2-51DA-418C-BBE0-952998786E28}"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61" name="Image 13"/>
          <p:cNvPicPr/>
          <p:nvPr/>
        </p:nvPicPr>
        <p:blipFill>
          <a:blip r:embed="rId2"/>
          <a:stretch/>
        </p:blipFill>
        <p:spPr>
          <a:xfrm>
            <a:off x="0" y="6076080"/>
            <a:ext cx="1999080" cy="799200"/>
          </a:xfrm>
          <a:prstGeom prst="rect">
            <a:avLst/>
          </a:prstGeom>
          <a:noFill/>
          <a:ln w="0">
            <a:noFill/>
          </a:ln>
        </p:spPr>
      </p:pic>
      <p:sp>
        <p:nvSpPr>
          <p:cNvPr id="62"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63"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64" name="PlaceHolder 1"/>
          <p:cNvSpPr>
            <a:spLocks noGrp="1"/>
          </p:cNvSpPr>
          <p:nvPr>
            <p:ph type="dt" idx="13"/>
          </p:nvPr>
        </p:nvSpPr>
        <p:spPr>
          <a:xfrm>
            <a:off x="513720" y="6586920"/>
            <a:ext cx="4113720" cy="18360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1"/>
                </a:solidFill>
                <a:effectLst/>
                <a:uFillTx/>
                <a:latin typeface="Calibri"/>
              </a:defRPr>
            </a:lvl1pPr>
          </a:lstStyle>
          <a:p>
            <a:pPr indent="0" algn="l" defTabSz="457200">
              <a:lnSpc>
                <a:spcPct val="100000"/>
              </a:lnSpc>
              <a:buNone/>
              <a:tabLst>
                <a:tab pos="0" algn="l"/>
              </a:tabLst>
            </a:pPr>
            <a:r>
              <a:rPr lang="fr-FR"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65" name="PlaceHolder 2"/>
          <p:cNvSpPr>
            <a:spLocks noGrp="1"/>
          </p:cNvSpPr>
          <p:nvPr>
            <p:ph type="ftr" idx="14"/>
          </p:nvPr>
        </p:nvSpPr>
        <p:spPr>
          <a:xfrm>
            <a:off x="513720" y="6458400"/>
            <a:ext cx="4113720" cy="1310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6" name="PlaceHolder 3"/>
          <p:cNvSpPr>
            <a:spLocks noGrp="1"/>
          </p:cNvSpPr>
          <p:nvPr>
            <p:ph type="body" hasCustomPrompt="1"/>
          </p:nvPr>
        </p:nvSpPr>
        <p:spPr>
          <a:xfrm>
            <a:off x="700200" y="814320"/>
            <a:ext cx="10285200" cy="5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800" b="0" u="none" strike="noStrike" cap="all">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en-US" sz="1800" b="0" u="none" strike="noStrike" cap="all">
                <a:solidFill>
                  <a:schemeClr val="dk1"/>
                </a:solidFill>
                <a:effectLst/>
                <a:uFillTx/>
                <a:latin typeface="AvenirNext LT Pro MediumCn"/>
              </a:rPr>
              <a:t>SUBHEADING IN Calibri REGULAR 18PT</a:t>
            </a:r>
            <a:endParaRPr lang="en-US" sz="1800" b="0" u="none" strike="noStrike">
              <a:solidFill>
                <a:srgbClr val="00A3A6"/>
              </a:solidFill>
              <a:effectLst/>
              <a:uFillTx/>
              <a:latin typeface="AvenirNext LT Pro MediumCn"/>
            </a:endParaRPr>
          </a:p>
        </p:txBody>
      </p:sp>
      <p:sp>
        <p:nvSpPr>
          <p:cNvPr id="67" name="PlaceHolder 4"/>
          <p:cNvSpPr>
            <a:spLocks noGrp="1"/>
          </p:cNvSpPr>
          <p:nvPr>
            <p:ph type="sldNum" idx="15"/>
          </p:nvPr>
        </p:nvSpPr>
        <p:spPr>
          <a:xfrm>
            <a:off x="11255040" y="400680"/>
            <a:ext cx="434520" cy="12744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1800" b="0" u="none" strike="noStrike">
                <a:solidFill>
                  <a:schemeClr val="dk2"/>
                </a:solidFill>
                <a:effectLst/>
                <a:uFillTx/>
                <a:latin typeface="Calibri"/>
              </a:defRPr>
            </a:lvl1pPr>
          </a:lstStyle>
          <a:p>
            <a:pPr indent="0" algn="l" defTabSz="457200">
              <a:lnSpc>
                <a:spcPct val="100000"/>
              </a:lnSpc>
              <a:buNone/>
              <a:tabLst>
                <a:tab pos="0" algn="l"/>
              </a:tabLst>
            </a:pPr>
            <a:fld id="{A581A842-A352-4CA0-935F-E358E234AC8F}" type="slidenum">
              <a:rPr lang="fr-FR" sz="1800" b="0" u="none" strike="noStrike">
                <a:solidFill>
                  <a:schemeClr val="dk2"/>
                </a:solidFill>
                <a:effectLst/>
                <a:uFillTx/>
                <a:latin typeface="Calibri"/>
              </a:rPr>
              <a:t>&lt;numéro&gt;</a:t>
            </a:fld>
            <a:endParaRPr lang="fr-FR" sz="1800" b="0" u="none" strike="noStrike">
              <a:solidFill>
                <a:srgbClr val="000000"/>
              </a:solidFill>
              <a:effectLst/>
              <a:uFillTx/>
              <a:latin typeface="Times New Roman"/>
            </a:endParaRPr>
          </a:p>
        </p:txBody>
      </p:sp>
      <p:sp>
        <p:nvSpPr>
          <p:cNvPr id="68" name="PlaceHolder 5"/>
          <p:cNvSpPr>
            <a:spLocks noGrp="1"/>
          </p:cNvSpPr>
          <p:nvPr>
            <p:ph type="body" hasCustomPrompt="1"/>
          </p:nvPr>
        </p:nvSpPr>
        <p:spPr>
          <a:xfrm>
            <a:off x="1574280" y="3413520"/>
            <a:ext cx="393228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Luptaquis nis voloratur, eum fuga. Ita eossimus aut</a:t>
            </a:r>
            <a:endParaRPr lang="en-US" sz="2600" b="0" u="none" strike="noStrike">
              <a:solidFill>
                <a:srgbClr val="00A3A6"/>
              </a:solidFill>
              <a:effectLst/>
              <a:uFillTx/>
              <a:latin typeface="AvenirNext LT Pro MediumCn"/>
            </a:endParaRPr>
          </a:p>
        </p:txBody>
      </p:sp>
      <p:sp>
        <p:nvSpPr>
          <p:cNvPr id="69" name="PlaceHolder 6"/>
          <p:cNvSpPr>
            <a:spLocks noGrp="1"/>
          </p:cNvSpPr>
          <p:nvPr>
            <p:ph type="body" hasCustomPrompt="1"/>
          </p:nvPr>
        </p:nvSpPr>
        <p:spPr>
          <a:xfrm>
            <a:off x="1588320" y="4395240"/>
            <a:ext cx="393228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Dus et lacieni molupta turio. Itae dolor re volorit utetur</a:t>
            </a:r>
            <a:endParaRPr lang="en-US" sz="2600" b="0" u="none" strike="noStrike">
              <a:solidFill>
                <a:srgbClr val="00A3A6"/>
              </a:solidFill>
              <a:effectLst/>
              <a:uFillTx/>
              <a:latin typeface="AvenirNext LT Pro MediumCn"/>
            </a:endParaRPr>
          </a:p>
        </p:txBody>
      </p:sp>
      <p:sp>
        <p:nvSpPr>
          <p:cNvPr id="70" name="PlaceHolder 7"/>
          <p:cNvSpPr>
            <a:spLocks noGrp="1"/>
          </p:cNvSpPr>
          <p:nvPr>
            <p:ph type="body" hasCustomPrompt="1"/>
          </p:nvPr>
        </p:nvSpPr>
        <p:spPr>
          <a:xfrm>
            <a:off x="1588320" y="5349240"/>
            <a:ext cx="393228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Officatur mod ut odit ra pro dunt ullorum quis serore sum</a:t>
            </a:r>
            <a:endParaRPr lang="en-US" sz="2600" b="0" u="none" strike="noStrike">
              <a:solidFill>
                <a:srgbClr val="00A3A6"/>
              </a:solidFill>
              <a:effectLst/>
              <a:uFillTx/>
              <a:latin typeface="AvenirNext LT Pro MediumCn"/>
            </a:endParaRPr>
          </a:p>
        </p:txBody>
      </p:sp>
      <p:sp>
        <p:nvSpPr>
          <p:cNvPr id="71" name="PlaceHolder 8"/>
          <p:cNvSpPr>
            <a:spLocks noGrp="1"/>
          </p:cNvSpPr>
          <p:nvPr>
            <p:ph type="body" hasCustomPrompt="1"/>
          </p:nvPr>
        </p:nvSpPr>
        <p:spPr>
          <a:xfrm>
            <a:off x="6913080" y="1508040"/>
            <a:ext cx="394956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Ita eossimus aut re quaspe prae dus renestium</a:t>
            </a:r>
            <a:endParaRPr lang="en-US" sz="2600" b="0" u="none" strike="noStrike">
              <a:solidFill>
                <a:srgbClr val="00A3A6"/>
              </a:solidFill>
              <a:effectLst/>
              <a:uFillTx/>
              <a:latin typeface="AvenirNext LT Pro MediumCn"/>
            </a:endParaRPr>
          </a:p>
        </p:txBody>
      </p:sp>
      <p:sp>
        <p:nvSpPr>
          <p:cNvPr id="72" name="PlaceHolder 9"/>
          <p:cNvSpPr>
            <a:spLocks noGrp="1"/>
          </p:cNvSpPr>
          <p:nvPr>
            <p:ph type="body" hasCustomPrompt="1"/>
          </p:nvPr>
        </p:nvSpPr>
        <p:spPr>
          <a:xfrm>
            <a:off x="6906600" y="2441880"/>
            <a:ext cx="394956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Itae dolor re volorit utetur, eatur molore quiam, id quiatessus</a:t>
            </a:r>
            <a:endParaRPr lang="en-US" sz="2600" b="0" u="none" strike="noStrike">
              <a:solidFill>
                <a:srgbClr val="00A3A6"/>
              </a:solidFill>
              <a:effectLst/>
              <a:uFillTx/>
              <a:latin typeface="AvenirNext LT Pro MediumCn"/>
            </a:endParaRPr>
          </a:p>
        </p:txBody>
      </p:sp>
      <p:sp>
        <p:nvSpPr>
          <p:cNvPr id="73" name="PlaceHolder 10"/>
          <p:cNvSpPr>
            <a:spLocks noGrp="1"/>
          </p:cNvSpPr>
          <p:nvPr>
            <p:ph type="body" hasCustomPrompt="1"/>
          </p:nvPr>
        </p:nvSpPr>
        <p:spPr>
          <a:xfrm>
            <a:off x="6920640" y="3422520"/>
            <a:ext cx="394956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Luptaquis nis voloratur, eum fuga. Ita eossimus aut</a:t>
            </a:r>
            <a:endParaRPr lang="en-US" sz="2600" b="0" u="none" strike="noStrike">
              <a:solidFill>
                <a:srgbClr val="00A3A6"/>
              </a:solidFill>
              <a:effectLst/>
              <a:uFillTx/>
              <a:latin typeface="AvenirNext LT Pro MediumCn"/>
            </a:endParaRPr>
          </a:p>
        </p:txBody>
      </p:sp>
      <p:sp>
        <p:nvSpPr>
          <p:cNvPr id="74" name="PlaceHolder 11"/>
          <p:cNvSpPr>
            <a:spLocks noGrp="1"/>
          </p:cNvSpPr>
          <p:nvPr>
            <p:ph type="body" hasCustomPrompt="1"/>
          </p:nvPr>
        </p:nvSpPr>
        <p:spPr>
          <a:xfrm>
            <a:off x="6920640" y="4385520"/>
            <a:ext cx="394956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Dus et lacieni molupta turio. Itae dolor re volorit utetur</a:t>
            </a:r>
            <a:endParaRPr lang="en-US" sz="2600" b="0" u="none" strike="noStrike">
              <a:solidFill>
                <a:srgbClr val="00A3A6"/>
              </a:solidFill>
              <a:effectLst/>
              <a:uFillTx/>
              <a:latin typeface="AvenirNext LT Pro MediumCn"/>
            </a:endParaRPr>
          </a:p>
        </p:txBody>
      </p:sp>
      <p:sp>
        <p:nvSpPr>
          <p:cNvPr id="75" name="PlaceHolder 12"/>
          <p:cNvSpPr>
            <a:spLocks noGrp="1"/>
          </p:cNvSpPr>
          <p:nvPr>
            <p:ph type="body" hasCustomPrompt="1"/>
          </p:nvPr>
        </p:nvSpPr>
        <p:spPr>
          <a:xfrm>
            <a:off x="1574280" y="2451960"/>
            <a:ext cx="393228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This is an agenda page. </a:t>
            </a:r>
            <a:br>
              <a:rPr sz="2600"/>
            </a:br>
            <a:r>
              <a:rPr lang="en-US" sz="2600" b="0" u="none" strike="noStrike">
                <a:solidFill>
                  <a:srgbClr val="00A3A6"/>
                </a:solidFill>
                <a:effectLst/>
                <a:uFillTx/>
                <a:latin typeface="AvenirNext LT Pro MediumCn"/>
              </a:rPr>
              <a:t>Body text in Calibri Regular 18pt. </a:t>
            </a:r>
            <a:endParaRPr lang="en-US" sz="2600" b="0" u="none" strike="noStrike">
              <a:solidFill>
                <a:srgbClr val="00A3A6"/>
              </a:solidFill>
              <a:effectLst/>
              <a:uFillTx/>
              <a:latin typeface="AvenirNext LT Pro MediumCn"/>
            </a:endParaRPr>
          </a:p>
        </p:txBody>
      </p:sp>
      <p:sp>
        <p:nvSpPr>
          <p:cNvPr id="76" name="PlaceHolder 13"/>
          <p:cNvSpPr>
            <a:spLocks noGrp="1"/>
          </p:cNvSpPr>
          <p:nvPr>
            <p:ph type="body" hasCustomPrompt="1"/>
          </p:nvPr>
        </p:nvSpPr>
        <p:spPr>
          <a:xfrm>
            <a:off x="1574280" y="1506240"/>
            <a:ext cx="393228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This is an agenda page. </a:t>
            </a:r>
            <a:br>
              <a:rPr sz="2600"/>
            </a:br>
            <a:r>
              <a:rPr lang="en-US" sz="2600" b="0" u="none" strike="noStrike">
                <a:solidFill>
                  <a:srgbClr val="00A3A6"/>
                </a:solidFill>
                <a:effectLst/>
                <a:uFillTx/>
                <a:latin typeface="AvenirNext LT Pro MediumCn"/>
              </a:rPr>
              <a:t>Body text in Calibri Regular 18pt. Officatur mod ut odit.</a:t>
            </a:r>
            <a:endParaRPr lang="en-US" sz="2600" b="0" u="none" strike="noStrike">
              <a:solidFill>
                <a:srgbClr val="00A3A6"/>
              </a:solidFill>
              <a:effectLst/>
              <a:uFillTx/>
              <a:latin typeface="AvenirNext LT Pro MediumCn"/>
            </a:endParaRPr>
          </a:p>
        </p:txBody>
      </p:sp>
      <p:sp>
        <p:nvSpPr>
          <p:cNvPr id="77" name="PlaceHolder 14"/>
          <p:cNvSpPr>
            <a:spLocks noGrp="1"/>
          </p:cNvSpPr>
          <p:nvPr>
            <p:ph type="body" hasCustomPrompt="1"/>
          </p:nvPr>
        </p:nvSpPr>
        <p:spPr>
          <a:xfrm>
            <a:off x="6920640" y="5338800"/>
            <a:ext cx="3949560" cy="876960"/>
          </a:xfrm>
          <a:prstGeom prst="rect">
            <a:avLst/>
          </a:prstGeom>
          <a:noFill/>
          <a:ln w="0">
            <a:noFill/>
          </a:ln>
        </p:spPr>
        <p:txBody>
          <a:bodyPr lIns="91440" tIns="45720" rIns="91440" bIns="45720" anchor="t">
            <a:noAutofit/>
          </a:bodyPr>
          <a:lstStyle>
            <a:lvl1pPr indent="0" algn="l" defTabSz="1008000">
              <a:lnSpc>
                <a:spcPct val="100000"/>
              </a:lnSpc>
              <a:buNone/>
              <a:tabLst>
                <a:tab pos="0" algn="l"/>
              </a:tabLst>
              <a:defRPr lang="en-US" sz="2600" b="0" u="none" strike="noStrike">
                <a:solidFill>
                  <a:srgbClr val="00A3A6"/>
                </a:solidFill>
                <a:effectLst/>
                <a:uFillTx/>
                <a:latin typeface="AvenirNext LT Pro MediumCn"/>
              </a:defRPr>
            </a:lvl1pPr>
          </a:lstStyle>
          <a:p>
            <a:pPr indent="0" algn="l" defTabSz="1008000">
              <a:lnSpc>
                <a:spcPct val="100000"/>
              </a:lnSpc>
              <a:buNone/>
              <a:tabLst>
                <a:tab pos="0" algn="l"/>
              </a:tabLst>
            </a:pPr>
            <a:r>
              <a:rPr lang="en-US" sz="2600" b="0" u="none" strike="noStrike">
                <a:solidFill>
                  <a:srgbClr val="00A3A6"/>
                </a:solidFill>
                <a:effectLst/>
                <a:uFillTx/>
                <a:latin typeface="AvenirNext LT Pro MediumCn"/>
              </a:rPr>
              <a:t>Dus et lacieni molupta turio. Itae dolor re volorit utetur</a:t>
            </a:r>
            <a:endParaRPr lang="en-US" sz="2600" b="0" u="none" strike="noStrike">
              <a:solidFill>
                <a:srgbClr val="00A3A6"/>
              </a:solidFill>
              <a:effectLst/>
              <a:uFillTx/>
              <a:latin typeface="AvenirNext LT Pro MediumCn"/>
            </a:endParaRPr>
          </a:p>
        </p:txBody>
      </p:sp>
      <p:sp>
        <p:nvSpPr>
          <p:cNvPr id="78" name="PlaceHolder 15"/>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3000" b="1" u="none" strike="noStrike">
                <a:solidFill>
                  <a:srgbClr val="00A3A6"/>
                </a:solidFill>
                <a:effectLst/>
                <a:uFillTx/>
                <a:latin typeface="AvenirNext LT Pro MediumCn"/>
              </a:defRPr>
            </a:lvl1pPr>
          </a:lstStyle>
          <a:p>
            <a:pPr indent="0" algn="l" defTabSz="914400">
              <a:lnSpc>
                <a:spcPct val="90000"/>
              </a:lnSpc>
              <a:buNone/>
              <a:tabLst>
                <a:tab pos="0" algn="l"/>
              </a:tabLst>
            </a:pPr>
            <a:r>
              <a:rPr lang="en-US" sz="3000" b="1" u="none" strike="noStrike">
                <a:solidFill>
                  <a:srgbClr val="00A3A6"/>
                </a:solidFill>
                <a:effectLst/>
                <a:uFillTx/>
                <a:latin typeface="AvenirNext LT Pro MediumCn"/>
              </a:rPr>
              <a:t>Cliquez pour éditer le format du texte-titre</a:t>
            </a:r>
            <a:endParaRPr lang="en-US" sz="3000" b="1" u="none" strike="noStrike">
              <a:solidFill>
                <a:srgbClr val="00A3A6"/>
              </a:solidFill>
              <a:effectLst/>
              <a:uFillTx/>
              <a:latin typeface="AvenirNext LT Pro MediumC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seul">
    <p:bg>
      <p:bgPr>
        <a:solidFill>
          <a:srgbClr val="FFFFFF"/>
        </a:solidFill>
      </p:bgPr>
    </p:bg>
    <p:spTree>
      <p:nvGrpSpPr>
        <p:cNvPr id="1" name=""/>
        <p:cNvGrpSpPr/>
        <p:nvPr/>
      </p:nvGrpSpPr>
      <p:grpSpPr>
        <a:xfrm>
          <a:off x="0" y="0"/>
          <a:ext cx="0" cy="0"/>
          <a:chOff x="0" y="0"/>
          <a:chExt cx="0" cy="0"/>
        </a:xfrm>
      </p:grpSpPr>
      <p:sp>
        <p:nvSpPr>
          <p:cNvPr id="79"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743AE324-D1B4-4856-8F86-7B5A19EB954B}"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80" name="Image 13"/>
          <p:cNvPicPr/>
          <p:nvPr/>
        </p:nvPicPr>
        <p:blipFill>
          <a:blip r:embed="rId2"/>
          <a:stretch/>
        </p:blipFill>
        <p:spPr>
          <a:xfrm>
            <a:off x="0" y="6076080"/>
            <a:ext cx="1999080" cy="799200"/>
          </a:xfrm>
          <a:prstGeom prst="rect">
            <a:avLst/>
          </a:prstGeom>
          <a:noFill/>
          <a:ln w="0">
            <a:noFill/>
          </a:ln>
        </p:spPr>
      </p:pic>
      <p:sp>
        <p:nvSpPr>
          <p:cNvPr id="81"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82"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83" name="PlaceHolder 1"/>
          <p:cNvSpPr>
            <a:spLocks noGrp="1"/>
          </p:cNvSpPr>
          <p:nvPr>
            <p:ph type="title"/>
          </p:nvPr>
        </p:nvSpPr>
        <p:spPr>
          <a:xfrm>
            <a:off x="113112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84"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914400">
              <a:lnSpc>
                <a:spcPct val="90000"/>
              </a:lnSpc>
              <a:spcBef>
                <a:spcPts val="1001"/>
              </a:spcBef>
              <a:buClr>
                <a:srgbClr val="00A3A6"/>
              </a:buClr>
              <a:buFont typeface="Arial"/>
              <a:buChar char="•"/>
              <a:defRPr lang="en-US"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venirNext LT Pro UltLightCn"/>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7pPr>
          </a:lstStyle>
          <a:p>
            <a:pPr marL="228600" indent="-228600" algn="l" defTabSz="914400">
              <a:lnSpc>
                <a:spcPct val="90000"/>
              </a:lnSpc>
              <a:spcBef>
                <a:spcPts val="1001"/>
              </a:spcBef>
              <a:buClr>
                <a:srgbClr val="00A3A6"/>
              </a:buClr>
              <a:buFont typeface="Arial"/>
              <a:buChar char="•"/>
            </a:pPr>
            <a:r>
              <a:rPr lang="en-US" sz="2600" b="0" u="none" strike="noStrike">
                <a:solidFill>
                  <a:srgbClr val="00A3A6"/>
                </a:solidFill>
                <a:effectLst/>
                <a:uFillTx/>
                <a:latin typeface="AvenirNext LT Pro MediumCn"/>
              </a:rPr>
              <a:t>Cliquez pour éditer le format du plan de texte</a:t>
            </a:r>
            <a:endParaRPr lang="en-US" sz="2600" b="0" u="none" strike="noStrike">
              <a:solidFill>
                <a:srgbClr val="00A3A6"/>
              </a:solidFill>
              <a:effectLst/>
              <a:uFillTx/>
              <a:latin typeface="AvenirNext LT Pro MediumCn"/>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venirNext LT Pro MediumCn"/>
              </a:rPr>
              <a:t>Second niveau de plan</a:t>
            </a:r>
            <a:endParaRPr lang="en-US" sz="2400" b="0" u="none" strike="noStrike">
              <a:solidFill>
                <a:schemeClr val="dk1"/>
              </a:solidFill>
              <a:effectLst/>
              <a:uFillTx/>
              <a:latin typeface="AvenirNext LT Pro MediumCn"/>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venirNext LT Pro MediumCn"/>
              </a:rPr>
              <a:t>Troisième niveau de plan</a:t>
            </a:r>
            <a:endParaRPr lang="en-US" sz="2000" b="0" u="none" strike="noStrike">
              <a:solidFill>
                <a:schemeClr val="dk1"/>
              </a:solidFill>
              <a:effectLst/>
              <a:uFillTx/>
              <a:latin typeface="AvenirNext LT Pro MediumCn"/>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venirNext LT Pro ThinCn"/>
              </a:rPr>
              <a:t>Quatrième niveau de plan</a:t>
            </a:r>
            <a:endParaRPr lang="en-US" sz="1800" b="0" u="none" strike="noStrike">
              <a:solidFill>
                <a:schemeClr val="dk1"/>
              </a:solidFill>
              <a:effectLst/>
              <a:uFillTx/>
              <a:latin typeface="AvenirNext LT Pro ThinCn"/>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venirNext LT Pro UltLightCn"/>
              </a:rPr>
              <a:t>Cinquième niveau de plan</a:t>
            </a:r>
            <a:endParaRPr lang="en-US" sz="1800" b="0" u="none" strike="noStrike">
              <a:solidFill>
                <a:schemeClr val="dk1"/>
              </a:solidFill>
              <a:effectLst/>
              <a:uFillTx/>
              <a:latin typeface="AvenirNext LT Pro UltLightCn"/>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Sixième niveau de plan</a:t>
            </a:r>
            <a:endParaRPr lang="en-US" sz="2000" b="0" u="none" strike="noStrike">
              <a:solidFill>
                <a:schemeClr val="dk1"/>
              </a:solidFill>
              <a:effectLst/>
              <a:uFillTx/>
              <a:latin typeface="AvenirNext LT Pro UltLightCn"/>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Septième niveau de plan</a:t>
            </a:r>
            <a:endParaRPr lang="en-US" sz="2000" b="0" u="none" strike="noStrike">
              <a:solidFill>
                <a:schemeClr val="dk1"/>
              </a:solidFill>
              <a:effectLst/>
              <a:uFillTx/>
              <a:latin typeface="AvenirNext LT Pro UltLightC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 Version 2">
    <p:bg>
      <p:bgPr>
        <a:solidFill>
          <a:srgbClr val="00A3A6"/>
        </a:solidFill>
      </p:bgPr>
    </p:bg>
    <p:spTree>
      <p:nvGrpSpPr>
        <p:cNvPr id="1" name=""/>
        <p:cNvGrpSpPr/>
        <p:nvPr/>
      </p:nvGrpSpPr>
      <p:grpSpPr>
        <a:xfrm>
          <a:off x="0" y="0"/>
          <a:ext cx="0" cy="0"/>
          <a:chOff x="0" y="0"/>
          <a:chExt cx="0" cy="0"/>
        </a:xfrm>
      </p:grpSpPr>
      <p:sp>
        <p:nvSpPr>
          <p:cNvPr id="85"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9CE0889F-218B-41F6-B920-9A8E64BB7B4B}" type="slidenum">
              <a:rPr lang="fr-FR" sz="1200" b="0" u="none" strike="noStrike">
                <a:solidFill>
                  <a:srgbClr val="00A3A6"/>
                </a:solidFill>
                <a:effectLst/>
                <a:uFillTx/>
                <a:latin typeface="Raleway"/>
              </a:rPr>
              <a:t>&lt;numéro&gt;</a:t>
            </a:fld>
            <a:endParaRPr lang="fr-FR" sz="1200" b="0" u="none" strike="noStrike">
              <a:solidFill>
                <a:srgbClr val="FFFFFF"/>
              </a:solidFill>
              <a:effectLst/>
              <a:uFillTx/>
              <a:latin typeface="Arial"/>
            </a:endParaRPr>
          </a:p>
        </p:txBody>
      </p:sp>
      <p:pic>
        <p:nvPicPr>
          <p:cNvPr id="86" name="Image 13"/>
          <p:cNvPicPr/>
          <p:nvPr/>
        </p:nvPicPr>
        <p:blipFill>
          <a:blip r:embed="rId2"/>
          <a:stretch/>
        </p:blipFill>
        <p:spPr>
          <a:xfrm>
            <a:off x="0" y="6076080"/>
            <a:ext cx="1999080" cy="799200"/>
          </a:xfrm>
          <a:prstGeom prst="rect">
            <a:avLst/>
          </a:prstGeom>
          <a:noFill/>
          <a:ln w="0">
            <a:noFill/>
          </a:ln>
        </p:spPr>
      </p:pic>
      <p:sp>
        <p:nvSpPr>
          <p:cNvPr id="87"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FFFFFF"/>
              </a:solidFill>
              <a:effectLst/>
              <a:uFillTx/>
              <a:latin typeface="Arial"/>
            </a:endParaRPr>
          </a:p>
        </p:txBody>
      </p:sp>
      <p:sp>
        <p:nvSpPr>
          <p:cNvPr id="88"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FFFFFF"/>
              </a:solidFill>
              <a:effectLst/>
              <a:uFillTx/>
              <a:latin typeface="Arial"/>
            </a:endParaRPr>
          </a:p>
        </p:txBody>
      </p:sp>
      <p:pic>
        <p:nvPicPr>
          <p:cNvPr id="89" name="Image 3"/>
          <p:cNvPicPr/>
          <p:nvPr/>
        </p:nvPicPr>
        <p:blipFill>
          <a:blip r:embed="rId3"/>
          <a:stretch/>
        </p:blipFill>
        <p:spPr>
          <a:xfrm>
            <a:off x="2401920" y="1272240"/>
            <a:ext cx="1545480" cy="416520"/>
          </a:xfrm>
          <a:prstGeom prst="rect">
            <a:avLst/>
          </a:prstGeom>
          <a:noFill/>
          <a:ln w="0">
            <a:noFill/>
          </a:ln>
        </p:spPr>
      </p:pic>
      <p:pic>
        <p:nvPicPr>
          <p:cNvPr id="90" name="Image 4"/>
          <p:cNvPicPr/>
          <p:nvPr/>
        </p:nvPicPr>
        <p:blipFill>
          <a:blip r:embed="rId4"/>
          <a:stretch/>
        </p:blipFill>
        <p:spPr>
          <a:xfrm>
            <a:off x="0" y="2837520"/>
            <a:ext cx="4075200" cy="2789280"/>
          </a:xfrm>
          <a:prstGeom prst="rect">
            <a:avLst/>
          </a:prstGeom>
          <a:noFill/>
          <a:ln w="0">
            <a:noFill/>
          </a:ln>
        </p:spPr>
      </p:pic>
      <p:pic>
        <p:nvPicPr>
          <p:cNvPr id="91" name="Image 5"/>
          <p:cNvPicPr/>
          <p:nvPr/>
        </p:nvPicPr>
        <p:blipFill>
          <a:blip r:embed="rId5"/>
          <a:stretch/>
        </p:blipFill>
        <p:spPr>
          <a:xfrm>
            <a:off x="1869480" y="2825280"/>
            <a:ext cx="313200" cy="427320"/>
          </a:xfrm>
          <a:prstGeom prst="rect">
            <a:avLst/>
          </a:prstGeom>
          <a:noFill/>
          <a:ln w="0">
            <a:noFill/>
          </a:ln>
        </p:spPr>
      </p:pic>
      <p:sp>
        <p:nvSpPr>
          <p:cNvPr id="92" name="Rectangle 6"/>
          <p:cNvSpPr/>
          <p:nvPr/>
        </p:nvSpPr>
        <p:spPr>
          <a:xfrm>
            <a:off x="0" y="5994720"/>
            <a:ext cx="12191040" cy="863280"/>
          </a:xfrm>
          <a:prstGeom prst="rect">
            <a:avLst/>
          </a:prstGeom>
          <a:solidFill>
            <a:srgbClr val="00A3A6"/>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tIns="45000" rIns="90000" bIns="45000" anchor="ctr">
            <a:noAutofit/>
          </a:bodyPr>
          <a:p>
            <a:endParaRPr lang="fr-FR" sz="1800" b="0" u="none" strike="noStrike">
              <a:solidFill>
                <a:schemeClr val="lt1"/>
              </a:solidFill>
              <a:effectLst/>
              <a:uFillTx/>
              <a:latin typeface="Calibri"/>
            </a:endParaRPr>
          </a:p>
        </p:txBody>
      </p:sp>
      <p:sp>
        <p:nvSpPr>
          <p:cNvPr id="93" name="PlaceHolder 1"/>
          <p:cNvSpPr>
            <a:spLocks noGrp="1"/>
          </p:cNvSpPr>
          <p:nvPr>
            <p:ph type="title"/>
          </p:nvPr>
        </p:nvSpPr>
        <p:spPr>
          <a:xfrm>
            <a:off x="2401920" y="2767320"/>
            <a:ext cx="9142920" cy="1056600"/>
          </a:xfrm>
          <a:prstGeom prst="rect">
            <a:avLst/>
          </a:prstGeom>
          <a:noFill/>
          <a:ln w="0">
            <a:noFill/>
          </a:ln>
        </p:spPr>
        <p:txBody>
          <a:bodyPr lIns="0" tIns="46800" rIns="91440" bIns="45720" anchor="t">
            <a:normAutofit/>
          </a:bodyPr>
          <a:lstStyle>
            <a:lvl1pPr indent="0" algn="l" defTabSz="914400">
              <a:lnSpc>
                <a:spcPct val="90000"/>
              </a:lnSpc>
              <a:buNone/>
              <a:tabLst>
                <a:tab pos="0" algn="l"/>
              </a:tabLst>
              <a:defRPr lang="fr-FR" sz="3600" b="1" u="none" strike="noStrike">
                <a:solidFill>
                  <a:schemeClr val="lt1"/>
                </a:solidFill>
                <a:effectLst/>
                <a:uFillTx/>
                <a:latin typeface="AvenirNext LT Pro MediumCn"/>
              </a:defRPr>
            </a:lvl1pPr>
          </a:lstStyle>
          <a:p>
            <a:pPr indent="0" algn="l" defTabSz="914400">
              <a:lnSpc>
                <a:spcPct val="90000"/>
              </a:lnSpc>
              <a:buNone/>
              <a:tabLst>
                <a:tab pos="0" algn="l"/>
              </a:tabLst>
            </a:pPr>
            <a:r>
              <a:rPr lang="fr-FR" sz="3600" b="1" u="none" strike="noStrike">
                <a:solidFill>
                  <a:schemeClr val="lt1"/>
                </a:solidFill>
                <a:effectLst/>
                <a:uFillTx/>
                <a:latin typeface="AvenirNext LT Pro MediumCn"/>
              </a:rPr>
              <a:t>Modifiez le style du titre</a:t>
            </a:r>
            <a:endParaRPr lang="fr-FR" sz="3600" b="1" u="none" strike="noStrike">
              <a:solidFill>
                <a:schemeClr val="lt1"/>
              </a:solidFill>
              <a:effectLst/>
              <a:uFillTx/>
              <a:latin typeface="AvenirNext LT Pro MediumC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ge classique">
    <p:bg>
      <p:bgPr>
        <a:solidFill>
          <a:srgbClr val="FFFFFF"/>
        </a:solidFill>
      </p:bgPr>
    </p:bg>
    <p:spTree>
      <p:nvGrpSpPr>
        <p:cNvPr id="1" name=""/>
        <p:cNvGrpSpPr/>
        <p:nvPr/>
      </p:nvGrpSpPr>
      <p:grpSpPr>
        <a:xfrm>
          <a:off x="0" y="0"/>
          <a:ext cx="0" cy="0"/>
          <a:chOff x="0" y="0"/>
          <a:chExt cx="0" cy="0"/>
        </a:xfrm>
      </p:grpSpPr>
      <p:sp>
        <p:nvSpPr>
          <p:cNvPr id="94"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4C2DDE78-72EA-47EC-89AB-3B6C7464B772}"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95" name="Image 13"/>
          <p:cNvPicPr/>
          <p:nvPr/>
        </p:nvPicPr>
        <p:blipFill>
          <a:blip r:embed="rId2"/>
          <a:stretch/>
        </p:blipFill>
        <p:spPr>
          <a:xfrm>
            <a:off x="0" y="6076080"/>
            <a:ext cx="1999080" cy="799200"/>
          </a:xfrm>
          <a:prstGeom prst="rect">
            <a:avLst/>
          </a:prstGeom>
          <a:noFill/>
          <a:ln w="0">
            <a:noFill/>
          </a:ln>
        </p:spPr>
      </p:pic>
      <p:sp>
        <p:nvSpPr>
          <p:cNvPr id="96"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97"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98"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99" name="PlaceHolder 2"/>
          <p:cNvSpPr>
            <a:spLocks noGrp="1"/>
          </p:cNvSpPr>
          <p:nvPr>
            <p:ph type="body"/>
          </p:nvPr>
        </p:nvSpPr>
        <p:spPr>
          <a:xfrm>
            <a:off x="1122480" y="1537920"/>
            <a:ext cx="9678960" cy="4005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AvenirNext LT Pro MediumCn"/>
              </a:rPr>
              <a:t>Modifier les styles du texte du masque</a:t>
            </a:r>
            <a:endParaRPr lang="fr-FR" sz="1600" b="0" u="none" strike="noStrike">
              <a:solidFill>
                <a:schemeClr val="dk1"/>
              </a:solidFill>
              <a:effectLst/>
              <a:uFillTx/>
              <a:latin typeface="AvenirNext LT Pro MediumC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re et contenu">
    <p:bg>
      <p:bgPr>
        <a:solidFill>
          <a:srgbClr val="FFFFFF"/>
        </a:solidFill>
      </p:bgPr>
    </p:bg>
    <p:spTree>
      <p:nvGrpSpPr>
        <p:cNvPr id="1" name=""/>
        <p:cNvGrpSpPr/>
        <p:nvPr/>
      </p:nvGrpSpPr>
      <p:grpSpPr>
        <a:xfrm>
          <a:off x="0" y="0"/>
          <a:ext cx="0" cy="0"/>
          <a:chOff x="0" y="0"/>
          <a:chExt cx="0" cy="0"/>
        </a:xfrm>
      </p:grpSpPr>
      <p:sp>
        <p:nvSpPr>
          <p:cNvPr id="100"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F03C0867-6B3A-40EB-B0CE-D6268C896B8C}"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01" name="Image 13"/>
          <p:cNvPicPr/>
          <p:nvPr/>
        </p:nvPicPr>
        <p:blipFill>
          <a:blip r:embed="rId2"/>
          <a:stretch/>
        </p:blipFill>
        <p:spPr>
          <a:xfrm>
            <a:off x="0" y="6076080"/>
            <a:ext cx="1999080" cy="799200"/>
          </a:xfrm>
          <a:prstGeom prst="rect">
            <a:avLst/>
          </a:prstGeom>
          <a:noFill/>
          <a:ln w="0">
            <a:noFill/>
          </a:ln>
        </p:spPr>
      </p:pic>
      <p:sp>
        <p:nvSpPr>
          <p:cNvPr id="102"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03"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04" name="PlaceHolder 1"/>
          <p:cNvSpPr>
            <a:spLocks noGrp="1"/>
          </p:cNvSpPr>
          <p:nvPr>
            <p:ph type="body"/>
          </p:nvPr>
        </p:nvSpPr>
        <p:spPr>
          <a:xfrm>
            <a:off x="1122480" y="1747080"/>
            <a:ext cx="9723600" cy="4008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2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200" b="0" u="none" strike="noStrike">
                <a:solidFill>
                  <a:schemeClr val="dk1"/>
                </a:solidFill>
                <a:effectLst/>
                <a:uFillTx/>
                <a:latin typeface="AvenirNext LT Pro MediumCn"/>
              </a:rPr>
              <a:t>Deuxième niveau</a:t>
            </a:r>
            <a:endParaRPr lang="fr-FR" sz="22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05" name="PlaceHolder 2"/>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ux contenus">
    <p:bg>
      <p:bgPr>
        <a:solidFill>
          <a:srgbClr val="FFFFFF"/>
        </a:solidFill>
      </p:bgPr>
    </p:bg>
    <p:spTree>
      <p:nvGrpSpPr>
        <p:cNvPr id="1" name=""/>
        <p:cNvGrpSpPr/>
        <p:nvPr/>
      </p:nvGrpSpPr>
      <p:grpSpPr>
        <a:xfrm>
          <a:off x="0" y="0"/>
          <a:ext cx="0" cy="0"/>
          <a:chOff x="0" y="0"/>
          <a:chExt cx="0" cy="0"/>
        </a:xfrm>
      </p:grpSpPr>
      <p:sp>
        <p:nvSpPr>
          <p:cNvPr id="106"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ECDE3DE3-3A61-463F-8087-6C1D038E5D89}"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07" name="Image 13"/>
          <p:cNvPicPr/>
          <p:nvPr/>
        </p:nvPicPr>
        <p:blipFill>
          <a:blip r:embed="rId2"/>
          <a:stretch/>
        </p:blipFill>
        <p:spPr>
          <a:xfrm>
            <a:off x="0" y="6076080"/>
            <a:ext cx="1999080" cy="799200"/>
          </a:xfrm>
          <a:prstGeom prst="rect">
            <a:avLst/>
          </a:prstGeom>
          <a:noFill/>
          <a:ln w="0">
            <a:noFill/>
          </a:ln>
        </p:spPr>
      </p:pic>
      <p:sp>
        <p:nvSpPr>
          <p:cNvPr id="108"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09"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10" name="PlaceHolder 1"/>
          <p:cNvSpPr>
            <a:spLocks noGrp="1"/>
          </p:cNvSpPr>
          <p:nvPr>
            <p:ph type="body"/>
          </p:nvPr>
        </p:nvSpPr>
        <p:spPr>
          <a:xfrm>
            <a:off x="1122480" y="1537920"/>
            <a:ext cx="4400640" cy="4350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2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200" b="0" u="none" strike="noStrike">
                <a:solidFill>
                  <a:schemeClr val="dk1"/>
                </a:solidFill>
                <a:effectLst/>
                <a:uFillTx/>
                <a:latin typeface="AvenirNext LT Pro MediumCn"/>
              </a:rPr>
              <a:t>Deuxième niveau</a:t>
            </a:r>
            <a:endParaRPr lang="fr-FR" sz="22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11" name="PlaceHolder 2"/>
          <p:cNvSpPr>
            <a:spLocks noGrp="1"/>
          </p:cNvSpPr>
          <p:nvPr>
            <p:ph type="body"/>
          </p:nvPr>
        </p:nvSpPr>
        <p:spPr>
          <a:xfrm>
            <a:off x="6145920" y="1537920"/>
            <a:ext cx="4400640" cy="4350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2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200" b="0" u="none" strike="noStrike">
                <a:solidFill>
                  <a:schemeClr val="dk1"/>
                </a:solidFill>
                <a:effectLst/>
                <a:uFillTx/>
                <a:latin typeface="AvenirNext LT Pro MediumCn"/>
              </a:rPr>
              <a:t>Deuxième niveau</a:t>
            </a:r>
            <a:endParaRPr lang="fr-FR" sz="22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12" name="PlaceHolder 3"/>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mparaison">
    <p:bg>
      <p:bgPr>
        <a:solidFill>
          <a:srgbClr val="FFFFFF"/>
        </a:solidFill>
      </p:bgPr>
    </p:bg>
    <p:spTree>
      <p:nvGrpSpPr>
        <p:cNvPr id="1" name=""/>
        <p:cNvGrpSpPr/>
        <p:nvPr/>
      </p:nvGrpSpPr>
      <p:grpSpPr>
        <a:xfrm>
          <a:off x="0" y="0"/>
          <a:ext cx="0" cy="0"/>
          <a:chOff x="0" y="0"/>
          <a:chExt cx="0" cy="0"/>
        </a:xfrm>
      </p:grpSpPr>
      <p:sp>
        <p:nvSpPr>
          <p:cNvPr id="113"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DC7069CE-9155-4DDE-B90B-A07AA1BA739F}"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14" name="Image 13"/>
          <p:cNvPicPr/>
          <p:nvPr/>
        </p:nvPicPr>
        <p:blipFill>
          <a:blip r:embed="rId2"/>
          <a:stretch/>
        </p:blipFill>
        <p:spPr>
          <a:xfrm>
            <a:off x="0" y="6076080"/>
            <a:ext cx="1999080" cy="799200"/>
          </a:xfrm>
          <a:prstGeom prst="rect">
            <a:avLst/>
          </a:prstGeom>
          <a:noFill/>
          <a:ln w="0">
            <a:noFill/>
          </a:ln>
        </p:spPr>
      </p:pic>
      <p:sp>
        <p:nvSpPr>
          <p:cNvPr id="115"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16"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17" name="PlaceHolder 1"/>
          <p:cNvSpPr>
            <a:spLocks noGrp="1"/>
          </p:cNvSpPr>
          <p:nvPr>
            <p:ph type="body"/>
          </p:nvPr>
        </p:nvSpPr>
        <p:spPr>
          <a:xfrm>
            <a:off x="1122480" y="1537920"/>
            <a:ext cx="4329360" cy="816480"/>
          </a:xfrm>
          <a:prstGeom prst="rect">
            <a:avLst/>
          </a:prstGeom>
          <a:noFill/>
          <a:ln w="0">
            <a:noFill/>
          </a:ln>
        </p:spPr>
        <p:txBody>
          <a:bodyPr lIns="91440" tIns="45720" rIns="91440" bIns="45720" anchor="b">
            <a:normAutofit/>
          </a:bodyPr>
          <a:lstStyle>
            <a:lvl1pPr indent="0" algn="l" defTabSz="914400">
              <a:lnSpc>
                <a:spcPct val="90000"/>
              </a:lnSpc>
              <a:spcBef>
                <a:spcPts val="1001"/>
              </a:spcBef>
              <a:buNone/>
              <a:tabLst>
                <a:tab pos="0" algn="l"/>
              </a:tabLst>
              <a:defRPr lang="fr-FR" sz="2200" b="1" u="none" strike="noStrike">
                <a:solidFill>
                  <a:srgbClr val="00A3A6"/>
                </a:solidFill>
                <a:effectLst/>
                <a:uFillTx/>
                <a:latin typeface="AvenirNext LT Pro MediumCn"/>
              </a:defRPr>
            </a:lvl1pPr>
          </a:lstStyle>
          <a:p>
            <a:pPr indent="0" algn="l" defTabSz="914400">
              <a:lnSpc>
                <a:spcPct val="90000"/>
              </a:lnSpc>
              <a:spcBef>
                <a:spcPts val="1001"/>
              </a:spcBef>
              <a:buNone/>
              <a:tabLst>
                <a:tab pos="0" algn="l"/>
              </a:tabLst>
            </a:pPr>
            <a:r>
              <a:rPr lang="fr-FR" sz="2200" b="1" u="none" strike="noStrike">
                <a:solidFill>
                  <a:srgbClr val="00A3A6"/>
                </a:solidFill>
                <a:effectLst/>
                <a:uFillTx/>
                <a:latin typeface="AvenirNext LT Pro MediumCn"/>
              </a:rPr>
              <a:t>Modifier les styles du texte du masque</a:t>
            </a:r>
            <a:endParaRPr lang="fr-FR" sz="2200" b="0" u="none" strike="noStrike">
              <a:solidFill>
                <a:srgbClr val="00A3A6"/>
              </a:solidFill>
              <a:effectLst/>
              <a:uFillTx/>
              <a:latin typeface="AvenirNext LT Pro MediumCn"/>
            </a:endParaRPr>
          </a:p>
        </p:txBody>
      </p:sp>
      <p:sp>
        <p:nvSpPr>
          <p:cNvPr id="118" name="PlaceHolder 2"/>
          <p:cNvSpPr>
            <a:spLocks noGrp="1"/>
          </p:cNvSpPr>
          <p:nvPr>
            <p:ph type="body"/>
          </p:nvPr>
        </p:nvSpPr>
        <p:spPr>
          <a:xfrm>
            <a:off x="1122480" y="2355480"/>
            <a:ext cx="4329360" cy="33681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tabLst>
                <a:tab pos="0" algn="l"/>
              </a:tabLst>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tabLst>
                <a:tab pos="0" algn="l"/>
              </a:tabLst>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Next LT Pro MediumCn"/>
              </a:rPr>
              <a:t>Deuxième niveau</a:t>
            </a:r>
            <a:endParaRPr lang="fr-FR" sz="20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19" name="PlaceHolder 3"/>
          <p:cNvSpPr>
            <a:spLocks noGrp="1"/>
          </p:cNvSpPr>
          <p:nvPr>
            <p:ph type="body"/>
          </p:nvPr>
        </p:nvSpPr>
        <p:spPr>
          <a:xfrm>
            <a:off x="6104160" y="1537920"/>
            <a:ext cx="4350600" cy="816480"/>
          </a:xfrm>
          <a:prstGeom prst="rect">
            <a:avLst/>
          </a:prstGeom>
          <a:noFill/>
          <a:ln w="0">
            <a:noFill/>
          </a:ln>
        </p:spPr>
        <p:txBody>
          <a:bodyPr lIns="91440" tIns="45720" rIns="91440" bIns="45720" anchor="b">
            <a:normAutofit/>
          </a:bodyPr>
          <a:lstStyle>
            <a:lvl1pPr indent="0" algn="l" defTabSz="914400">
              <a:lnSpc>
                <a:spcPct val="90000"/>
              </a:lnSpc>
              <a:spcBef>
                <a:spcPts val="1001"/>
              </a:spcBef>
              <a:buNone/>
              <a:tabLst>
                <a:tab pos="0" algn="l"/>
              </a:tabLst>
              <a:defRPr lang="fr-FR" sz="2200" b="1" u="none" strike="noStrike">
                <a:solidFill>
                  <a:srgbClr val="00A3A6"/>
                </a:solidFill>
                <a:effectLst/>
                <a:uFillTx/>
                <a:latin typeface="AvenirNext LT Pro MediumCn"/>
              </a:defRPr>
            </a:lvl1pPr>
          </a:lstStyle>
          <a:p>
            <a:pPr indent="0" algn="l" defTabSz="914400">
              <a:lnSpc>
                <a:spcPct val="90000"/>
              </a:lnSpc>
              <a:spcBef>
                <a:spcPts val="1001"/>
              </a:spcBef>
              <a:buNone/>
              <a:tabLst>
                <a:tab pos="0" algn="l"/>
              </a:tabLst>
            </a:pPr>
            <a:r>
              <a:rPr lang="fr-FR" sz="2200" b="1" u="none" strike="noStrike">
                <a:solidFill>
                  <a:srgbClr val="00A3A6"/>
                </a:solidFill>
                <a:effectLst/>
                <a:uFillTx/>
                <a:latin typeface="AvenirNext LT Pro MediumCn"/>
              </a:rPr>
              <a:t>Modifier les styles du texte du masque</a:t>
            </a:r>
            <a:endParaRPr lang="fr-FR" sz="2200" b="0" u="none" strike="noStrike">
              <a:solidFill>
                <a:srgbClr val="00A3A6"/>
              </a:solidFill>
              <a:effectLst/>
              <a:uFillTx/>
              <a:latin typeface="AvenirNext LT Pro MediumCn"/>
            </a:endParaRPr>
          </a:p>
        </p:txBody>
      </p:sp>
      <p:sp>
        <p:nvSpPr>
          <p:cNvPr id="120" name="PlaceHolder 4"/>
          <p:cNvSpPr>
            <a:spLocks noGrp="1"/>
          </p:cNvSpPr>
          <p:nvPr>
            <p:ph type="body"/>
          </p:nvPr>
        </p:nvSpPr>
        <p:spPr>
          <a:xfrm>
            <a:off x="6104160" y="2355480"/>
            <a:ext cx="4350600" cy="33681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tabLst>
                <a:tab pos="0" algn="l"/>
              </a:tabLst>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tabLst>
                <a:tab pos="0" algn="l"/>
              </a:tabLst>
            </a:pPr>
            <a:r>
              <a:rPr lang="fr-FR" sz="2400" b="0" u="none" strike="noStrike">
                <a:solidFill>
                  <a:srgbClr val="00A3A6"/>
                </a:solidFill>
                <a:effectLst/>
                <a:uFillTx/>
                <a:latin typeface="AvenirNext LT Pro MediumCn"/>
              </a:rPr>
              <a:t>Modifier les styles du texte du masque</a:t>
            </a:r>
            <a:endParaRPr lang="fr-FR" sz="2400" b="0" u="none" strike="noStrike">
              <a:solidFill>
                <a:srgbClr val="00A3A6"/>
              </a:solidFill>
              <a:effectLst/>
              <a:uFillTx/>
              <a:latin typeface="AvenirNext LT Pro MediumCn"/>
            </a:endParaRPr>
          </a:p>
          <a:p>
            <a:pPr marL="685800" lvl="1"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Next LT Pro MediumCn"/>
              </a:rPr>
              <a:t>Deuxième niveau</a:t>
            </a:r>
            <a:endParaRPr lang="fr-FR" sz="20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Next LT Pro MediumCn"/>
              </a:rPr>
              <a:t>Troisième niveau</a:t>
            </a:r>
            <a:endParaRPr lang="fr-FR" sz="20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Next LT Pro ThinCn"/>
              </a:rPr>
              <a:t>Quatrième niveau</a:t>
            </a:r>
            <a:endParaRPr lang="fr-FR" sz="18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Next LT Pro UltLightCn"/>
              </a:rPr>
              <a:t>Cinquième niveau</a:t>
            </a:r>
            <a:endParaRPr lang="fr-FR" sz="1800" b="0" u="none" strike="noStrike">
              <a:solidFill>
                <a:schemeClr val="dk1"/>
              </a:solidFill>
              <a:effectLst/>
              <a:uFillTx/>
              <a:latin typeface="AvenirNext LT Pro UltLightCn"/>
            </a:endParaRPr>
          </a:p>
        </p:txBody>
      </p:sp>
      <p:sp>
        <p:nvSpPr>
          <p:cNvPr id="121" name="PlaceHolder 5"/>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re seul">
    <p:bg>
      <p:bgPr>
        <a:solidFill>
          <a:srgbClr val="FFFFFF"/>
        </a:solidFill>
      </p:bgPr>
    </p:bg>
    <p:spTree>
      <p:nvGrpSpPr>
        <p:cNvPr id="1" name=""/>
        <p:cNvGrpSpPr/>
        <p:nvPr/>
      </p:nvGrpSpPr>
      <p:grpSpPr>
        <a:xfrm>
          <a:off x="0" y="0"/>
          <a:ext cx="0" cy="0"/>
          <a:chOff x="0" y="0"/>
          <a:chExt cx="0" cy="0"/>
        </a:xfrm>
      </p:grpSpPr>
      <p:sp>
        <p:nvSpPr>
          <p:cNvPr id="122"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60800FAC-1C3F-4A0C-B358-BD7AAD8CC547}"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23" name="Image 13"/>
          <p:cNvPicPr/>
          <p:nvPr/>
        </p:nvPicPr>
        <p:blipFill>
          <a:blip r:embed="rId2"/>
          <a:stretch/>
        </p:blipFill>
        <p:spPr>
          <a:xfrm>
            <a:off x="0" y="6076080"/>
            <a:ext cx="1999080" cy="799200"/>
          </a:xfrm>
          <a:prstGeom prst="rect">
            <a:avLst/>
          </a:prstGeom>
          <a:noFill/>
          <a:ln w="0">
            <a:noFill/>
          </a:ln>
        </p:spPr>
      </p:pic>
      <p:sp>
        <p:nvSpPr>
          <p:cNvPr id="124"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25"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26"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127"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914400">
              <a:lnSpc>
                <a:spcPct val="90000"/>
              </a:lnSpc>
              <a:spcBef>
                <a:spcPts val="1001"/>
              </a:spcBef>
              <a:buClr>
                <a:srgbClr val="00A3A6"/>
              </a:buClr>
              <a:buFont typeface="Arial"/>
              <a:buChar char="•"/>
              <a:defRPr lang="en-US"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venirNext LT Pro UltLightCn"/>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7pPr>
          </a:lstStyle>
          <a:p>
            <a:pPr marL="228600" indent="-228600" algn="l" defTabSz="914400">
              <a:lnSpc>
                <a:spcPct val="90000"/>
              </a:lnSpc>
              <a:spcBef>
                <a:spcPts val="1001"/>
              </a:spcBef>
              <a:buClr>
                <a:srgbClr val="00A3A6"/>
              </a:buClr>
              <a:buFont typeface="Arial"/>
              <a:buChar char="•"/>
            </a:pPr>
            <a:r>
              <a:rPr lang="en-US" sz="2600" b="0" u="none" strike="noStrike">
                <a:solidFill>
                  <a:srgbClr val="00A3A6"/>
                </a:solidFill>
                <a:effectLst/>
                <a:uFillTx/>
                <a:latin typeface="AvenirNext LT Pro MediumCn"/>
              </a:rPr>
              <a:t>Cliquez pour éditer le format du plan de texte</a:t>
            </a:r>
            <a:endParaRPr lang="en-US" sz="2600" b="0" u="none" strike="noStrike">
              <a:solidFill>
                <a:srgbClr val="00A3A6"/>
              </a:solidFill>
              <a:effectLst/>
              <a:uFillTx/>
              <a:latin typeface="AvenirNext LT Pro MediumCn"/>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venirNext LT Pro MediumCn"/>
              </a:rPr>
              <a:t>Second niveau de plan</a:t>
            </a:r>
            <a:endParaRPr lang="en-US" sz="2400" b="0" u="none" strike="noStrike">
              <a:solidFill>
                <a:schemeClr val="dk1"/>
              </a:solidFill>
              <a:effectLst/>
              <a:uFillTx/>
              <a:latin typeface="AvenirNext LT Pro MediumCn"/>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venirNext LT Pro MediumCn"/>
              </a:rPr>
              <a:t>Troisième niveau de plan</a:t>
            </a:r>
            <a:endParaRPr lang="en-US" sz="2000" b="0" u="none" strike="noStrike">
              <a:solidFill>
                <a:schemeClr val="dk1"/>
              </a:solidFill>
              <a:effectLst/>
              <a:uFillTx/>
              <a:latin typeface="AvenirNext LT Pro MediumCn"/>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venirNext LT Pro ThinCn"/>
              </a:rPr>
              <a:t>Quatrième niveau de plan</a:t>
            </a:r>
            <a:endParaRPr lang="en-US" sz="1800" b="0" u="none" strike="noStrike">
              <a:solidFill>
                <a:schemeClr val="dk1"/>
              </a:solidFill>
              <a:effectLst/>
              <a:uFillTx/>
              <a:latin typeface="AvenirNext LT Pro ThinCn"/>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venirNext LT Pro UltLightCn"/>
              </a:rPr>
              <a:t>Cinquième niveau de plan</a:t>
            </a:r>
            <a:endParaRPr lang="en-US" sz="1800" b="0" u="none" strike="noStrike">
              <a:solidFill>
                <a:schemeClr val="dk1"/>
              </a:solidFill>
              <a:effectLst/>
              <a:uFillTx/>
              <a:latin typeface="AvenirNext LT Pro UltLightCn"/>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Sixième niveau de plan</a:t>
            </a:r>
            <a:endParaRPr lang="en-US" sz="2000" b="0" u="none" strike="noStrike">
              <a:solidFill>
                <a:schemeClr val="dk1"/>
              </a:solidFill>
              <a:effectLst/>
              <a:uFillTx/>
              <a:latin typeface="AvenirNext LT Pro UltLightCn"/>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Septième niveau de plan</a:t>
            </a:r>
            <a:endParaRPr lang="en-US" sz="2000" b="0" u="none" strike="noStrike">
              <a:solidFill>
                <a:schemeClr val="dk1"/>
              </a:solidFill>
              <a:effectLst/>
              <a:uFillTx/>
              <a:latin typeface="AvenirNext LT Pro UltLightC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ntenu avec légende">
    <p:bg>
      <p:bgPr>
        <a:solidFill>
          <a:srgbClr val="FFFFFF"/>
        </a:solidFill>
      </p:bgPr>
    </p:bg>
    <p:spTree>
      <p:nvGrpSpPr>
        <p:cNvPr id="1" name=""/>
        <p:cNvGrpSpPr/>
        <p:nvPr/>
      </p:nvGrpSpPr>
      <p:grpSpPr>
        <a:xfrm>
          <a:off x="0" y="0"/>
          <a:ext cx="0" cy="0"/>
          <a:chOff x="0" y="0"/>
          <a:chExt cx="0" cy="0"/>
        </a:xfrm>
      </p:grpSpPr>
      <p:sp>
        <p:nvSpPr>
          <p:cNvPr id="128"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79169E9D-D27A-4812-A78B-56F14ACF4351}"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29" name="Image 13"/>
          <p:cNvPicPr/>
          <p:nvPr/>
        </p:nvPicPr>
        <p:blipFill>
          <a:blip r:embed="rId2"/>
          <a:stretch/>
        </p:blipFill>
        <p:spPr>
          <a:xfrm>
            <a:off x="0" y="6076080"/>
            <a:ext cx="1999080" cy="799200"/>
          </a:xfrm>
          <a:prstGeom prst="rect">
            <a:avLst/>
          </a:prstGeom>
          <a:noFill/>
          <a:ln w="0">
            <a:noFill/>
          </a:ln>
        </p:spPr>
      </p:pic>
      <p:sp>
        <p:nvSpPr>
          <p:cNvPr id="130"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31"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32" name="PlaceHolder 1"/>
          <p:cNvSpPr>
            <a:spLocks noGrp="1"/>
          </p:cNvSpPr>
          <p:nvPr>
            <p:ph type="title"/>
          </p:nvPr>
        </p:nvSpPr>
        <p:spPr>
          <a:xfrm>
            <a:off x="742680" y="581760"/>
            <a:ext cx="4109040" cy="909000"/>
          </a:xfrm>
          <a:prstGeom prst="rect">
            <a:avLst/>
          </a:prstGeom>
          <a:noFill/>
          <a:ln w="0">
            <a:noFill/>
          </a:ln>
        </p:spPr>
        <p:txBody>
          <a:bodyPr lIns="0" tIns="46800" rIns="91440" bIns="45720" anchor="t">
            <a:normAutofit/>
          </a:bodyPr>
          <a:lstStyle>
            <a:lvl1pPr algn="l" defTabSz="914400">
              <a:lnSpc>
                <a:spcPct val="90000"/>
              </a:lnSpc>
              <a:buSzPct val="100017"/>
              <a:buBlip>
                <a:blip r:embed="rId3"/>
              </a:buBlip>
              <a:defRPr lang="fr-FR" sz="2400" b="1" u="none" strike="noStrike">
                <a:solidFill>
                  <a:srgbClr val="00A3A6"/>
                </a:solidFill>
                <a:effectLst/>
                <a:uFillTx/>
                <a:latin typeface="AvenirNext LT Pro MediumCn"/>
              </a:defRPr>
            </a:lvl1pPr>
          </a:lstStyle>
          <a:p>
            <a:pPr marL="457200" indent="-457200" algn="l" defTabSz="914400">
              <a:lnSpc>
                <a:spcPct val="90000"/>
              </a:lnSpc>
              <a:buSzPct val="100017"/>
              <a:buBlip>
                <a:blip r:embed="rId4"/>
              </a:buBlip>
            </a:pPr>
            <a:r>
              <a:rPr lang="fr-FR" sz="2400" b="1" u="none" strike="noStrike">
                <a:solidFill>
                  <a:srgbClr val="00A3A6"/>
                </a:solidFill>
                <a:effectLst/>
                <a:uFillTx/>
                <a:latin typeface="AvenirNext LT Pro MediumCn"/>
              </a:rPr>
              <a:t>Modifiez le style du titre</a:t>
            </a:r>
            <a:endParaRPr lang="fr-FR" sz="2400" b="1" u="none" strike="noStrike">
              <a:solidFill>
                <a:srgbClr val="00A3A6"/>
              </a:solidFill>
              <a:effectLst/>
              <a:uFillTx/>
              <a:latin typeface="AvenirNext LT Pro MediumCn"/>
            </a:endParaRPr>
          </a:p>
        </p:txBody>
      </p:sp>
      <p:sp>
        <p:nvSpPr>
          <p:cNvPr id="133" name="PlaceHolder 2"/>
          <p:cNvSpPr>
            <a:spLocks noGrp="1"/>
          </p:cNvSpPr>
          <p:nvPr>
            <p:ph type="body"/>
          </p:nvPr>
        </p:nvSpPr>
        <p:spPr>
          <a:xfrm>
            <a:off x="5183280" y="581760"/>
            <a:ext cx="6171120" cy="5061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A3A6"/>
              </a:buClr>
              <a:buFont typeface="Arial"/>
              <a:buChar char="•"/>
              <a:defRPr lang="fr-FR" sz="24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MediumCn"/>
              </a:defRPr>
            </a:lvl2pPr>
            <a:lvl3pPr lvl="2"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Next LT Pro MediumCn"/>
              </a:defRPr>
            </a:lvl3pPr>
            <a:lvl4pPr lvl="3"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ThinCn"/>
              </a:defRPr>
            </a:lvl4pPr>
            <a:lvl5pPr lvl="4"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Next LT Pro UltLightCn"/>
              </a:defRPr>
            </a:lvl5pPr>
          </a:lstStyle>
          <a:p>
            <a:pPr marL="228600" indent="-228600" algn="l" defTabSz="914400">
              <a:lnSpc>
                <a:spcPct val="90000"/>
              </a:lnSpc>
              <a:spcBef>
                <a:spcPts val="1001"/>
              </a:spcBef>
              <a:buClr>
                <a:srgbClr val="00A3A6"/>
              </a:buClr>
              <a:buFont typeface="Arial"/>
              <a:buChar char="•"/>
            </a:pPr>
            <a:r>
              <a:rPr lang="fr-FR" sz="2400" b="0" u="none" strike="noStrike">
                <a:solidFill>
                  <a:srgbClr val="00A3A6"/>
                </a:solidFill>
                <a:effectLst/>
                <a:uFillTx/>
                <a:latin typeface="AvenirNext LT Pro MediumCn"/>
              </a:rPr>
              <a:t>Modifier les styles du texte du masque</a:t>
            </a:r>
            <a:endParaRPr lang="fr-FR" sz="2400" b="0" u="none" strike="noStrike">
              <a:solidFill>
                <a:schemeClr val="dk1"/>
              </a:solidFill>
              <a:effectLst/>
              <a:uFillTx/>
              <a:latin typeface="AvenirNext LT Pro MediumCn"/>
            </a:endParaRPr>
          </a:p>
          <a:p>
            <a:pPr marL="685800" lvl="1"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MediumCn"/>
              </a:rPr>
              <a:t>Deuxième niveau</a:t>
            </a:r>
            <a:endParaRPr lang="fr-FR" sz="2000" b="0" u="none" strike="noStrike">
              <a:solidFill>
                <a:schemeClr val="dk1"/>
              </a:solidFill>
              <a:effectLst/>
              <a:uFillTx/>
              <a:latin typeface="AvenirNext LT Pro MediumCn"/>
            </a:endParaRPr>
          </a:p>
          <a:p>
            <a:pPr marL="1143000" lvl="2"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Next LT Pro MediumCn"/>
              </a:rPr>
              <a:t>Troisième niveau</a:t>
            </a:r>
            <a:endParaRPr lang="fr-FR" sz="2400" b="0" u="none" strike="noStrike">
              <a:solidFill>
                <a:schemeClr val="dk1"/>
              </a:solidFill>
              <a:effectLst/>
              <a:uFillTx/>
              <a:latin typeface="AvenirNext LT Pro MediumCn"/>
            </a:endParaRPr>
          </a:p>
          <a:p>
            <a:pPr marL="1600200" lvl="3"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ThinCn"/>
              </a:rPr>
              <a:t>Quatrième niveau</a:t>
            </a:r>
            <a:endParaRPr lang="fr-FR" sz="2000" b="0" u="none" strike="noStrike">
              <a:solidFill>
                <a:schemeClr val="dk1"/>
              </a:solidFill>
              <a:effectLst/>
              <a:uFillTx/>
              <a:latin typeface="AvenirNext LT Pro ThinCn"/>
            </a:endParaRPr>
          </a:p>
          <a:p>
            <a:pPr marL="2057400" lvl="4"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Next LT Pro UltLightCn"/>
              </a:rPr>
              <a:t>Cinquième niveau</a:t>
            </a:r>
            <a:endParaRPr lang="fr-FR" sz="2000" b="0" u="none" strike="noStrike">
              <a:solidFill>
                <a:schemeClr val="dk1"/>
              </a:solidFill>
              <a:effectLst/>
              <a:uFillTx/>
              <a:latin typeface="AvenirNext LT Pro UltLightCn"/>
            </a:endParaRPr>
          </a:p>
        </p:txBody>
      </p:sp>
      <p:sp>
        <p:nvSpPr>
          <p:cNvPr id="134" name="PlaceHolder 3"/>
          <p:cNvSpPr>
            <a:spLocks noGrp="1"/>
          </p:cNvSpPr>
          <p:nvPr>
            <p:ph type="body"/>
          </p:nvPr>
        </p:nvSpPr>
        <p:spPr>
          <a:xfrm>
            <a:off x="1112040" y="2593440"/>
            <a:ext cx="3739320" cy="304956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800" b="0" u="none" strike="noStrike">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fr-FR" sz="1800" b="0" u="none" strike="noStrike">
                <a:solidFill>
                  <a:schemeClr val="dk1"/>
                </a:solidFill>
                <a:effectLst/>
                <a:uFillTx/>
                <a:latin typeface="AvenirNext LT Pro MediumCn"/>
              </a:rPr>
              <a:t>Modifier les styles du texte du masque</a:t>
            </a:r>
            <a:endParaRPr lang="fr-FR" sz="1800" b="0" u="none" strike="noStrike">
              <a:solidFill>
                <a:schemeClr val="dk1"/>
              </a:solidFill>
              <a:effectLst/>
              <a:uFillTx/>
              <a:latin typeface="AvenirNext LT Pro MediumC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Image avec légende">
    <p:bg>
      <p:bgPr>
        <a:solidFill>
          <a:srgbClr val="FFFFFF"/>
        </a:solidFill>
      </p:bgPr>
    </p:bg>
    <p:spTree>
      <p:nvGrpSpPr>
        <p:cNvPr id="1" name=""/>
        <p:cNvGrpSpPr/>
        <p:nvPr/>
      </p:nvGrpSpPr>
      <p:grpSpPr>
        <a:xfrm>
          <a:off x="0" y="0"/>
          <a:ext cx="0" cy="0"/>
          <a:chOff x="0" y="0"/>
          <a:chExt cx="0" cy="0"/>
        </a:xfrm>
      </p:grpSpPr>
      <p:sp>
        <p:nvSpPr>
          <p:cNvPr id="135" name="ZoneTexte 12"/>
          <p:cNvSpPr/>
          <p:nvPr/>
        </p:nvSpPr>
        <p:spPr>
          <a:xfrm>
            <a:off x="9923040" y="6337800"/>
            <a:ext cx="2088000" cy="2757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8F18B76E-2165-4887-AD2E-15065AEA9AF7}"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36" name="Image 13"/>
          <p:cNvPicPr/>
          <p:nvPr/>
        </p:nvPicPr>
        <p:blipFill>
          <a:blip r:embed="rId2"/>
          <a:stretch/>
        </p:blipFill>
        <p:spPr>
          <a:xfrm>
            <a:off x="0" y="6076080"/>
            <a:ext cx="1999080" cy="799200"/>
          </a:xfrm>
          <a:prstGeom prst="rect">
            <a:avLst/>
          </a:prstGeom>
          <a:noFill/>
          <a:ln w="0">
            <a:noFill/>
          </a:ln>
        </p:spPr>
      </p:pic>
      <p:sp>
        <p:nvSpPr>
          <p:cNvPr id="137" name="ZoneTexte 14"/>
          <p:cNvSpPr/>
          <p:nvPr/>
        </p:nvSpPr>
        <p:spPr>
          <a:xfrm>
            <a:off x="1143000" y="634932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38" name="ZoneTexte 15"/>
          <p:cNvSpPr/>
          <p:nvPr/>
        </p:nvSpPr>
        <p:spPr>
          <a:xfrm>
            <a:off x="1143000" y="6533280"/>
            <a:ext cx="6715080" cy="25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26.03.26 / Julien Tap / fme.micalis.fr  </a:t>
            </a:r>
            <a:endParaRPr lang="fr-FR" sz="1000" b="0" u="none" strike="noStrike">
              <a:solidFill>
                <a:srgbClr val="000000"/>
              </a:solidFill>
              <a:effectLst/>
              <a:uFillTx/>
              <a:latin typeface="Arial"/>
            </a:endParaRPr>
          </a:p>
        </p:txBody>
      </p:sp>
      <p:sp>
        <p:nvSpPr>
          <p:cNvPr id="139" name="PlaceHolder 1"/>
          <p:cNvSpPr>
            <a:spLocks noGrp="1"/>
          </p:cNvSpPr>
          <p:nvPr>
            <p:ph type="body"/>
          </p:nvPr>
        </p:nvSpPr>
        <p:spPr>
          <a:xfrm>
            <a:off x="5183280" y="581760"/>
            <a:ext cx="6171120" cy="503640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fr-FR" sz="3200" b="0" u="none" strike="noStrike">
                <a:solidFill>
                  <a:schemeClr val="dk1"/>
                </a:solidFill>
                <a:effectLst/>
                <a:uFillTx/>
                <a:latin typeface="Calibri"/>
              </a:defRPr>
            </a:lvl1pPr>
          </a:lstStyle>
          <a:p>
            <a:pPr indent="0" algn="l" defTabSz="457200">
              <a:lnSpc>
                <a:spcPct val="100000"/>
              </a:lnSpc>
              <a:buNone/>
              <a:tabLst>
                <a:tab pos="0" algn="l"/>
              </a:tabLst>
            </a:pPr>
            <a:r>
              <a:rPr lang="fr-FR" sz="3200" b="0" u="none" strike="noStrike">
                <a:solidFill>
                  <a:schemeClr val="dk1"/>
                </a:solidFill>
                <a:effectLst/>
                <a:uFillTx/>
                <a:latin typeface="Calibri"/>
              </a:rPr>
              <a:t>Cliquez sur l'icône pour ajouter une image</a:t>
            </a:r>
            <a:endParaRPr lang="fr-FR" sz="3200" b="0" u="none" strike="noStrike">
              <a:solidFill>
                <a:schemeClr val="dk1"/>
              </a:solidFill>
              <a:effectLst/>
              <a:uFillTx/>
              <a:latin typeface="AvenirNext LT Pro MediumCn"/>
            </a:endParaRPr>
          </a:p>
        </p:txBody>
      </p:sp>
      <p:sp>
        <p:nvSpPr>
          <p:cNvPr id="140" name="PlaceHolder 2"/>
          <p:cNvSpPr>
            <a:spLocks noGrp="1"/>
          </p:cNvSpPr>
          <p:nvPr>
            <p:ph type="title"/>
          </p:nvPr>
        </p:nvSpPr>
        <p:spPr>
          <a:xfrm>
            <a:off x="742680" y="581760"/>
            <a:ext cx="4109040" cy="909000"/>
          </a:xfrm>
          <a:prstGeom prst="rect">
            <a:avLst/>
          </a:prstGeom>
          <a:noFill/>
          <a:ln w="0">
            <a:noFill/>
          </a:ln>
        </p:spPr>
        <p:txBody>
          <a:bodyPr lIns="0" tIns="46800" rIns="91440" bIns="45720" anchor="t">
            <a:normAutofit/>
          </a:bodyPr>
          <a:lstStyle>
            <a:lvl1pPr algn="l" defTabSz="914400">
              <a:lnSpc>
                <a:spcPct val="90000"/>
              </a:lnSpc>
              <a:buSzPct val="100017"/>
              <a:buBlip>
                <a:blip r:embed="rId3"/>
              </a:buBlip>
              <a:defRPr lang="fr-FR" sz="2400" b="1" u="none" strike="noStrike">
                <a:solidFill>
                  <a:srgbClr val="00A3A6"/>
                </a:solidFill>
                <a:effectLst/>
                <a:uFillTx/>
                <a:latin typeface="AvenirNext LT Pro MediumCn"/>
              </a:defRPr>
            </a:lvl1pPr>
          </a:lstStyle>
          <a:p>
            <a:pPr marL="457200" indent="-457200" algn="l" defTabSz="914400">
              <a:lnSpc>
                <a:spcPct val="90000"/>
              </a:lnSpc>
              <a:buSzPct val="100017"/>
              <a:buBlip>
                <a:blip r:embed="rId4"/>
              </a:buBlip>
            </a:pPr>
            <a:r>
              <a:rPr lang="fr-FR" sz="2400" b="1" u="none" strike="noStrike">
                <a:solidFill>
                  <a:srgbClr val="00A3A6"/>
                </a:solidFill>
                <a:effectLst/>
                <a:uFillTx/>
                <a:latin typeface="AvenirNext LT Pro MediumCn"/>
              </a:rPr>
              <a:t>Modifiez le style du titre</a:t>
            </a:r>
            <a:endParaRPr lang="fr-FR" sz="2400" b="1" u="none" strike="noStrike">
              <a:solidFill>
                <a:srgbClr val="00A3A6"/>
              </a:solidFill>
              <a:effectLst/>
              <a:uFillTx/>
              <a:latin typeface="AvenirNext LT Pro MediumCn"/>
            </a:endParaRPr>
          </a:p>
        </p:txBody>
      </p:sp>
      <p:sp>
        <p:nvSpPr>
          <p:cNvPr id="141" name="PlaceHolder 3"/>
          <p:cNvSpPr>
            <a:spLocks noGrp="1"/>
          </p:cNvSpPr>
          <p:nvPr>
            <p:ph type="body"/>
          </p:nvPr>
        </p:nvSpPr>
        <p:spPr>
          <a:xfrm>
            <a:off x="1112040" y="2593440"/>
            <a:ext cx="3739320" cy="304956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800" b="0" u="none" strike="noStrike">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fr-FR" sz="1800" b="0" u="none" strike="noStrike">
                <a:solidFill>
                  <a:schemeClr val="dk1"/>
                </a:solidFill>
                <a:effectLst/>
                <a:uFillTx/>
                <a:latin typeface="AvenirNext LT Pro MediumCn"/>
              </a:rPr>
              <a:t>Modifier les styles du texte du masque</a:t>
            </a:r>
            <a:endParaRPr lang="fr-FR" sz="1800" b="0" u="none" strike="noStrike">
              <a:solidFill>
                <a:schemeClr val="dk1"/>
              </a:solidFill>
              <a:effectLst/>
              <a:uFillTx/>
              <a:latin typeface="AvenirNext LT Pro MediumC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re seul">
    <p:bg>
      <p:bgPr>
        <a:solidFill>
          <a:srgbClr val="FFFFFF"/>
        </a:solidFill>
      </p:bgPr>
    </p:bg>
    <p:spTree>
      <p:nvGrpSpPr>
        <p:cNvPr id="1" name=""/>
        <p:cNvGrpSpPr/>
        <p:nvPr/>
      </p:nvGrpSpPr>
      <p:grpSpPr>
        <a:xfrm>
          <a:off x="0" y="0"/>
          <a:ext cx="0" cy="0"/>
          <a:chOff x="0" y="0"/>
          <a:chExt cx="0" cy="0"/>
        </a:xfrm>
      </p:grpSpPr>
      <p:sp>
        <p:nvSpPr>
          <p:cNvPr id="142" name="ZoneTexte 12"/>
          <p:cNvSpPr/>
          <p:nvPr/>
        </p:nvSpPr>
        <p:spPr>
          <a:xfrm>
            <a:off x="9923040" y="6337800"/>
            <a:ext cx="208836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E31A1B40-2316-43B8-9237-5E4D4968BBF5}"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43" name="Image 13"/>
          <p:cNvPicPr/>
          <p:nvPr/>
        </p:nvPicPr>
        <p:blipFill>
          <a:blip r:embed="rId2"/>
          <a:stretch/>
        </p:blipFill>
        <p:spPr>
          <a:xfrm>
            <a:off x="0" y="6076080"/>
            <a:ext cx="1999440" cy="799560"/>
          </a:xfrm>
          <a:prstGeom prst="rect">
            <a:avLst/>
          </a:prstGeom>
          <a:noFill/>
          <a:ln w="0">
            <a:noFill/>
          </a:ln>
        </p:spPr>
      </p:pic>
      <p:sp>
        <p:nvSpPr>
          <p:cNvPr id="144" name="ZoneTexte 14"/>
          <p:cNvSpPr/>
          <p:nvPr/>
        </p:nvSpPr>
        <p:spPr>
          <a:xfrm>
            <a:off x="1143000" y="634932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Human Gut Microbiome Data at Scale – APC Microbiome</a:t>
            </a:r>
            <a:endParaRPr lang="fr-FR" sz="1000" b="0" u="none" strike="noStrike">
              <a:solidFill>
                <a:srgbClr val="000000"/>
              </a:solidFill>
              <a:effectLst/>
              <a:uFillTx/>
              <a:latin typeface="Arial"/>
            </a:endParaRPr>
          </a:p>
        </p:txBody>
      </p:sp>
      <p:sp>
        <p:nvSpPr>
          <p:cNvPr id="145" name="ZoneTexte 15"/>
          <p:cNvSpPr/>
          <p:nvPr/>
        </p:nvSpPr>
        <p:spPr>
          <a:xfrm>
            <a:off x="1143000" y="653328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25.03.25 / Julien Tap / fme.micalis.fr  </a:t>
            </a:r>
            <a:endParaRPr lang="fr-FR" sz="1000" b="0" u="none" strike="noStrike">
              <a:solidFill>
                <a:srgbClr val="000000"/>
              </a:solidFill>
              <a:effectLst/>
              <a:uFillTx/>
              <a:latin typeface="Arial"/>
            </a:endParaRPr>
          </a:p>
        </p:txBody>
      </p:sp>
      <p:sp>
        <p:nvSpPr>
          <p:cNvPr id="146" name="PlaceHolder 1"/>
          <p:cNvSpPr>
            <a:spLocks noGrp="1"/>
          </p:cNvSpPr>
          <p:nvPr>
            <p:ph type="title"/>
          </p:nvPr>
        </p:nvSpPr>
        <p:spPr>
          <a:xfrm>
            <a:off x="743040" y="149760"/>
            <a:ext cx="10215720" cy="887400"/>
          </a:xfrm>
          <a:prstGeom prst="rect">
            <a:avLst/>
          </a:prstGeom>
          <a:noFill/>
          <a:ln w="0">
            <a:noFill/>
          </a:ln>
        </p:spPr>
        <p:txBody>
          <a:bodyPr lIns="0" tIns="46800" rIns="91440" bIns="45720" anchor="ctr">
            <a:normAutofit/>
          </a:bodyPr>
          <a:lstStyle>
            <a:lvl1pPr algn="l" defTabSz="914400">
              <a:lnSpc>
                <a:spcPct val="90000"/>
              </a:lnSpc>
              <a:buSzPct val="100054"/>
              <a:buBlip>
                <a:blip r:embed="rId3"/>
              </a:buBlip>
              <a:defRPr lang="fr-FR"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fr-FR" sz="3000" b="1" u="none" strike="noStrike">
                <a:solidFill>
                  <a:srgbClr val="00A3A6"/>
                </a:solidFill>
                <a:effectLst/>
                <a:uFillTx/>
                <a:latin typeface="AvenirNext LT Pro MediumCn"/>
              </a:rPr>
              <a:t>Modifiez le style du titre</a:t>
            </a:r>
            <a:endParaRPr lang="fr-FR" sz="3000" b="1" u="none" strike="noStrike">
              <a:solidFill>
                <a:srgbClr val="00A3A6"/>
              </a:solidFill>
              <a:effectLst/>
              <a:uFillTx/>
              <a:latin typeface="AvenirNext LT Pro MediumCn"/>
            </a:endParaRPr>
          </a:p>
        </p:txBody>
      </p:sp>
      <p:sp>
        <p:nvSpPr>
          <p:cNvPr id="147"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A3A6"/>
              </a:buClr>
              <a:buFont typeface="Arial"/>
              <a:buChar char="•"/>
              <a:defRPr lang="en-US" sz="2600" b="0" u="none" strike="noStrike">
                <a:solidFill>
                  <a:srgbClr val="00A3A6"/>
                </a:solidFill>
                <a:effectLst/>
                <a:uFillTx/>
                <a:latin typeface="AvenirNext LT Pro MediumCn"/>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venirNext LT Pro MediumCn"/>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venirNext LT Pro MediumCn"/>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venirNext LT Pro ThinCn"/>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venirNext LT Pro UltLightCn"/>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venirNext LT Pro UltLightCn"/>
              </a:defRPr>
            </a:lvl7pPr>
          </a:lstStyle>
          <a:p>
            <a:pPr marL="228600" indent="-228600" algn="l" defTabSz="914400">
              <a:lnSpc>
                <a:spcPct val="90000"/>
              </a:lnSpc>
              <a:spcBef>
                <a:spcPts val="1001"/>
              </a:spcBef>
              <a:buClr>
                <a:srgbClr val="00A3A6"/>
              </a:buClr>
              <a:buFont typeface="Arial"/>
              <a:buChar char="•"/>
            </a:pPr>
            <a:r>
              <a:rPr lang="en-US" sz="2600" b="0" u="none" strike="noStrike">
                <a:solidFill>
                  <a:srgbClr val="00A3A6"/>
                </a:solidFill>
                <a:effectLst/>
                <a:uFillTx/>
                <a:latin typeface="AvenirNext LT Pro MediumCn"/>
              </a:rPr>
              <a:t>Cliquez pour éditer le format du plan de texte</a:t>
            </a:r>
            <a:endParaRPr lang="en-US" sz="2600" b="0" u="none" strike="noStrike">
              <a:solidFill>
                <a:srgbClr val="00A3A6"/>
              </a:solidFill>
              <a:effectLst/>
              <a:uFillTx/>
              <a:latin typeface="AvenirNext LT Pro MediumCn"/>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venirNext LT Pro MediumCn"/>
              </a:rPr>
              <a:t>Second niveau de plan</a:t>
            </a:r>
            <a:endParaRPr lang="en-US" sz="2400" b="0" u="none" strike="noStrike">
              <a:solidFill>
                <a:schemeClr val="dk1"/>
              </a:solidFill>
              <a:effectLst/>
              <a:uFillTx/>
              <a:latin typeface="AvenirNext LT Pro MediumCn"/>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venirNext LT Pro MediumCn"/>
              </a:rPr>
              <a:t>Troisième niveau de plan</a:t>
            </a:r>
            <a:endParaRPr lang="en-US" sz="2000" b="0" u="none" strike="noStrike">
              <a:solidFill>
                <a:schemeClr val="dk1"/>
              </a:solidFill>
              <a:effectLst/>
              <a:uFillTx/>
              <a:latin typeface="AvenirNext LT Pro MediumCn"/>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venirNext LT Pro ThinCn"/>
              </a:rPr>
              <a:t>Quatrième niveau de plan</a:t>
            </a:r>
            <a:endParaRPr lang="en-US" sz="1800" b="0" u="none" strike="noStrike">
              <a:solidFill>
                <a:schemeClr val="dk1"/>
              </a:solidFill>
              <a:effectLst/>
              <a:uFillTx/>
              <a:latin typeface="AvenirNext LT Pro ThinCn"/>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venirNext LT Pro UltLightCn"/>
              </a:rPr>
              <a:t>Cinquième niveau de plan</a:t>
            </a:r>
            <a:endParaRPr lang="en-US" sz="1800" b="0" u="none" strike="noStrike">
              <a:solidFill>
                <a:schemeClr val="dk1"/>
              </a:solidFill>
              <a:effectLst/>
              <a:uFillTx/>
              <a:latin typeface="AvenirNext LT Pro UltLightCn"/>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Sixième niveau de plan</a:t>
            </a:r>
            <a:endParaRPr lang="en-US" sz="2000" b="0" u="none" strike="noStrike">
              <a:solidFill>
                <a:schemeClr val="dk1"/>
              </a:solidFill>
              <a:effectLst/>
              <a:uFillTx/>
              <a:latin typeface="AvenirNext LT Pro UltLightCn"/>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venirNext LT Pro UltLightCn"/>
              </a:rPr>
              <a:t>Septième niveau de plan</a:t>
            </a:r>
            <a:endParaRPr lang="en-US" sz="2000" b="0" u="none" strike="noStrike">
              <a:solidFill>
                <a:schemeClr val="dk1"/>
              </a:solidFill>
              <a:effectLst/>
              <a:uFillTx/>
              <a:latin typeface="AvenirNext LT Pro UltLightC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Content and illustration">
    <p:bg>
      <p:bgPr>
        <a:solidFill>
          <a:srgbClr val="FFFFFF"/>
        </a:solidFill>
      </p:bgPr>
    </p:bg>
    <p:spTree>
      <p:nvGrpSpPr>
        <p:cNvPr id="1" name=""/>
        <p:cNvGrpSpPr/>
        <p:nvPr/>
      </p:nvGrpSpPr>
      <p:grpSpPr>
        <a:xfrm>
          <a:off x="0" y="0"/>
          <a:ext cx="0" cy="0"/>
          <a:chOff x="0" y="0"/>
          <a:chExt cx="0" cy="0"/>
        </a:xfrm>
      </p:grpSpPr>
      <p:sp>
        <p:nvSpPr>
          <p:cNvPr id="148" name="ZoneTexte 12"/>
          <p:cNvSpPr/>
          <p:nvPr/>
        </p:nvSpPr>
        <p:spPr>
          <a:xfrm>
            <a:off x="9923040" y="6337800"/>
            <a:ext cx="208836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9A632EE1-A7D7-48DD-8587-FC222D992BCA}"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49" name="Image 13"/>
          <p:cNvPicPr/>
          <p:nvPr/>
        </p:nvPicPr>
        <p:blipFill>
          <a:blip r:embed="rId2"/>
          <a:stretch/>
        </p:blipFill>
        <p:spPr>
          <a:xfrm>
            <a:off x="0" y="6076080"/>
            <a:ext cx="1999440" cy="799560"/>
          </a:xfrm>
          <a:prstGeom prst="rect">
            <a:avLst/>
          </a:prstGeom>
          <a:noFill/>
          <a:ln w="0">
            <a:noFill/>
          </a:ln>
        </p:spPr>
      </p:pic>
      <p:sp>
        <p:nvSpPr>
          <p:cNvPr id="150" name="ZoneTexte 14"/>
          <p:cNvSpPr/>
          <p:nvPr/>
        </p:nvSpPr>
        <p:spPr>
          <a:xfrm>
            <a:off x="1143000" y="634932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Human Gut Microbiome Data at Scale – KU Leuven</a:t>
            </a:r>
            <a:endParaRPr lang="fr-FR" sz="1000" b="0" u="none" strike="noStrike">
              <a:solidFill>
                <a:srgbClr val="000000"/>
              </a:solidFill>
              <a:effectLst/>
              <a:uFillTx/>
              <a:latin typeface="Arial"/>
            </a:endParaRPr>
          </a:p>
        </p:txBody>
      </p:sp>
      <p:sp>
        <p:nvSpPr>
          <p:cNvPr id="151" name="ZoneTexte 15"/>
          <p:cNvSpPr/>
          <p:nvPr/>
        </p:nvSpPr>
        <p:spPr>
          <a:xfrm>
            <a:off x="1143000" y="653328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25.03.25 / Julien Tap / fme.micalis.fr  </a:t>
            </a:r>
            <a:endParaRPr lang="fr-FR" sz="1000" b="0" u="none" strike="noStrike">
              <a:solidFill>
                <a:srgbClr val="000000"/>
              </a:solidFill>
              <a:effectLst/>
              <a:uFillTx/>
              <a:latin typeface="Arial"/>
            </a:endParaRPr>
          </a:p>
        </p:txBody>
      </p:sp>
      <p:sp>
        <p:nvSpPr>
          <p:cNvPr id="152" name="PlaceHolder 1"/>
          <p:cNvSpPr>
            <a:spLocks noGrp="1"/>
          </p:cNvSpPr>
          <p:nvPr>
            <p:ph type="dt" idx="16"/>
          </p:nvPr>
        </p:nvSpPr>
        <p:spPr>
          <a:xfrm>
            <a:off x="513720" y="6586920"/>
            <a:ext cx="4114080" cy="18396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GB" sz="1800" b="0" u="none" strike="noStrike">
                <a:solidFill>
                  <a:schemeClr val="dk1"/>
                </a:solidFill>
                <a:effectLst/>
                <a:uFillTx/>
                <a:latin typeface="Calibri"/>
              </a:defRPr>
            </a:lvl1pPr>
          </a:lstStyle>
          <a:p>
            <a:pPr indent="0" algn="l" defTabSz="457200">
              <a:lnSpc>
                <a:spcPct val="100000"/>
              </a:lnSpc>
              <a:buNone/>
              <a:tabLst>
                <a:tab pos="0" algn="l"/>
              </a:tabLst>
            </a:pPr>
            <a:r>
              <a:rPr lang="en-GB" sz="1800" b="0" u="none" strike="noStrike">
                <a:solidFill>
                  <a:schemeClr val="dk1"/>
                </a:solidFill>
                <a:effectLst/>
                <a:uFillTx/>
                <a:latin typeface="Calibri"/>
              </a:rPr>
              <a:t>&lt;date/heure&gt;</a:t>
            </a:r>
            <a:endParaRPr lang="fr-FR" sz="1800" b="0" u="none" strike="noStrike">
              <a:solidFill>
                <a:srgbClr val="000000"/>
              </a:solidFill>
              <a:effectLst/>
              <a:uFillTx/>
              <a:latin typeface="Times New Roman"/>
            </a:endParaRPr>
          </a:p>
        </p:txBody>
      </p:sp>
      <p:sp>
        <p:nvSpPr>
          <p:cNvPr id="153" name="PlaceHolder 2"/>
          <p:cNvSpPr>
            <a:spLocks noGrp="1"/>
          </p:cNvSpPr>
          <p:nvPr>
            <p:ph type="ftr" idx="17"/>
          </p:nvPr>
        </p:nvSpPr>
        <p:spPr>
          <a:xfrm>
            <a:off x="513720" y="6458400"/>
            <a:ext cx="4114080" cy="13140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Calibri"/>
              </a:defRPr>
            </a:lvl1pPr>
          </a:lstStyle>
          <a:p>
            <a:pPr indent="0" algn="l" defTabSz="457200">
              <a:lnSpc>
                <a:spcPct val="100000"/>
              </a:lnSpc>
              <a:buNone/>
              <a:tabLst>
                <a:tab pos="0" algn="l"/>
              </a:tabLst>
            </a:pPr>
            <a:r>
              <a:rPr lang="en-US" sz="1800" b="0" u="none" strike="noStrike">
                <a:solidFill>
                  <a:schemeClr val="dk1"/>
                </a:solidFill>
                <a:effectLst/>
                <a:uFillTx/>
                <a:latin typeface="Calibri"/>
              </a:rPr>
              <a:t>&lt;pied de page&gt;</a:t>
            </a:r>
            <a:endParaRPr lang="fr-FR" sz="1800" b="0" u="none" strike="noStrike">
              <a:solidFill>
                <a:srgbClr val="000000"/>
              </a:solidFill>
              <a:effectLst/>
              <a:uFillTx/>
              <a:latin typeface="Times New Roman"/>
            </a:endParaRPr>
          </a:p>
        </p:txBody>
      </p:sp>
      <p:sp>
        <p:nvSpPr>
          <p:cNvPr id="154" name="PlaceHolder 3"/>
          <p:cNvSpPr>
            <a:spLocks noGrp="1"/>
          </p:cNvSpPr>
          <p:nvPr>
            <p:ph type="sldNum" idx="18"/>
          </p:nvPr>
        </p:nvSpPr>
        <p:spPr>
          <a:xfrm>
            <a:off x="11255040" y="400680"/>
            <a:ext cx="434880" cy="12780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2"/>
                </a:solidFill>
                <a:effectLst/>
                <a:uFillTx/>
                <a:latin typeface="Calibri"/>
              </a:defRPr>
            </a:lvl1pPr>
          </a:lstStyle>
          <a:p>
            <a:pPr indent="0" algn="l" defTabSz="457200">
              <a:lnSpc>
                <a:spcPct val="100000"/>
              </a:lnSpc>
              <a:buNone/>
              <a:tabLst>
                <a:tab pos="0" algn="l"/>
              </a:tabLst>
            </a:pPr>
            <a:fld id="{7A4F76AE-B4C1-4EE7-B522-17041B870C45}" type="slidenum">
              <a:rPr lang="en-US" sz="1800" b="0" u="none" strike="noStrike">
                <a:solidFill>
                  <a:schemeClr val="dk2"/>
                </a:solidFill>
                <a:effectLst/>
                <a:uFillTx/>
                <a:latin typeface="Calibri"/>
              </a:rPr>
              <a:t>&lt;numéro&gt;</a:t>
            </a:fld>
            <a:endParaRPr lang="fr-FR" sz="1800" b="0" u="none" strike="noStrike">
              <a:solidFill>
                <a:srgbClr val="000000"/>
              </a:solidFill>
              <a:effectLst/>
              <a:uFillTx/>
              <a:latin typeface="Times New Roman"/>
            </a:endParaRPr>
          </a:p>
        </p:txBody>
      </p:sp>
      <p:sp>
        <p:nvSpPr>
          <p:cNvPr id="155" name="PlaceHolder 4"/>
          <p:cNvSpPr>
            <a:spLocks noGrp="1"/>
          </p:cNvSpPr>
          <p:nvPr>
            <p:ph type="title"/>
          </p:nvPr>
        </p:nvSpPr>
        <p:spPr>
          <a:xfrm>
            <a:off x="700200" y="42840"/>
            <a:ext cx="10283760" cy="772920"/>
          </a:xfrm>
          <a:prstGeom prst="rect">
            <a:avLst/>
          </a:prstGeom>
          <a:noFill/>
          <a:ln w="0">
            <a:noFill/>
          </a:ln>
        </p:spPr>
        <p:txBody>
          <a:bodyPr lIns="0" tIns="46800" rIns="91440" bIns="45720" anchor="ctr">
            <a:noAutofit/>
          </a:bodyPr>
          <a:lstStyle>
            <a:lvl1pPr algn="l" defTabSz="914400">
              <a:lnSpc>
                <a:spcPct val="90000"/>
              </a:lnSpc>
              <a:buSzPct val="100054"/>
              <a:buBlip>
                <a:blip r:embed="rId3"/>
              </a:buBlip>
              <a:defRPr lang="en-US" sz="3000" b="1" u="none" strike="noStrike">
                <a:solidFill>
                  <a:srgbClr val="00A3A6"/>
                </a:solidFill>
                <a:effectLst/>
                <a:uFillTx/>
                <a:latin typeface="AvenirNext LT Pro MediumCn"/>
              </a:defRPr>
            </a:lvl1pPr>
          </a:lstStyle>
          <a:p>
            <a:pPr marL="457200" indent="-457200" algn="l" defTabSz="914400">
              <a:lnSpc>
                <a:spcPct val="90000"/>
              </a:lnSpc>
              <a:buSzPct val="100054"/>
              <a:buBlip>
                <a:blip r:embed="rId4"/>
              </a:buBlip>
            </a:pPr>
            <a:r>
              <a:rPr lang="en-US" sz="3000" b="1" u="none" strike="noStrike">
                <a:solidFill>
                  <a:srgbClr val="00A3A6"/>
                </a:solidFill>
                <a:effectLst/>
                <a:uFillTx/>
                <a:latin typeface="AvenirNext LT Pro MediumCn"/>
              </a:rPr>
              <a:t>GRAPHIC ELEMENTS AT YOUR DISPOSAL</a:t>
            </a:r>
            <a:endParaRPr lang="en-US" sz="3000" b="1" u="none" strike="noStrike">
              <a:solidFill>
                <a:srgbClr val="00A3A6"/>
              </a:solidFill>
              <a:effectLst/>
              <a:uFillTx/>
              <a:latin typeface="AvenirNext LT Pro MediumCn"/>
            </a:endParaRPr>
          </a:p>
        </p:txBody>
      </p:sp>
      <p:sp>
        <p:nvSpPr>
          <p:cNvPr id="156" name="PlaceHolder 5"/>
          <p:cNvSpPr>
            <a:spLocks noGrp="1"/>
          </p:cNvSpPr>
          <p:nvPr>
            <p:ph type="body"/>
          </p:nvPr>
        </p:nvSpPr>
        <p:spPr>
          <a:xfrm>
            <a:off x="700200" y="814320"/>
            <a:ext cx="10285560" cy="6001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800" b="0" u="none" strike="noStrike" cap="all">
                <a:solidFill>
                  <a:schemeClr val="dk1"/>
                </a:solidFill>
                <a:effectLst/>
                <a:uFillTx/>
                <a:latin typeface="AvenirNext LT Pro MediumCn"/>
              </a:defRPr>
            </a:lvl1pPr>
          </a:lstStyle>
          <a:p>
            <a:pPr indent="0" algn="l" defTabSz="914400">
              <a:lnSpc>
                <a:spcPct val="90000"/>
              </a:lnSpc>
              <a:spcBef>
                <a:spcPts val="1001"/>
              </a:spcBef>
              <a:buNone/>
              <a:tabLst>
                <a:tab pos="0" algn="l"/>
              </a:tabLst>
            </a:pPr>
            <a:r>
              <a:rPr lang="en-US" sz="1800" b="0" u="none" strike="noStrike" cap="all">
                <a:solidFill>
                  <a:schemeClr val="dk1"/>
                </a:solidFill>
                <a:effectLst/>
                <a:uFillTx/>
                <a:latin typeface="AvenirNext LT Pro MediumCn"/>
              </a:rPr>
              <a:t>SUBHEADING IN Calibri REGULAR 18PT</a:t>
            </a:r>
            <a:endParaRPr lang="en-US" sz="1800" b="0" u="none" strike="noStrike">
              <a:solidFill>
                <a:schemeClr val="dk1"/>
              </a:solidFill>
              <a:effectLst/>
              <a:uFillTx/>
              <a:latin typeface="AvenirNext LT Pro MediumCn"/>
            </a:endParaRPr>
          </a:p>
        </p:txBody>
      </p:sp>
      <p:sp>
        <p:nvSpPr>
          <p:cNvPr id="157" name="PlaceHolder 6"/>
          <p:cNvSpPr>
            <a:spLocks noGrp="1"/>
          </p:cNvSpPr>
          <p:nvPr>
            <p:ph type="body"/>
          </p:nvPr>
        </p:nvSpPr>
        <p:spPr>
          <a:xfrm>
            <a:off x="700200" y="1506240"/>
            <a:ext cx="10283760" cy="4342680"/>
          </a:xfrm>
          <a:prstGeom prst="rect">
            <a:avLst/>
          </a:prstGeom>
          <a:noFill/>
          <a:ln w="0">
            <a:noFill/>
          </a:ln>
        </p:spPr>
        <p:txBody>
          <a:bodyPr lIns="91440" tIns="45720" rIns="91440" bIns="45720" anchor="t">
            <a:noAutofit/>
          </a:bodyPr>
          <a:lstStyle>
            <a:lvl1pPr lvl="2" algn="l" defTabSz="914400">
              <a:lnSpc>
                <a:spcPct val="110000"/>
              </a:lnSpc>
              <a:buClr>
                <a:srgbClr val="000000"/>
              </a:buClr>
              <a:buFont typeface="Arial"/>
              <a:buChar char="•"/>
              <a:tabLst>
                <a:tab pos="0" algn="l"/>
              </a:tabLst>
              <a:defRPr lang="en-US" sz="2400" b="0" u="none" strike="noStrike">
                <a:solidFill>
                  <a:schemeClr val="dk1"/>
                </a:solidFill>
                <a:effectLst/>
                <a:uFillTx/>
                <a:latin typeface="AvenirNext LT Pro MediumCn"/>
              </a:defRPr>
            </a:lvl1pPr>
          </a:lstStyle>
          <a:p>
            <a:pPr marL="1143000" lvl="2" indent="-228600" algn="l" defTabSz="914400">
              <a:lnSpc>
                <a:spcPct val="110000"/>
              </a:lnSpc>
              <a:buClr>
                <a:srgbClr val="000000"/>
              </a:buClr>
              <a:buFont typeface="Arial"/>
              <a:buChar char="•"/>
              <a:tabLst>
                <a:tab pos="0" algn="l"/>
              </a:tabLst>
            </a:pPr>
            <a:r>
              <a:rPr lang="en-US" sz="2400" b="0" u="none" strike="noStrike">
                <a:solidFill>
                  <a:schemeClr val="dk1"/>
                </a:solidFill>
                <a:effectLst/>
                <a:uFillTx/>
                <a:latin typeface="AvenirNext LT Pro MediumCn"/>
              </a:rPr>
              <a:t>Heading level 3 Calibri Bold 23pt</a:t>
            </a:r>
            <a:endParaRPr lang="en-US" sz="2400" b="0" u="none" strike="noStrike">
              <a:solidFill>
                <a:schemeClr val="dk1"/>
              </a:solidFill>
              <a:effectLst/>
              <a:uFillTx/>
              <a:latin typeface="AvenirNext LT Pro MediumC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Page classique">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8.xml"/><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ZoneTexte 12"/>
          <p:cNvSpPr/>
          <p:nvPr/>
        </p:nvSpPr>
        <p:spPr>
          <a:xfrm>
            <a:off x="9923040" y="6337800"/>
            <a:ext cx="208836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fr-FR" sz="1200" b="0" u="none" strike="noStrike">
                <a:solidFill>
                  <a:srgbClr val="00A3A6"/>
                </a:solidFill>
                <a:effectLst/>
                <a:uFillTx/>
                <a:latin typeface="Raleway"/>
              </a:rPr>
              <a:t>p. </a:t>
            </a:r>
            <a:fld id="{42D07E13-6837-4588-815A-1B90EE5B4F54}" type="slidenum">
              <a:rPr lang="fr-FR" sz="1200" b="0" u="none" strike="noStrike">
                <a:solidFill>
                  <a:srgbClr val="00A3A6"/>
                </a:solidFill>
                <a:effectLst/>
                <a:uFillTx/>
                <a:latin typeface="Raleway"/>
              </a:rPr>
              <a:t>&lt;numéro&gt;</a:t>
            </a:fld>
            <a:endParaRPr lang="fr-FR" sz="1200" b="0" u="none" strike="noStrike">
              <a:solidFill>
                <a:srgbClr val="000000"/>
              </a:solidFill>
              <a:effectLst/>
              <a:uFillTx/>
              <a:latin typeface="Arial"/>
            </a:endParaRPr>
          </a:p>
        </p:txBody>
      </p:sp>
      <p:pic>
        <p:nvPicPr>
          <p:cNvPr id="159" name="Image 13"/>
          <p:cNvPicPr/>
          <p:nvPr/>
        </p:nvPicPr>
        <p:blipFill>
          <a:blip r:embed="rId2"/>
          <a:stretch/>
        </p:blipFill>
        <p:spPr>
          <a:xfrm>
            <a:off x="0" y="6076080"/>
            <a:ext cx="1999440" cy="799560"/>
          </a:xfrm>
          <a:prstGeom prst="rect">
            <a:avLst/>
          </a:prstGeom>
          <a:noFill/>
          <a:ln w="0">
            <a:noFill/>
          </a:ln>
        </p:spPr>
      </p:pic>
      <p:sp>
        <p:nvSpPr>
          <p:cNvPr id="160" name="ZoneTexte 14"/>
          <p:cNvSpPr/>
          <p:nvPr/>
        </p:nvSpPr>
        <p:spPr>
          <a:xfrm>
            <a:off x="1143000" y="635076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75662"/>
                </a:solidFill>
                <a:effectLst/>
                <a:uFillTx/>
                <a:latin typeface="AvenirNext LT Pro MediumCn"/>
              </a:rPr>
              <a:t>Food and Human Gut Microbiome Data at Scale – KU Leuven</a:t>
            </a:r>
            <a:endParaRPr lang="fr-FR" sz="1000" b="0" u="none" strike="noStrike">
              <a:solidFill>
                <a:srgbClr val="000000"/>
              </a:solidFill>
              <a:effectLst/>
              <a:uFillTx/>
              <a:latin typeface="Arial"/>
            </a:endParaRPr>
          </a:p>
        </p:txBody>
      </p:sp>
      <p:sp>
        <p:nvSpPr>
          <p:cNvPr id="161" name="ZoneTexte 15"/>
          <p:cNvSpPr/>
          <p:nvPr/>
        </p:nvSpPr>
        <p:spPr>
          <a:xfrm>
            <a:off x="1143000" y="6533280"/>
            <a:ext cx="671544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000" b="0" u="none" strike="noStrike">
                <a:solidFill>
                  <a:srgbClr val="00A3A6"/>
                </a:solidFill>
                <a:effectLst/>
                <a:uFillTx/>
                <a:latin typeface="AvenirNext LT Pro UltLightCn"/>
              </a:rPr>
              <a:t>26.10.21 / Julien Tap</a:t>
            </a:r>
            <a:endParaRPr lang="fr-FR" sz="1000" b="0" u="none" strike="noStrike">
              <a:solidFill>
                <a:srgbClr val="000000"/>
              </a:solidFill>
              <a:effectLst/>
              <a:uFillTx/>
              <a:latin typeface="Arial"/>
            </a:endParaRPr>
          </a:p>
        </p:txBody>
      </p:sp>
      <p:sp>
        <p:nvSpPr>
          <p:cNvPr id="1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fr-FR" sz="3000" b="1" u="none" strike="noStrike">
                <a:solidFill>
                  <a:srgbClr val="00A3A6"/>
                </a:solidFill>
                <a:effectLst/>
                <a:uFillTx/>
                <a:latin typeface="AvenirNext LT Pro MediumCn"/>
              </a:defRPr>
            </a:lvl1pPr>
          </a:lstStyle>
          <a:p>
            <a:pPr indent="0" algn="l" defTabSz="914400">
              <a:lnSpc>
                <a:spcPct val="90000"/>
              </a:lnSpc>
              <a:buNone/>
            </a:pPr>
            <a:r>
              <a:rPr lang="fr-FR" sz="3000" b="1" u="none" strike="noStrike">
                <a:solidFill>
                  <a:srgbClr val="00A3A6"/>
                </a:solidFill>
                <a:effectLst/>
                <a:uFillTx/>
                <a:latin typeface="AvenirNext LT Pro MediumCn"/>
              </a:rPr>
              <a:t>Cliquez pour éditer le format du texte-titre</a:t>
            </a:r>
            <a:endParaRPr lang="fr-FR" sz="3000" b="1" u="none" strike="noStrike">
              <a:solidFill>
                <a:srgbClr val="00A3A6"/>
              </a:solidFill>
              <a:effectLst/>
              <a:uFillTx/>
              <a:latin typeface="AvenirNext LT Pro MediumCn"/>
            </a:endParaRPr>
          </a:p>
        </p:txBody>
      </p:sp>
      <p:sp>
        <p:nvSpPr>
          <p:cNvPr id="16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ct val="90000"/>
              </a:lnSpc>
              <a:spcBef>
                <a:spcPts val="1001"/>
              </a:spcBef>
              <a:tabLst>
                <a:tab pos="0" algn="l"/>
              </a:tabLst>
              <a:defRPr lang="fr-FR" sz="1600" b="0" u="none" strike="noStrike">
                <a:solidFill>
                  <a:schemeClr val="dk1"/>
                </a:solidFill>
                <a:effectLst/>
                <a:uFillTx/>
                <a:latin typeface="AvenirNext LT Pro MediumCn"/>
              </a:defRPr>
            </a:lvl1pPr>
            <a:lvl2pPr lvl="1" algn="l" defTabSz="914400">
              <a:lnSpc>
                <a:spcPct val="90000"/>
              </a:lnSpc>
              <a:spcBef>
                <a:spcPts val="1134"/>
              </a:spcBef>
              <a:buClr>
                <a:srgbClr val="000000"/>
              </a:buClr>
              <a:buSzPct val="75000"/>
              <a:buFont typeface="Symbol" charset="2"/>
              <a:buChar char=""/>
              <a:tabLst>
                <a:tab pos="0" algn="l"/>
              </a:tabLst>
              <a:defRPr lang="fr-FR" sz="2800" b="0" u="none" strike="noStrike">
                <a:solidFill>
                  <a:schemeClr val="dk1"/>
                </a:solidFill>
                <a:effectLst/>
                <a:uFillTx/>
                <a:latin typeface="AvenirNext LT Pro MediumCn"/>
              </a:defRPr>
            </a:lvl2pPr>
            <a:lvl3pPr lvl="2" algn="l" defTabSz="914400">
              <a:lnSpc>
                <a:spcPct val="90000"/>
              </a:lnSpc>
              <a:spcBef>
                <a:spcPts val="850"/>
              </a:spcBef>
              <a:buClr>
                <a:srgbClr val="000000"/>
              </a:buClr>
              <a:buSzPct val="45000"/>
              <a:buFont typeface="Wingdings" charset="2"/>
              <a:buChar char=""/>
              <a:tabLst>
                <a:tab pos="0" algn="l"/>
              </a:tabLst>
              <a:defRPr lang="fr-FR" sz="2400" b="0" u="none" strike="noStrike">
                <a:solidFill>
                  <a:schemeClr val="dk1"/>
                </a:solidFill>
                <a:effectLst/>
                <a:uFillTx/>
                <a:latin typeface="AvenirNext LT Pro MediumCn"/>
              </a:defRPr>
            </a:lvl3pPr>
            <a:lvl4pPr lvl="3" algn="l" defTabSz="914400">
              <a:lnSpc>
                <a:spcPct val="90000"/>
              </a:lnSpc>
              <a:spcBef>
                <a:spcPts val="567"/>
              </a:spcBef>
              <a:buClr>
                <a:srgbClr val="000000"/>
              </a:buClr>
              <a:buSzPct val="75000"/>
              <a:buFont typeface="Symbol" charset="2"/>
              <a:buChar char=""/>
              <a:tabLst>
                <a:tab pos="0" algn="l"/>
              </a:tabLst>
              <a:defRPr lang="fr-FR" sz="2000" b="0" u="none" strike="noStrike">
                <a:solidFill>
                  <a:schemeClr val="dk1"/>
                </a:solidFill>
                <a:effectLst/>
                <a:uFillTx/>
                <a:latin typeface="AvenirNext LT Pro MediumCn"/>
              </a:defRPr>
            </a:lvl4pPr>
            <a:lvl5pPr lvl="4" algn="l" defTabSz="914400">
              <a:lnSpc>
                <a:spcPct val="90000"/>
              </a:lnSpc>
              <a:spcBef>
                <a:spcPts val="283"/>
              </a:spcBef>
              <a:buClr>
                <a:srgbClr val="000000"/>
              </a:buClr>
              <a:buSzPct val="45000"/>
              <a:buFont typeface="Wingdings" charset="2"/>
              <a:buChar char=""/>
              <a:tabLst>
                <a:tab pos="0" algn="l"/>
              </a:tabLst>
              <a:defRPr lang="fr-FR" sz="2000" b="0" u="none" strike="noStrike">
                <a:solidFill>
                  <a:schemeClr val="dk1"/>
                </a:solidFill>
                <a:effectLst/>
                <a:uFillTx/>
                <a:latin typeface="AvenirNext LT Pro MediumCn"/>
              </a:defRPr>
            </a:lvl5pPr>
            <a:lvl6pPr lvl="5" algn="l" defTabSz="914400">
              <a:lnSpc>
                <a:spcPct val="90000"/>
              </a:lnSpc>
              <a:spcBef>
                <a:spcPts val="283"/>
              </a:spcBef>
              <a:buClr>
                <a:srgbClr val="000000"/>
              </a:buClr>
              <a:buSzPct val="45000"/>
              <a:buFont typeface="Wingdings" charset="2"/>
              <a:buChar char=""/>
              <a:tabLst>
                <a:tab pos="0" algn="l"/>
              </a:tabLst>
              <a:defRPr lang="fr-FR" sz="2000" b="0" u="none" strike="noStrike">
                <a:solidFill>
                  <a:schemeClr val="dk1"/>
                </a:solidFill>
                <a:effectLst/>
                <a:uFillTx/>
                <a:latin typeface="AvenirNext LT Pro MediumCn"/>
              </a:defRPr>
            </a:lvl6pPr>
            <a:lvl7pPr lvl="6" algn="l" defTabSz="914400">
              <a:lnSpc>
                <a:spcPct val="90000"/>
              </a:lnSpc>
              <a:spcBef>
                <a:spcPts val="283"/>
              </a:spcBef>
              <a:buClr>
                <a:srgbClr val="000000"/>
              </a:buClr>
              <a:buSzPct val="45000"/>
              <a:buFont typeface="Wingdings" charset="2"/>
              <a:buChar char=""/>
              <a:tabLst>
                <a:tab pos="0" algn="l"/>
              </a:tabLst>
              <a:defRPr lang="fr-FR" sz="2000" b="0" u="none" strike="noStrike">
                <a:solidFill>
                  <a:schemeClr val="dk1"/>
                </a:solidFill>
                <a:effectLst/>
                <a:uFillTx/>
                <a:latin typeface="AvenirNext LT Pro MediumCn"/>
              </a:defRPr>
            </a:lvl7pPr>
          </a:lstStyle>
          <a:p>
            <a:pPr indent="0" algn="l" defTabSz="914400">
              <a:lnSpc>
                <a:spcPct val="90000"/>
              </a:lnSpc>
              <a:spcBef>
                <a:spcPts val="1001"/>
              </a:spcBef>
              <a:tabLst>
                <a:tab pos="0" algn="l"/>
              </a:tabLst>
            </a:pPr>
            <a:r>
              <a:rPr lang="fr-FR" sz="1600" b="0" u="none" strike="noStrike">
                <a:solidFill>
                  <a:schemeClr val="dk1"/>
                </a:solidFill>
                <a:effectLst/>
                <a:uFillTx/>
                <a:latin typeface="AvenirNext LT Pro MediumCn"/>
              </a:rPr>
              <a:t>Cliquez pour éditer le format du plan de texte</a:t>
            </a:r>
            <a:endParaRPr lang="fr-FR" sz="1600" b="0" u="none" strike="noStrike">
              <a:solidFill>
                <a:schemeClr val="dk1"/>
              </a:solidFill>
              <a:effectLst/>
              <a:uFillTx/>
              <a:latin typeface="AvenirNext LT Pro MediumCn"/>
            </a:endParaRPr>
          </a:p>
          <a:p>
            <a:pPr marL="864000" lvl="1" indent="-324000" algn="l" defTabSz="914400">
              <a:lnSpc>
                <a:spcPct val="90000"/>
              </a:lnSpc>
              <a:spcBef>
                <a:spcPts val="1134"/>
              </a:spcBef>
              <a:buClr>
                <a:srgbClr val="000000"/>
              </a:buClr>
              <a:buSzPct val="75000"/>
              <a:buFont typeface="Symbol" charset="2"/>
              <a:buChar char=""/>
              <a:tabLst>
                <a:tab pos="0" algn="l"/>
              </a:tabLst>
            </a:pPr>
            <a:r>
              <a:rPr lang="fr-FR" sz="2800" b="0" u="none" strike="noStrike">
                <a:solidFill>
                  <a:schemeClr val="dk1"/>
                </a:solidFill>
                <a:effectLst/>
                <a:uFillTx/>
                <a:latin typeface="AvenirNext LT Pro MediumCn"/>
              </a:rPr>
              <a:t>Second niveau de plan</a:t>
            </a:r>
            <a:endParaRPr lang="fr-FR" sz="2800" b="0" u="none" strike="noStrike">
              <a:solidFill>
                <a:schemeClr val="dk1"/>
              </a:solidFill>
              <a:effectLst/>
              <a:uFillTx/>
              <a:latin typeface="AvenirNext LT Pro MediumCn"/>
            </a:endParaRPr>
          </a:p>
          <a:p>
            <a:pPr marL="1296000" lvl="2" indent="-288000" algn="l" defTabSz="914400">
              <a:lnSpc>
                <a:spcPct val="90000"/>
              </a:lnSpc>
              <a:spcBef>
                <a:spcPts val="850"/>
              </a:spcBef>
              <a:buClr>
                <a:srgbClr val="000000"/>
              </a:buClr>
              <a:buSzPct val="45000"/>
              <a:buFont typeface="Wingdings" charset="2"/>
              <a:buChar char=""/>
              <a:tabLst>
                <a:tab pos="0" algn="l"/>
              </a:tabLst>
            </a:pPr>
            <a:r>
              <a:rPr lang="fr-FR" sz="2400" b="0" u="none" strike="noStrike">
                <a:solidFill>
                  <a:schemeClr val="dk1"/>
                </a:solidFill>
                <a:effectLst/>
                <a:uFillTx/>
                <a:latin typeface="AvenirNext LT Pro MediumCn"/>
              </a:rPr>
              <a:t>Troisième niveau de plan</a:t>
            </a:r>
            <a:endParaRPr lang="fr-FR" sz="2400" b="0" u="none" strike="noStrike">
              <a:solidFill>
                <a:schemeClr val="dk1"/>
              </a:solidFill>
              <a:effectLst/>
              <a:uFillTx/>
              <a:latin typeface="AvenirNext LT Pro MediumCn"/>
            </a:endParaRPr>
          </a:p>
          <a:p>
            <a:pPr marL="1728000" lvl="3" indent="-216000" algn="l" defTabSz="914400">
              <a:lnSpc>
                <a:spcPct val="90000"/>
              </a:lnSpc>
              <a:spcBef>
                <a:spcPts val="567"/>
              </a:spcBef>
              <a:buClr>
                <a:srgbClr val="000000"/>
              </a:buClr>
              <a:buSzPct val="75000"/>
              <a:buFont typeface="Symbol" charset="2"/>
              <a:buChar char=""/>
              <a:tabLst>
                <a:tab pos="0" algn="l"/>
              </a:tabLst>
            </a:pPr>
            <a:r>
              <a:rPr lang="fr-FR" sz="2000" b="0" u="none" strike="noStrike">
                <a:solidFill>
                  <a:schemeClr val="dk1"/>
                </a:solidFill>
                <a:effectLst/>
                <a:uFillTx/>
                <a:latin typeface="AvenirNext LT Pro MediumCn"/>
              </a:rPr>
              <a:t>Quatrième niveau de plan</a:t>
            </a:r>
            <a:endParaRPr lang="fr-FR" sz="2000" b="0" u="none" strike="noStrike">
              <a:solidFill>
                <a:schemeClr val="dk1"/>
              </a:solidFill>
              <a:effectLst/>
              <a:uFillTx/>
              <a:latin typeface="AvenirNext LT Pro MediumCn"/>
            </a:endParaRPr>
          </a:p>
          <a:p>
            <a:pPr marL="2160000" lvl="4" indent="-216000" algn="l" defTabSz="914400">
              <a:lnSpc>
                <a:spcPct val="90000"/>
              </a:lnSpc>
              <a:spcBef>
                <a:spcPts val="283"/>
              </a:spcBef>
              <a:buClr>
                <a:srgbClr val="000000"/>
              </a:buClr>
              <a:buSzPct val="45000"/>
              <a:buFont typeface="Wingdings" charset="2"/>
              <a:buChar char=""/>
              <a:tabLst>
                <a:tab pos="0" algn="l"/>
              </a:tabLst>
            </a:pPr>
            <a:r>
              <a:rPr lang="fr-FR" sz="2000" b="0" u="none" strike="noStrike">
                <a:solidFill>
                  <a:schemeClr val="dk1"/>
                </a:solidFill>
                <a:effectLst/>
                <a:uFillTx/>
                <a:latin typeface="AvenirNext LT Pro MediumCn"/>
              </a:rPr>
              <a:t>Cinquième niveau de plan</a:t>
            </a:r>
            <a:endParaRPr lang="fr-FR" sz="2000" b="0" u="none" strike="noStrike">
              <a:solidFill>
                <a:schemeClr val="dk1"/>
              </a:solidFill>
              <a:effectLst/>
              <a:uFillTx/>
              <a:latin typeface="AvenirNext LT Pro MediumCn"/>
            </a:endParaRPr>
          </a:p>
          <a:p>
            <a:pPr marL="2592000" lvl="5" indent="-216000" algn="l" defTabSz="914400">
              <a:lnSpc>
                <a:spcPct val="90000"/>
              </a:lnSpc>
              <a:spcBef>
                <a:spcPts val="283"/>
              </a:spcBef>
              <a:buClr>
                <a:srgbClr val="000000"/>
              </a:buClr>
              <a:buSzPct val="45000"/>
              <a:buFont typeface="Wingdings" charset="2"/>
              <a:buChar char=""/>
              <a:tabLst>
                <a:tab pos="0" algn="l"/>
              </a:tabLst>
            </a:pPr>
            <a:r>
              <a:rPr lang="fr-FR" sz="2000" b="0" u="none" strike="noStrike">
                <a:solidFill>
                  <a:schemeClr val="dk1"/>
                </a:solidFill>
                <a:effectLst/>
                <a:uFillTx/>
                <a:latin typeface="AvenirNext LT Pro MediumCn"/>
              </a:rPr>
              <a:t>Sixième niveau de plan</a:t>
            </a:r>
            <a:endParaRPr lang="fr-FR" sz="2000" b="0" u="none" strike="noStrike">
              <a:solidFill>
                <a:schemeClr val="dk1"/>
              </a:solidFill>
              <a:effectLst/>
              <a:uFillTx/>
              <a:latin typeface="AvenirNext LT Pro MediumCn"/>
            </a:endParaRPr>
          </a:p>
          <a:p>
            <a:pPr marL="3024000" lvl="6" indent="-216000" algn="l" defTabSz="914400">
              <a:lnSpc>
                <a:spcPct val="90000"/>
              </a:lnSpc>
              <a:spcBef>
                <a:spcPts val="283"/>
              </a:spcBef>
              <a:buClr>
                <a:srgbClr val="000000"/>
              </a:buClr>
              <a:buSzPct val="45000"/>
              <a:buFont typeface="Wingdings" charset="2"/>
              <a:buChar char=""/>
              <a:tabLst>
                <a:tab pos="0" algn="l"/>
              </a:tabLst>
            </a:pPr>
            <a:r>
              <a:rPr lang="fr-FR" sz="2000" b="0" u="none" strike="noStrike">
                <a:solidFill>
                  <a:schemeClr val="dk1"/>
                </a:solidFill>
                <a:effectLst/>
                <a:uFillTx/>
                <a:latin typeface="AvenirNext LT Pro MediumCn"/>
              </a:rPr>
              <a:t>Septième niveau de plan</a:t>
            </a:r>
            <a:endParaRPr lang="fr-FR" sz="2000" b="0" u="none" strike="noStrike">
              <a:solidFill>
                <a:schemeClr val="dk1"/>
              </a:solidFill>
              <a:effectLst/>
              <a:uFillTx/>
              <a:latin typeface="AvenirNext LT Pro MediumCn"/>
            </a:endParaRPr>
          </a:p>
        </p:txBody>
      </p:sp>
    </p:spTree>
  </p:cSld>
  <p:clrMap bg1="lt1" tx1="dk1" bg2="lt2" tx2="dk2" accent1="accent1" accent2="accent2" accent3="accent3" accent4="accent4" accent5="accent5" accent6="accent6" hlink="hlink" folHlink="folHlink"/>
  <p:sldLayoutIdLst>
    <p:sldLayoutId id="214748367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3.png"/><Relationship Id="rId3"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9.png"/><Relationship Id="rId3" Type="http://schemas.openxmlformats.org/officeDocument/2006/relationships/image" Target="../media/image10.emf"/><Relationship Id="rId4" Type="http://schemas.openxmlformats.org/officeDocument/2006/relationships/image" Target="../media/image11.png"/><Relationship Id="rId5" Type="http://schemas.openxmlformats.org/officeDocument/2006/relationships/slideLayout" Target="../slideLayouts/slideLayout5.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4.jpeg"/><Relationship Id="rId7" Type="http://schemas.openxmlformats.org/officeDocument/2006/relationships/slideLayout" Target="../slideLayouts/slideLayout5.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0.png"/><Relationship Id="rId3"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3.png"/><Relationship Id="rId3"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3.pn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5.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24.png"/><Relationship Id="rId3" Type="http://schemas.openxmlformats.org/officeDocument/2006/relationships/image" Target="../media/image32.png"/><Relationship Id="rId4"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slideLayout" Target="../slideLayouts/slideLayout5.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slideLayout" Target="../slideLayouts/slideLayout5.xml"/><Relationship Id="rId7"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9.emf"/><Relationship Id="rId3" Type="http://schemas.openxmlformats.org/officeDocument/2006/relationships/image" Target="../media/image40.emf"/><Relationship Id="rId4" Type="http://schemas.openxmlformats.org/officeDocument/2006/relationships/slideLayout" Target="../slideLayouts/slideLayout5.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3.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5.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4.png"/><Relationship Id="rId3" Type="http://schemas.openxmlformats.org/officeDocument/2006/relationships/image" Target="../media/image45.emf"/><Relationship Id="rId4" Type="http://schemas.openxmlformats.org/officeDocument/2006/relationships/image" Target="../media/image46.emf"/><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slideLayout" Target="../slideLayouts/slideLayout5.xml"/><Relationship Id="rId8"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49.jpeg"/><Relationship Id="rId2" Type="http://schemas.openxmlformats.org/officeDocument/2006/relationships/image" Target="../media/image3.png"/><Relationship Id="rId3" Type="http://schemas.openxmlformats.org/officeDocument/2006/relationships/slideLayout" Target="../slideLayouts/slideLayout18.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0.png"/><Relationship Id="rId3" Type="http://schemas.openxmlformats.org/officeDocument/2006/relationships/slideLayout" Target="../slideLayouts/slideLayout19.xml"/>
</Relationships>
</file>

<file path=ppt/slides/_rels/slide2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1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slideLayout" Target="../slideLayouts/slideLayout11.xml"/>
</Relationships>
</file>

<file path=ppt/slides/_rels/slide23.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3.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slideLayout" Target="../slideLayouts/slideLayout11.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8.png"/><Relationship Id="rId3" Type="http://schemas.openxmlformats.org/officeDocument/2006/relationships/slideLayout" Target="../slideLayouts/slideLayout11.xml"/>
</Relationships>
</file>

<file path=ppt/slides/_rels/slide26.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3.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slideLayout" Target="../slideLayouts/slideLayout11.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79.png"/><Relationship Id="rId8" Type="http://schemas.openxmlformats.org/officeDocument/2006/relationships/slideLayout" Target="../slideLayouts/slideLayout11.xml"/>
</Relationships>
</file>

<file path=ppt/slides/_rels/slide2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7.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slideLayout" Target="../slideLayouts/slideLayout11.xml"/>
</Relationships>
</file>

<file path=ppt/slides/_rels/slide2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4.png"/><Relationship Id="rId5" Type="http://schemas.openxmlformats.org/officeDocument/2006/relationships/image" Target="../media/image84.png"/><Relationship Id="rId6" Type="http://schemas.openxmlformats.org/officeDocument/2006/relationships/image" Target="../media/image85.png"/><Relationship Id="rId7" Type="http://schemas.microsoft.com/office/2007/relationships/hdphoto" Target="../media/hdphoto1.wdp"/><Relationship Id="rId8" Type="http://schemas.openxmlformats.org/officeDocument/2006/relationships/image" Target="../media/image86.png"/><Relationship Id="rId9" Type="http://schemas.openxmlformats.org/officeDocument/2006/relationships/slideLayout" Target="../slideLayouts/slideLayout19.xml"/><Relationship Id="rId10"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7.png"/><Relationship Id="rId3" Type="http://schemas.openxmlformats.org/officeDocument/2006/relationships/slideLayout" Target="../slideLayouts/slideLayout7.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8.png"/><Relationship Id="rId3" Type="http://schemas.openxmlformats.org/officeDocument/2006/relationships/image" Target="../media/image88.png"/><Relationship Id="rId4" Type="http://schemas.openxmlformats.org/officeDocument/2006/relationships/slideLayout" Target="../slideLayouts/slideLayout7.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jpe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 Id="rId9" Type="http://schemas.openxmlformats.org/officeDocument/2006/relationships/slideLayout" Target="../slideLayouts/slideLayout7.xml"/><Relationship Id="rId10"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372240" y="1122480"/>
            <a:ext cx="11318040" cy="2932560"/>
          </a:xfrm>
          <a:prstGeom prst="rect">
            <a:avLst/>
          </a:prstGeom>
          <a:noFill/>
          <a:ln w="0">
            <a:noFill/>
          </a:ln>
        </p:spPr>
        <p:txBody>
          <a:bodyPr lIns="0" tIns="46800" rIns="91440" bIns="45720" anchor="b">
            <a:normAutofit/>
          </a:bodyPr>
          <a:p>
            <a:pPr marL="457200" indent="-457200" algn="ctr" defTabSz="914400">
              <a:lnSpc>
                <a:spcPct val="90000"/>
              </a:lnSpc>
              <a:buSzPct val="100007"/>
              <a:buBlip>
                <a:blip r:embed="rId1"/>
              </a:buBlip>
            </a:pPr>
            <a:r>
              <a:rPr lang="fr-FR" sz="6000" b="1" u="none" strike="noStrike">
                <a:solidFill>
                  <a:srgbClr val="00A3A6"/>
                </a:solidFill>
                <a:effectLst/>
                <a:uFillTx/>
                <a:latin typeface="AvenirNext LT Pro MediumCn"/>
              </a:rPr>
              <a:t>Multiscale associations between diet and the gut microbiome in a nationwide French cohort</a:t>
            </a:r>
            <a:endParaRPr lang="fr-FR" sz="6000" b="1" u="none" strike="noStrike">
              <a:solidFill>
                <a:srgbClr val="00A3A6"/>
              </a:solidFill>
              <a:effectLst/>
              <a:uFillTx/>
              <a:latin typeface="AvenirNext LT Pro MediumCn"/>
            </a:endParaRPr>
          </a:p>
        </p:txBody>
      </p:sp>
      <p:sp>
        <p:nvSpPr>
          <p:cNvPr id="171" name="PlaceHolder 2"/>
          <p:cNvSpPr>
            <a:spLocks noGrp="1"/>
          </p:cNvSpPr>
          <p:nvPr>
            <p:ph type="subTitle"/>
          </p:nvPr>
        </p:nvSpPr>
        <p:spPr>
          <a:xfrm>
            <a:off x="1523880" y="4222440"/>
            <a:ext cx="9142920" cy="960840"/>
          </a:xfrm>
          <a:prstGeom prst="rect">
            <a:avLst/>
          </a:prstGeom>
          <a:noFill/>
          <a:ln w="0">
            <a:noFill/>
          </a:ln>
        </p:spPr>
        <p:txBody>
          <a:bodyPr lIns="91440" tIns="45720" rIns="91440" bIns="45720" anchor="t">
            <a:normAutofit fontScale="85000" lnSpcReduction="19999"/>
          </a:bodyPr>
          <a:p>
            <a:pPr indent="0" algn="ctr" defTabSz="914400">
              <a:lnSpc>
                <a:spcPct val="90000"/>
              </a:lnSpc>
              <a:spcBef>
                <a:spcPts val="1001"/>
              </a:spcBef>
              <a:buNone/>
              <a:tabLst>
                <a:tab pos="0" algn="l"/>
              </a:tabLst>
            </a:pPr>
            <a:r>
              <a:rPr lang="en-US" sz="2400" b="0" u="none" strike="noStrike">
                <a:solidFill>
                  <a:schemeClr val="accent4"/>
                </a:solidFill>
                <a:effectLst/>
                <a:uFillTx/>
                <a:latin typeface="AvenirNext LT Pro MediumCn"/>
              </a:rPr>
              <a:t>Julien Tap</a:t>
            </a:r>
            <a:endParaRPr lang="fr-FR" sz="2400" b="0" u="none" strike="noStrike">
              <a:solidFill>
                <a:srgbClr val="000000"/>
              </a:solidFill>
              <a:effectLst/>
              <a:uFillTx/>
              <a:latin typeface="Arial"/>
            </a:endParaRPr>
          </a:p>
          <a:p>
            <a:pPr indent="0" algn="ctr" defTabSz="914400">
              <a:lnSpc>
                <a:spcPct val="90000"/>
              </a:lnSpc>
              <a:spcBef>
                <a:spcPts val="1001"/>
              </a:spcBef>
              <a:buNone/>
              <a:tabLst>
                <a:tab pos="0" algn="l"/>
              </a:tabLst>
            </a:pPr>
            <a:r>
              <a:rPr lang="en-US" sz="2400" b="0" u="none" strike="noStrike">
                <a:solidFill>
                  <a:schemeClr val="accent4"/>
                </a:solidFill>
                <a:effectLst/>
                <a:uFillTx/>
                <a:latin typeface="AvenirNext LT Pro MediumCn"/>
              </a:rPr>
              <a:t>INRAE MICALIS – Paris Saclay University</a:t>
            </a:r>
            <a:endParaRPr lang="fr-FR" sz="2400" b="0" u="none" strike="noStrike">
              <a:solidFill>
                <a:srgbClr val="000000"/>
              </a:solidFill>
              <a:effectLst/>
              <a:uFillTx/>
              <a:latin typeface="Arial"/>
            </a:endParaRPr>
          </a:p>
          <a:p>
            <a:pPr indent="0" algn="ctr" defTabSz="914400">
              <a:lnSpc>
                <a:spcPct val="90000"/>
              </a:lnSpc>
              <a:spcBef>
                <a:spcPts val="1001"/>
              </a:spcBef>
              <a:buNone/>
              <a:tabLst>
                <a:tab pos="0" algn="l"/>
              </a:tabLst>
            </a:pPr>
            <a:r>
              <a:rPr lang="en-US" sz="2400" b="0" u="none" strike="noStrike">
                <a:solidFill>
                  <a:schemeClr val="accent4"/>
                </a:solidFill>
                <a:effectLst/>
                <a:uFillTx/>
                <a:latin typeface="AvenirNext LT Pro MediumCn"/>
              </a:rPr>
              <a:t>KU LEUVEN 2026</a:t>
            </a:r>
            <a:endParaRPr lang="fr-FR" sz="2400" b="0" u="none" strike="noStrike">
              <a:solidFill>
                <a:srgbClr val="000000"/>
              </a:solidFill>
              <a:effectLst/>
              <a:uFillTx/>
              <a:latin typeface="Arial"/>
            </a:endParaRPr>
          </a:p>
          <a:p>
            <a:pPr indent="0" algn="ctr" defTabSz="914400">
              <a:lnSpc>
                <a:spcPct val="90000"/>
              </a:lnSpc>
              <a:spcBef>
                <a:spcPts val="1001"/>
              </a:spcBef>
              <a:buNone/>
              <a:tabLst>
                <a:tab pos="0" algn="l"/>
              </a:tabLst>
            </a:pP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AutoShape 2" descr="http://127.0.0.1:21577/chunk_output/6E7E6658ee9329d9/A02B235E/ca9tqwree7hzl/00001f.png"/>
          <p:cNvSpPr/>
          <p:nvPr/>
        </p:nvSpPr>
        <p:spPr>
          <a:xfrm>
            <a:off x="5242680" y="3081600"/>
            <a:ext cx="303840" cy="303840"/>
          </a:xfrm>
          <a:prstGeom prst="rect">
            <a:avLst/>
          </a:prstGeom>
          <a:noFill/>
          <a:ln w="0">
            <a:noFill/>
          </a:ln>
        </p:spPr>
        <p:style>
          <a:lnRef idx="0"/>
          <a:fillRef idx="0"/>
          <a:effectRef idx="0"/>
          <a:fontRef idx="minor"/>
        </p:style>
        <p:txBody>
          <a:bodyPr numCol="1" spcCol="0" lIns="90000" tIns="45000" rIns="90000" bIns="45000" anchor="t">
            <a:noAutofit/>
          </a:bodyPr>
          <a:p>
            <a:endParaRPr lang="en-US" sz="1800" b="0" u="none" strike="noStrike">
              <a:solidFill>
                <a:schemeClr val="dk1"/>
              </a:solidFill>
              <a:effectLst/>
              <a:uFillTx/>
              <a:latin typeface="Calibri"/>
            </a:endParaRPr>
          </a:p>
        </p:txBody>
      </p:sp>
      <p:pic>
        <p:nvPicPr>
          <p:cNvPr id="173" name="Image 13"/>
          <p:cNvPicPr/>
          <p:nvPr/>
        </p:nvPicPr>
        <p:blipFill>
          <a:blip r:embed="rId1"/>
          <a:stretch/>
        </p:blipFill>
        <p:spPr>
          <a:xfrm>
            <a:off x="1469160" y="1207080"/>
            <a:ext cx="7545600" cy="4656240"/>
          </a:xfrm>
          <a:prstGeom prst="rect">
            <a:avLst/>
          </a:prstGeom>
          <a:noFill/>
          <a:ln w="0">
            <a:noFill/>
          </a:ln>
        </p:spPr>
      </p:pic>
      <p:sp>
        <p:nvSpPr>
          <p:cNvPr id="174" name="Titre 1"/>
          <p:cNvSpPr/>
          <p:nvPr/>
        </p:nvSpPr>
        <p:spPr>
          <a:xfrm>
            <a:off x="700200" y="42840"/>
            <a:ext cx="11039760" cy="772560"/>
          </a:xfrm>
          <a:prstGeom prst="rect">
            <a:avLst/>
          </a:prstGeom>
          <a:noFill/>
          <a:ln w="0">
            <a:noFill/>
          </a:ln>
        </p:spPr>
        <p:style>
          <a:lnRef idx="0"/>
          <a:fillRef idx="0"/>
          <a:effectRef idx="0"/>
          <a:fontRef idx="minor"/>
        </p:style>
        <p:txBody>
          <a:bodyPr lIns="90000" tIns="45000" rIns="90000" bIns="45000" anchor="t">
            <a:noAutofit/>
          </a:bodyPr>
          <a:p>
            <a:pPr marL="457200" indent="-457200" defTabSz="914400">
              <a:lnSpc>
                <a:spcPct val="90000"/>
              </a:lnSpc>
              <a:buSzPct val="100054"/>
              <a:buBlip>
                <a:blip r:embed="rId2"/>
              </a:buBlip>
            </a:pPr>
            <a:r>
              <a:rPr lang="en-US" sz="3000" b="1" u="none" strike="noStrike">
                <a:solidFill>
                  <a:srgbClr val="00A3A6"/>
                </a:solidFill>
                <a:effectLst/>
                <a:uFillTx/>
                <a:latin typeface="AvenirNext LT Pro MediumCn"/>
              </a:rPr>
              <a:t>Gut microbiome studies: exponential growth of sample numbers</a:t>
            </a:r>
            <a:endParaRPr lang="fr-FR" sz="3000" b="0" u="none" strike="noStrike">
              <a:solidFill>
                <a:srgbClr val="000000"/>
              </a:solidFill>
              <a:effectLst/>
              <a:uFillTx/>
              <a:latin typeface="Arial"/>
            </a:endParaRPr>
          </a:p>
        </p:txBody>
      </p:sp>
      <p:cxnSp>
        <p:nvCxnSpPr>
          <p:cNvPr id="175" name="Connecteur droit avec flèche 16"/>
          <p:cNvCxnSpPr>
            <a:stCxn id="176" idx="2"/>
          </p:cNvCxnSpPr>
          <p:nvPr/>
        </p:nvCxnSpPr>
        <p:spPr>
          <a:xfrm flipH="1">
            <a:off x="2499120" y="3946680"/>
            <a:ext cx="799200" cy="1168920"/>
          </a:xfrm>
          <a:prstGeom prst="straightConnector1">
            <a:avLst/>
          </a:prstGeom>
          <a:ln w="0">
            <a:solidFill>
              <a:srgbClr val="00A3A6"/>
            </a:solidFill>
            <a:tailEnd len="med" type="triangle" w="med"/>
          </a:ln>
        </p:spPr>
      </p:cxnSp>
      <p:sp>
        <p:nvSpPr>
          <p:cNvPr id="176" name="ZoneTexte 17"/>
          <p:cNvSpPr/>
          <p:nvPr/>
        </p:nvSpPr>
        <p:spPr>
          <a:xfrm>
            <a:off x="2456640" y="3578400"/>
            <a:ext cx="1682640" cy="36828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Suau et al, 1999</a:t>
            </a:r>
            <a:endParaRPr lang="fr-FR" sz="1800" b="0" u="none" strike="noStrike">
              <a:solidFill>
                <a:srgbClr val="000000"/>
              </a:solidFill>
              <a:effectLst/>
              <a:uFillTx/>
              <a:latin typeface="Arial"/>
            </a:endParaRPr>
          </a:p>
        </p:txBody>
      </p:sp>
      <p:sp>
        <p:nvSpPr>
          <p:cNvPr id="177" name="ZoneTexte 21"/>
          <p:cNvSpPr/>
          <p:nvPr/>
        </p:nvSpPr>
        <p:spPr>
          <a:xfrm>
            <a:off x="7738200" y="624240"/>
            <a:ext cx="1881000" cy="36828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n&gt;35,000 samples</a:t>
            </a:r>
            <a:endParaRPr lang="fr-FR" sz="1800" b="0" u="none" strike="noStrike">
              <a:solidFill>
                <a:srgbClr val="000000"/>
              </a:solidFill>
              <a:effectLst/>
              <a:uFillTx/>
              <a:latin typeface="Arial"/>
            </a:endParaRPr>
          </a:p>
        </p:txBody>
      </p:sp>
      <p:cxnSp>
        <p:nvCxnSpPr>
          <p:cNvPr id="178" name="Connecteur droit avec flèche 22"/>
          <p:cNvCxnSpPr>
            <a:stCxn id="177" idx="2"/>
          </p:cNvCxnSpPr>
          <p:nvPr/>
        </p:nvCxnSpPr>
        <p:spPr>
          <a:xfrm flipH="1">
            <a:off x="7790400" y="992520"/>
            <a:ext cx="888840" cy="406440"/>
          </a:xfrm>
          <a:prstGeom prst="straightConnector1">
            <a:avLst/>
          </a:prstGeom>
          <a:ln w="0">
            <a:solidFill>
              <a:srgbClr val="00A3A6"/>
            </a:solidFill>
            <a:tailEnd len="med" type="triangle" w="med"/>
          </a:ln>
        </p:spPr>
      </p:cxnSp>
      <p:sp>
        <p:nvSpPr>
          <p:cNvPr id="179" name="ZoneTexte 26"/>
          <p:cNvSpPr/>
          <p:nvPr/>
        </p:nvSpPr>
        <p:spPr>
          <a:xfrm>
            <a:off x="3912120" y="2072520"/>
            <a:ext cx="2233080" cy="64512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algn="ctr" defTabSz="457200">
              <a:lnSpc>
                <a:spcPct val="100000"/>
              </a:lnSpc>
            </a:pPr>
            <a:r>
              <a:rPr lang="en-US" sz="1800" b="0" u="none" strike="noStrike">
                <a:solidFill>
                  <a:schemeClr val="dk1"/>
                </a:solidFill>
                <a:effectLst/>
                <a:uFillTx/>
                <a:latin typeface="Calibri"/>
              </a:rPr>
              <a:t>1</a:t>
            </a:r>
            <a:r>
              <a:rPr lang="en-US" sz="1800" b="0" u="none" strike="noStrike" baseline="30000">
                <a:solidFill>
                  <a:schemeClr val="dk1"/>
                </a:solidFill>
                <a:effectLst/>
                <a:uFillTx/>
                <a:latin typeface="Calibri"/>
              </a:rPr>
              <a:t>st</a:t>
            </a:r>
            <a:r>
              <a:rPr lang="en-US" sz="1800" b="0" u="none" strike="noStrike">
                <a:solidFill>
                  <a:schemeClr val="dk1"/>
                </a:solidFill>
                <a:effectLst/>
                <a:uFillTx/>
                <a:latin typeface="Calibri"/>
              </a:rPr>
              <a:t> Human gut catalog</a:t>
            </a:r>
            <a:endParaRPr lang="fr-FR" sz="1800" b="0" u="none" strike="noStrike">
              <a:solidFill>
                <a:srgbClr val="000000"/>
              </a:solidFill>
              <a:effectLst/>
              <a:uFillTx/>
              <a:latin typeface="Arial"/>
            </a:endParaRPr>
          </a:p>
          <a:p>
            <a:pPr algn="ctr" defTabSz="457200">
              <a:lnSpc>
                <a:spcPct val="100000"/>
              </a:lnSpc>
            </a:pPr>
            <a:r>
              <a:rPr lang="en-US" sz="1800" b="0" u="none" strike="noStrike">
                <a:solidFill>
                  <a:schemeClr val="dk1"/>
                </a:solidFill>
                <a:effectLst/>
                <a:uFillTx/>
                <a:latin typeface="Calibri"/>
              </a:rPr>
              <a:t>(n=124)</a:t>
            </a:r>
            <a:endParaRPr lang="fr-FR" sz="1800" b="0" u="none" strike="noStrike">
              <a:solidFill>
                <a:srgbClr val="000000"/>
              </a:solidFill>
              <a:effectLst/>
              <a:uFillTx/>
              <a:latin typeface="Arial"/>
            </a:endParaRPr>
          </a:p>
        </p:txBody>
      </p:sp>
      <p:cxnSp>
        <p:nvCxnSpPr>
          <p:cNvPr id="180" name="Connecteur droit avec flèche 27"/>
          <p:cNvCxnSpPr>
            <a:stCxn id="179" idx="2"/>
          </p:cNvCxnSpPr>
          <p:nvPr/>
        </p:nvCxnSpPr>
        <p:spPr>
          <a:xfrm flipH="1">
            <a:off x="4840200" y="2717640"/>
            <a:ext cx="189000" cy="590760"/>
          </a:xfrm>
          <a:prstGeom prst="straightConnector1">
            <a:avLst/>
          </a:prstGeom>
          <a:ln w="0">
            <a:solidFill>
              <a:srgbClr val="00A3A6"/>
            </a:solidFill>
            <a:tailEnd len="med" type="triangle" w="med"/>
          </a:ln>
        </p:spPr>
      </p:cxnSp>
      <p:sp>
        <p:nvSpPr>
          <p:cNvPr id="181" name="ZoneTexte 30"/>
          <p:cNvSpPr/>
          <p:nvPr/>
        </p:nvSpPr>
        <p:spPr>
          <a:xfrm>
            <a:off x="7400880" y="4165200"/>
            <a:ext cx="3912840" cy="948240"/>
          </a:xfrm>
          <a:prstGeom prst="rect">
            <a:avLst/>
          </a:prstGeom>
          <a:gradFill rotWithShape="0">
            <a:gsLst>
              <a:gs pos="0">
                <a:srgbClr val="5F5597"/>
              </a:gs>
              <a:gs pos="50000">
                <a:srgbClr val="3E2B8C"/>
              </a:gs>
              <a:gs pos="100000">
                <a:srgbClr val="352281"/>
              </a:gs>
            </a:gsLst>
            <a:lin ang="5400000"/>
          </a:gradFill>
          <a:ln w="0">
            <a:noFill/>
          </a:ln>
          <a:effectLst>
            <a:outerShdw algn="ctr" blurRad="57240" dir="5400000" dist="19080" rotWithShape="0">
              <a:srgbClr val="000000">
                <a:alpha val="63000"/>
              </a:srgbClr>
            </a:outerShdw>
          </a:effectLst>
        </p:spPr>
        <p:style>
          <a:lnRef idx="0">
            <a:schemeClr val="accent4"/>
          </a:lnRef>
          <a:fillRef idx="3">
            <a:schemeClr val="accent4"/>
          </a:fillRef>
          <a:effectRef idx="3">
            <a:schemeClr val="accent4"/>
          </a:effectRef>
          <a:fontRef idx="minor"/>
        </p:style>
        <p:txBody>
          <a:bodyPr lIns="90000" tIns="45000" rIns="90000" bIns="45000" anchor="t">
            <a:spAutoFit/>
          </a:bodyPr>
          <a:p>
            <a:pPr algn="ctr" defTabSz="457200">
              <a:lnSpc>
                <a:spcPct val="100000"/>
              </a:lnSpc>
            </a:pPr>
            <a:r>
              <a:rPr lang="en-US" sz="1800" b="1" u="none" strike="noStrike">
                <a:solidFill>
                  <a:schemeClr val="lt1"/>
                </a:solidFill>
                <a:effectLst/>
                <a:uFillTx/>
                <a:latin typeface="Calibri"/>
              </a:rPr>
              <a:t>Every 10 years</a:t>
            </a:r>
            <a:r>
              <a:rPr lang="en-US" sz="1800" b="0" u="none" strike="noStrike">
                <a:solidFill>
                  <a:schemeClr val="lt1"/>
                </a:solidFill>
                <a:effectLst/>
                <a:uFillTx/>
                <a:latin typeface="Calibri"/>
              </a:rPr>
              <a:t>, </a:t>
            </a:r>
            <a:endParaRPr lang="fr-FR" sz="1800" b="0" u="none" strike="noStrike">
              <a:solidFill>
                <a:srgbClr val="000000"/>
              </a:solidFill>
              <a:effectLst/>
              <a:uFillTx/>
              <a:latin typeface="Arial"/>
            </a:endParaRPr>
          </a:p>
          <a:p>
            <a:pPr algn="ctr" defTabSz="457200">
              <a:lnSpc>
                <a:spcPct val="100000"/>
              </a:lnSpc>
            </a:pPr>
            <a:r>
              <a:rPr lang="en-US" sz="1800" b="0" u="none" strike="noStrike">
                <a:solidFill>
                  <a:schemeClr val="lt1"/>
                </a:solidFill>
                <a:effectLst/>
                <a:uFillTx/>
                <a:latin typeface="Calibri"/>
              </a:rPr>
              <a:t>number of samples analyzed per study </a:t>
            </a:r>
            <a:endParaRPr lang="fr-FR" sz="1800" b="0" u="none" strike="noStrike">
              <a:solidFill>
                <a:srgbClr val="000000"/>
              </a:solidFill>
              <a:effectLst/>
              <a:uFillTx/>
              <a:latin typeface="Arial"/>
            </a:endParaRPr>
          </a:p>
          <a:p>
            <a:pPr algn="ctr" defTabSz="457200">
              <a:lnSpc>
                <a:spcPct val="100000"/>
              </a:lnSpc>
            </a:pPr>
            <a:r>
              <a:rPr lang="en-US" sz="1800" b="1" u="none" strike="noStrike">
                <a:solidFill>
                  <a:schemeClr val="lt1"/>
                </a:solidFill>
                <a:effectLst/>
                <a:uFillTx/>
                <a:latin typeface="Calibri"/>
              </a:rPr>
              <a:t>is multiplied by 100</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dt" idx="22"/>
          </p:nvPr>
        </p:nvSpPr>
        <p:spPr>
          <a:xfrm>
            <a:off x="513720" y="6586920"/>
            <a:ext cx="4113720" cy="183600"/>
          </a:xfrm>
          <a:prstGeom prst="rect">
            <a:avLst/>
          </a:prstGeom>
          <a:noFill/>
          <a:ln w="0">
            <a:noFill/>
          </a:ln>
        </p:spPr>
        <p:txBody>
          <a:bodyPr lIns="90000" tIns="45000" rIns="90000" bIns="45000" anchor="t">
            <a:noAutofit/>
          </a:bodyPr>
          <a:p>
            <a:pPr indent="0" algn="l">
              <a:buNone/>
            </a:pPr>
            <a:endParaRPr lang="en-GB" sz="1800" b="0" u="none" strike="noStrike">
              <a:solidFill>
                <a:schemeClr val="dk1"/>
              </a:solidFill>
              <a:effectLst/>
              <a:uFillTx/>
              <a:latin typeface="Calibri"/>
            </a:endParaRPr>
          </a:p>
        </p:txBody>
      </p:sp>
      <p:sp>
        <p:nvSpPr>
          <p:cNvPr id="183" name="PlaceHolder 2"/>
          <p:cNvSpPr>
            <a:spLocks noGrp="1"/>
          </p:cNvSpPr>
          <p:nvPr>
            <p:ph type="title" hasCustomPrompt="1"/>
          </p:nvPr>
        </p:nvSpPr>
        <p:spPr>
          <a:xfrm>
            <a:off x="217800" y="41760"/>
            <a:ext cx="11471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Host microbiome symbiosis co-evolution uncoupled?</a:t>
            </a:r>
            <a:endParaRPr lang="en-US" sz="3000" b="1" u="none" strike="noStrike">
              <a:solidFill>
                <a:srgbClr val="00A3A6"/>
              </a:solidFill>
              <a:effectLst/>
              <a:uFillTx/>
              <a:latin typeface="AvenirNext LT Pro MediumCn"/>
            </a:endParaRPr>
          </a:p>
        </p:txBody>
      </p:sp>
      <p:pic>
        <p:nvPicPr>
          <p:cNvPr id="184" name="Picture 2" descr="\\nead.danet\FR_Shares\DR_Groupe_RD_DAIRY\LS_LIFE SCIENCE\LS_TEAM\SCIENCE\Axe Microbiote\Communications\New Trend_In search of our lost microbiota\figure\IMAGE-2.png"/>
          <p:cNvPicPr/>
          <p:nvPr/>
        </p:nvPicPr>
        <p:blipFill>
          <a:blip r:embed="rId2">
            <a:grayscl/>
          </a:blip>
          <a:srcRect l="42716" t="7046" r="0" b="56775"/>
          <a:stretch/>
        </p:blipFill>
        <p:spPr>
          <a:xfrm>
            <a:off x="3217320" y="1346760"/>
            <a:ext cx="5279040" cy="1935360"/>
          </a:xfrm>
          <a:prstGeom prst="rect">
            <a:avLst/>
          </a:prstGeom>
          <a:noFill/>
          <a:ln w="0">
            <a:noFill/>
          </a:ln>
        </p:spPr>
      </p:pic>
      <p:grpSp>
        <p:nvGrpSpPr>
          <p:cNvPr id="185" name="Groupe 8"/>
          <p:cNvGrpSpPr/>
          <p:nvPr/>
        </p:nvGrpSpPr>
        <p:grpSpPr>
          <a:xfrm>
            <a:off x="4905360" y="2913840"/>
            <a:ext cx="7745760" cy="3091320"/>
            <a:chOff x="4905360" y="2913840"/>
            <a:chExt cx="7745760" cy="3091320"/>
          </a:xfrm>
        </p:grpSpPr>
        <p:pic>
          <p:nvPicPr>
            <p:cNvPr id="186" name="Picture 2"/>
            <p:cNvPicPr/>
            <p:nvPr/>
          </p:nvPicPr>
          <p:blipFill>
            <a:blip r:embed="rId3">
              <a:lum contrast="40000"/>
            </a:blip>
            <a:srcRect l="3598" t="4182" r="2824" b="50001"/>
            <a:stretch/>
          </p:blipFill>
          <p:spPr>
            <a:xfrm>
              <a:off x="4905360" y="3291840"/>
              <a:ext cx="7571160" cy="2713320"/>
            </a:xfrm>
            <a:prstGeom prst="rect">
              <a:avLst/>
            </a:prstGeom>
            <a:noFill/>
            <a:ln w="0">
              <a:noFill/>
            </a:ln>
          </p:spPr>
        </p:pic>
        <p:sp>
          <p:nvSpPr>
            <p:cNvPr id="187" name="Rectangle 10"/>
            <p:cNvSpPr/>
            <p:nvPr/>
          </p:nvSpPr>
          <p:spPr>
            <a:xfrm>
              <a:off x="10710720" y="2913840"/>
              <a:ext cx="1940400" cy="2509560"/>
            </a:xfrm>
            <a:prstGeom prst="rect">
              <a:avLst/>
            </a:prstGeom>
            <a:solidFill>
              <a:srgbClr val="FFFFFF"/>
            </a:solidFill>
            <a:ln>
              <a:solidFill>
                <a:srgbClr val="FFFFFF"/>
              </a:solidFill>
            </a:ln>
          </p:spPr>
          <p:style>
            <a:lnRef idx="2">
              <a:schemeClr val="accent1"/>
            </a:lnRef>
            <a:fillRef idx="1">
              <a:schemeClr val="lt1"/>
            </a:fillRef>
            <a:effectRef idx="0">
              <a:schemeClr val="accent1"/>
            </a:effectRef>
            <a:fontRef idx="minor"/>
          </p:style>
          <p:txBody>
            <a:bodyPr lIns="90000" tIns="45000" rIns="90000" bIns="45000" anchor="ctr">
              <a:noAutofit/>
            </a:bodyPr>
            <a:p>
              <a:endParaRPr lang="fr-FR" sz="1800" b="0" u="none" strike="noStrike">
                <a:solidFill>
                  <a:schemeClr val="dk1"/>
                </a:solidFill>
                <a:effectLst/>
                <a:uFillTx/>
                <a:latin typeface="Calibri"/>
              </a:endParaRPr>
            </a:p>
          </p:txBody>
        </p:sp>
      </p:grpSp>
      <p:sp>
        <p:nvSpPr>
          <p:cNvPr id="188" name="Rectangle 11"/>
          <p:cNvSpPr/>
          <p:nvPr/>
        </p:nvSpPr>
        <p:spPr>
          <a:xfrm>
            <a:off x="8400960" y="1010160"/>
            <a:ext cx="3572280" cy="368280"/>
          </a:xfrm>
          <a:prstGeom prst="rect">
            <a:avLst/>
          </a:prstGeom>
          <a:noFill/>
          <a:ln w="0">
            <a:noFill/>
          </a:ln>
        </p:spPr>
        <p:style>
          <a:lnRef idx="0"/>
          <a:fillRef idx="0"/>
          <a:effectRef idx="0"/>
          <a:fontRef idx="minor"/>
        </p:style>
        <p:txBody>
          <a:bodyPr lIns="90000" tIns="45000" rIns="90000" bIns="45000" anchor="t">
            <a:spAutoFit/>
          </a:bodyPr>
          <a:p>
            <a:pPr marL="914400" algn="ctr" defTabSz="457200">
              <a:lnSpc>
                <a:spcPct val="100000"/>
              </a:lnSpc>
            </a:pPr>
            <a:r>
              <a:rPr lang="fr-FR" sz="1800" b="0" u="none" strike="noStrike">
                <a:solidFill>
                  <a:srgbClr val="042256"/>
                </a:solidFill>
                <a:effectLst/>
                <a:uFillTx/>
                <a:latin typeface="Calibri"/>
              </a:rPr>
              <a:t>Hunter-gatherer</a:t>
            </a:r>
            <a:endParaRPr lang="fr-FR" sz="1800" b="0" u="none" strike="noStrike">
              <a:solidFill>
                <a:srgbClr val="000000"/>
              </a:solidFill>
              <a:effectLst/>
              <a:uFillTx/>
              <a:latin typeface="Arial"/>
            </a:endParaRPr>
          </a:p>
        </p:txBody>
      </p:sp>
      <p:sp>
        <p:nvSpPr>
          <p:cNvPr id="189" name="Rectangle 12"/>
          <p:cNvSpPr/>
          <p:nvPr/>
        </p:nvSpPr>
        <p:spPr>
          <a:xfrm>
            <a:off x="8901000" y="1641960"/>
            <a:ext cx="2572560" cy="368280"/>
          </a:xfrm>
          <a:prstGeom prst="rect">
            <a:avLst/>
          </a:prstGeom>
          <a:noFill/>
          <a:ln w="0">
            <a:noFill/>
          </a:ln>
        </p:spPr>
        <p:style>
          <a:lnRef idx="0"/>
          <a:fillRef idx="0"/>
          <a:effectRef idx="0"/>
          <a:fontRef idx="minor"/>
        </p:style>
        <p:txBody>
          <a:bodyPr wrap="none" lIns="90000" tIns="45000" rIns="90000" bIns="45000" anchor="t">
            <a:spAutoFit/>
          </a:bodyPr>
          <a:p>
            <a:pPr marL="914400" algn="ctr" defTabSz="457200">
              <a:lnSpc>
                <a:spcPct val="100000"/>
              </a:lnSpc>
            </a:pPr>
            <a:r>
              <a:rPr lang="fr-FR" sz="1800" b="0" u="none" strike="noStrike">
                <a:solidFill>
                  <a:srgbClr val="042256"/>
                </a:solidFill>
                <a:effectLst/>
                <a:uFillTx/>
                <a:latin typeface="Calibri"/>
              </a:rPr>
              <a:t>Sedentarization</a:t>
            </a:r>
            <a:endParaRPr lang="fr-FR" sz="1800" b="0" u="none" strike="noStrike">
              <a:solidFill>
                <a:srgbClr val="000000"/>
              </a:solidFill>
              <a:effectLst/>
              <a:uFillTx/>
              <a:latin typeface="Arial"/>
            </a:endParaRPr>
          </a:p>
        </p:txBody>
      </p:sp>
      <p:sp>
        <p:nvSpPr>
          <p:cNvPr id="190" name="Rectangle 13"/>
          <p:cNvSpPr/>
          <p:nvPr/>
        </p:nvSpPr>
        <p:spPr>
          <a:xfrm>
            <a:off x="9757800" y="2287800"/>
            <a:ext cx="1811880" cy="368280"/>
          </a:xfrm>
          <a:prstGeom prst="rect">
            <a:avLst/>
          </a:prstGeom>
          <a:noFill/>
          <a:ln w="0">
            <a:noFill/>
          </a:ln>
        </p:spPr>
        <p:style>
          <a:lnRef idx="0"/>
          <a:fillRef idx="0"/>
          <a:effectRef idx="0"/>
          <a:fontRef idx="minor"/>
        </p:style>
        <p:txBody>
          <a:bodyPr wrap="none" lIns="90000" tIns="45000" rIns="90000" bIns="45000" anchor="t">
            <a:spAutoFit/>
          </a:bodyPr>
          <a:p>
            <a:pPr algn="ctr" defTabSz="457200">
              <a:lnSpc>
                <a:spcPct val="100000"/>
              </a:lnSpc>
            </a:pPr>
            <a:r>
              <a:rPr lang="fr-FR" sz="1800" b="0" u="none" strike="noStrike">
                <a:solidFill>
                  <a:srgbClr val="042256"/>
                </a:solidFill>
                <a:effectLst/>
                <a:uFillTx/>
                <a:latin typeface="Calibri"/>
              </a:rPr>
              <a:t>Crop and farming</a:t>
            </a:r>
            <a:endParaRPr lang="fr-FR" sz="1800" b="0" u="none" strike="noStrike">
              <a:solidFill>
                <a:srgbClr val="000000"/>
              </a:solidFill>
              <a:effectLst/>
              <a:uFillTx/>
              <a:latin typeface="Arial"/>
            </a:endParaRPr>
          </a:p>
        </p:txBody>
      </p:sp>
      <p:sp>
        <p:nvSpPr>
          <p:cNvPr id="191" name="Rectangle 14"/>
          <p:cNvSpPr/>
          <p:nvPr/>
        </p:nvSpPr>
        <p:spPr>
          <a:xfrm>
            <a:off x="8641440" y="2872080"/>
            <a:ext cx="3301200" cy="368280"/>
          </a:xfrm>
          <a:prstGeom prst="rect">
            <a:avLst/>
          </a:prstGeom>
          <a:noFill/>
          <a:ln w="0">
            <a:noFill/>
          </a:ln>
        </p:spPr>
        <p:style>
          <a:lnRef idx="0"/>
          <a:fillRef idx="0"/>
          <a:effectRef idx="0"/>
          <a:fontRef idx="minor"/>
        </p:style>
        <p:txBody>
          <a:bodyPr wrap="none" lIns="90000" tIns="45000" rIns="90000" bIns="45000" anchor="t">
            <a:spAutoFit/>
          </a:bodyPr>
          <a:p>
            <a:pPr marL="914400" algn="ctr" defTabSz="457200">
              <a:lnSpc>
                <a:spcPct val="100000"/>
              </a:lnSpc>
            </a:pPr>
            <a:r>
              <a:rPr lang="fr-FR" sz="1800" b="0" u="none" strike="noStrike">
                <a:solidFill>
                  <a:srgbClr val="042256"/>
                </a:solidFill>
                <a:effectLst/>
                <a:uFillTx/>
                <a:latin typeface="Calibri"/>
              </a:rPr>
              <a:t>Hygiene and antibiotics</a:t>
            </a:r>
            <a:endParaRPr lang="fr-FR" sz="1800" b="0" u="none" strike="noStrike">
              <a:solidFill>
                <a:srgbClr val="000000"/>
              </a:solidFill>
              <a:effectLst/>
              <a:uFillTx/>
              <a:latin typeface="Arial"/>
            </a:endParaRPr>
          </a:p>
        </p:txBody>
      </p:sp>
      <p:sp>
        <p:nvSpPr>
          <p:cNvPr id="192" name="Rectangle 15"/>
          <p:cNvSpPr/>
          <p:nvPr/>
        </p:nvSpPr>
        <p:spPr>
          <a:xfrm>
            <a:off x="9611640" y="3544200"/>
            <a:ext cx="2241720" cy="645120"/>
          </a:xfrm>
          <a:prstGeom prst="rect">
            <a:avLst/>
          </a:prstGeom>
          <a:noFill/>
          <a:ln w="0">
            <a:noFill/>
          </a:ln>
        </p:spPr>
        <p:style>
          <a:lnRef idx="0"/>
          <a:fillRef idx="0"/>
          <a:effectRef idx="0"/>
          <a:fontRef idx="minor"/>
        </p:style>
        <p:txBody>
          <a:bodyPr wrap="none" lIns="90000" tIns="45000" rIns="90000" bIns="45000" anchor="t">
            <a:spAutoFit/>
          </a:bodyPr>
          <a:p>
            <a:pPr algn="ctr" defTabSz="457200">
              <a:lnSpc>
                <a:spcPct val="100000"/>
              </a:lnSpc>
            </a:pPr>
            <a:r>
              <a:rPr lang="fr-FR" sz="1800" b="0" u="none" strike="noStrike">
                <a:solidFill>
                  <a:srgbClr val="042256"/>
                </a:solidFill>
                <a:effectLst/>
                <a:uFillTx/>
                <a:latin typeface="Calibri"/>
              </a:rPr>
              <a:t>Refined products and </a:t>
            </a:r>
            <a:endParaRPr lang="fr-FR" sz="1800" b="0" u="none" strike="noStrike">
              <a:solidFill>
                <a:srgbClr val="000000"/>
              </a:solidFill>
              <a:effectLst/>
              <a:uFillTx/>
              <a:latin typeface="Arial"/>
            </a:endParaRPr>
          </a:p>
          <a:p>
            <a:pPr algn="ctr" defTabSz="457200">
              <a:lnSpc>
                <a:spcPct val="100000"/>
              </a:lnSpc>
            </a:pPr>
            <a:r>
              <a:rPr lang="fr-FR" sz="1800" b="0" u="none" strike="noStrike">
                <a:solidFill>
                  <a:srgbClr val="042256"/>
                </a:solidFill>
                <a:effectLst/>
                <a:uFillTx/>
                <a:latin typeface="Calibri"/>
              </a:rPr>
              <a:t>Vanished* microbes</a:t>
            </a:r>
            <a:endParaRPr lang="fr-FR" sz="1800" b="0" u="none" strike="noStrike">
              <a:solidFill>
                <a:srgbClr val="000000"/>
              </a:solidFill>
              <a:effectLst/>
              <a:uFillTx/>
              <a:latin typeface="Arial"/>
            </a:endParaRPr>
          </a:p>
        </p:txBody>
      </p:sp>
      <p:cxnSp>
        <p:nvCxnSpPr>
          <p:cNvPr id="193" name="Connecteur droit avec flèche 5"/>
          <p:cNvCxnSpPr/>
          <p:nvPr/>
        </p:nvCxnSpPr>
        <p:spPr>
          <a:xfrm>
            <a:off x="10663920" y="1486440"/>
            <a:ext cx="1080" cy="246600"/>
          </a:xfrm>
          <a:prstGeom prst="straightConnector1">
            <a:avLst/>
          </a:prstGeom>
          <a:ln w="0">
            <a:solidFill>
              <a:srgbClr val="00A3A6"/>
            </a:solidFill>
            <a:tailEnd len="med" type="triangle" w="med"/>
          </a:ln>
        </p:spPr>
      </p:cxnSp>
      <p:cxnSp>
        <p:nvCxnSpPr>
          <p:cNvPr id="194" name="Connecteur droit avec flèche 16"/>
          <p:cNvCxnSpPr>
            <a:endCxn id="190" idx="0"/>
          </p:cNvCxnSpPr>
          <p:nvPr/>
        </p:nvCxnSpPr>
        <p:spPr>
          <a:xfrm>
            <a:off x="10663920" y="2034720"/>
            <a:ext cx="360" cy="253440"/>
          </a:xfrm>
          <a:prstGeom prst="straightConnector1">
            <a:avLst/>
          </a:prstGeom>
          <a:ln w="0">
            <a:solidFill>
              <a:srgbClr val="00A3A6"/>
            </a:solidFill>
            <a:tailEnd len="med" type="triangle" w="med"/>
          </a:ln>
        </p:spPr>
      </p:cxnSp>
      <p:cxnSp>
        <p:nvCxnSpPr>
          <p:cNvPr id="195" name="Connecteur droit avec flèche 18"/>
          <p:cNvCxnSpPr/>
          <p:nvPr/>
        </p:nvCxnSpPr>
        <p:spPr>
          <a:xfrm>
            <a:off x="10691640" y="2655000"/>
            <a:ext cx="1080" cy="253440"/>
          </a:xfrm>
          <a:prstGeom prst="straightConnector1">
            <a:avLst/>
          </a:prstGeom>
          <a:ln w="0">
            <a:solidFill>
              <a:srgbClr val="00A3A6"/>
            </a:solidFill>
            <a:tailEnd len="med" type="triangle" w="med"/>
          </a:ln>
        </p:spPr>
      </p:cxnSp>
      <p:cxnSp>
        <p:nvCxnSpPr>
          <p:cNvPr id="196" name="Connecteur droit avec flèche 19"/>
          <p:cNvCxnSpPr/>
          <p:nvPr/>
        </p:nvCxnSpPr>
        <p:spPr>
          <a:xfrm>
            <a:off x="10719360" y="3285360"/>
            <a:ext cx="1080" cy="253440"/>
          </a:xfrm>
          <a:prstGeom prst="straightConnector1">
            <a:avLst/>
          </a:prstGeom>
          <a:ln w="0">
            <a:solidFill>
              <a:srgbClr val="00A3A6"/>
            </a:solidFill>
            <a:tailEnd len="med" type="triangle" w="med"/>
          </a:ln>
        </p:spPr>
      </p:cxnSp>
      <p:pic>
        <p:nvPicPr>
          <p:cNvPr id="197" name="bc8cf721-8ed8-4b45-a6e7-0153d9457268" descr="Image"/>
          <p:cNvPicPr/>
          <p:nvPr/>
        </p:nvPicPr>
        <p:blipFill>
          <a:blip r:embed="rId4"/>
          <a:stretch/>
        </p:blipFill>
        <p:spPr>
          <a:xfrm>
            <a:off x="194400" y="3265200"/>
            <a:ext cx="4709880" cy="2212920"/>
          </a:xfrm>
          <a:prstGeom prst="rect">
            <a:avLst/>
          </a:prstGeom>
          <a:noFill/>
          <a:ln w="0">
            <a:noFill/>
          </a:ln>
        </p:spPr>
      </p:pic>
      <p:sp>
        <p:nvSpPr>
          <p:cNvPr id="198" name="ZoneTexte 20"/>
          <p:cNvSpPr/>
          <p:nvPr/>
        </p:nvSpPr>
        <p:spPr>
          <a:xfrm>
            <a:off x="6619680" y="6465600"/>
            <a:ext cx="270180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fr-FR" sz="1800" b="0" u="none" strike="noStrike">
                <a:solidFill>
                  <a:schemeClr val="lt1"/>
                </a:solidFill>
                <a:effectLst/>
                <a:uFillTx/>
                <a:latin typeface="Calibri"/>
              </a:rPr>
              <a:t>*Sonnenburg.2022.BioRxiv</a:t>
            </a:r>
            <a:endParaRPr lang="fr-FR" sz="1800" b="0" u="none" strike="noStrike">
              <a:solidFill>
                <a:srgbClr val="000000"/>
              </a:solidFill>
              <a:effectLst/>
              <a:uFillTx/>
              <a:latin typeface="Arial"/>
            </a:endParaRPr>
          </a:p>
        </p:txBody>
      </p:sp>
      <p:sp>
        <p:nvSpPr>
          <p:cNvPr id="199" name="PlaceHolder 3"/>
          <p:cNvSpPr>
            <a:spLocks noGrp="1"/>
          </p:cNvSpPr>
          <p:nvPr>
            <p:ph type="ftr" idx="23"/>
          </p:nvPr>
        </p:nvSpPr>
        <p:spPr>
          <a:xfrm>
            <a:off x="513720" y="6458400"/>
            <a:ext cx="4113720" cy="131040"/>
          </a:xfrm>
          <a:prstGeom prst="rect">
            <a:avLst/>
          </a:prstGeom>
          <a:noFill/>
          <a:ln w="0">
            <a:noFill/>
          </a:ln>
        </p:spPr>
        <p:txBody>
          <a:bodyPr lIns="90000" tIns="45000" rIns="90000" bIns="45000" anchor="t">
            <a:noAutofit/>
          </a:bodyPr>
          <a:p>
            <a:pPr indent="0" algn="l">
              <a:buNone/>
            </a:pPr>
            <a:endParaRPr lang="en-US" sz="1800" b="0" u="none" strike="noStrike">
              <a:solidFill>
                <a:schemeClr val="dk1"/>
              </a:solidFill>
              <a:effectLst/>
              <a:uFillTx/>
              <a:latin typeface="Calibri"/>
            </a:endParaRPr>
          </a:p>
        </p:txBody>
      </p:sp>
      <p:sp>
        <p:nvSpPr>
          <p:cNvPr id="5" name="PlaceHolder 4"/>
          <p:cNvSpPr>
            <a:spLocks noGrp="1"/>
          </p:cNvSpPr>
          <p:nvPr>
            <p:ph type="sldNum" idx="6"/>
          </p:nvPr>
        </p:nvSpPr>
        <p:spPr/>
        <p:txBody>
          <a:bodyPr/>
          <a:p>
            <a:fld id="{3EB00F77-E577-4A49-AFC5-C066F02F9A26}"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Gut microbiome state affected by external and intrinsic factors</a:t>
            </a:r>
            <a:endParaRPr lang="fr-FR" sz="3000" b="1" u="none" strike="noStrike">
              <a:solidFill>
                <a:srgbClr val="00A3A6"/>
              </a:solidFill>
              <a:effectLst/>
              <a:uFillTx/>
              <a:latin typeface="AvenirNext LT Pro MediumCn"/>
            </a:endParaRPr>
          </a:p>
        </p:txBody>
      </p:sp>
      <p:pic>
        <p:nvPicPr>
          <p:cNvPr id="201" name="Image 2"/>
          <p:cNvPicPr/>
          <p:nvPr/>
        </p:nvPicPr>
        <p:blipFill>
          <a:blip r:embed="rId2"/>
          <a:srcRect l="60292" t="31449" r="23796" b="24605"/>
          <a:stretch/>
        </p:blipFill>
        <p:spPr>
          <a:xfrm>
            <a:off x="6917760" y="1099080"/>
            <a:ext cx="4713480" cy="4761360"/>
          </a:xfrm>
          <a:prstGeom prst="rect">
            <a:avLst/>
          </a:prstGeom>
          <a:noFill/>
          <a:ln w="0">
            <a:noFill/>
          </a:ln>
        </p:spPr>
      </p:pic>
      <p:pic>
        <p:nvPicPr>
          <p:cNvPr id="202" name="Image 3"/>
          <p:cNvPicPr/>
          <p:nvPr/>
        </p:nvPicPr>
        <p:blipFill>
          <a:blip r:embed="rId3"/>
          <a:srcRect l="61534" t="22098" r="18341" b="22051"/>
          <a:stretch/>
        </p:blipFill>
        <p:spPr>
          <a:xfrm>
            <a:off x="355680" y="1238400"/>
            <a:ext cx="4402800" cy="4380480"/>
          </a:xfrm>
          <a:prstGeom prst="rect">
            <a:avLst/>
          </a:prstGeom>
          <a:noFill/>
          <a:ln w="0">
            <a:noFill/>
          </a:ln>
        </p:spPr>
      </p:pic>
      <p:sp>
        <p:nvSpPr>
          <p:cNvPr id="203" name="ZoneTexte 4"/>
          <p:cNvSpPr/>
          <p:nvPr/>
        </p:nvSpPr>
        <p:spPr>
          <a:xfrm>
            <a:off x="885240" y="5682240"/>
            <a:ext cx="3324960" cy="460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fr-FR" sz="2400" b="0" u="none" strike="noStrike">
                <a:solidFill>
                  <a:schemeClr val="dk1"/>
                </a:solidFill>
                <a:effectLst/>
                <a:uFillTx/>
                <a:latin typeface="Calibri"/>
              </a:rPr>
              <a:t>External factor ~20 %</a:t>
            </a:r>
            <a:endParaRPr lang="fr-FR" sz="2400" b="0" u="none" strike="noStrike">
              <a:solidFill>
                <a:srgbClr val="000000"/>
              </a:solidFill>
              <a:effectLst/>
              <a:uFillTx/>
              <a:latin typeface="Arial"/>
            </a:endParaRPr>
          </a:p>
        </p:txBody>
      </p:sp>
      <p:sp>
        <p:nvSpPr>
          <p:cNvPr id="204" name="ZoneTexte 5"/>
          <p:cNvSpPr/>
          <p:nvPr/>
        </p:nvSpPr>
        <p:spPr>
          <a:xfrm>
            <a:off x="4210200" y="5660640"/>
            <a:ext cx="3469320" cy="460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fr-FR" sz="2400" b="0" u="none" strike="noStrike">
                <a:solidFill>
                  <a:schemeClr val="dk1"/>
                </a:solidFill>
                <a:effectLst/>
                <a:uFillTx/>
                <a:latin typeface="Calibri"/>
              </a:rPr>
              <a:t>Intrinsic factor 80 % ?</a:t>
            </a:r>
            <a:endParaRPr lang="fr-FR" sz="2400" b="0" u="none" strike="noStrike">
              <a:solidFill>
                <a:srgbClr val="000000"/>
              </a:solidFill>
              <a:effectLst/>
              <a:uFillTx/>
              <a:latin typeface="Arial"/>
            </a:endParaRPr>
          </a:p>
        </p:txBody>
      </p:sp>
      <p:pic>
        <p:nvPicPr>
          <p:cNvPr id="205" name="Image 6"/>
          <p:cNvPicPr/>
          <p:nvPr/>
        </p:nvPicPr>
        <p:blipFill>
          <a:blip r:embed="rId4"/>
          <a:srcRect l="76840" t="31449" r="17596" b="24605"/>
          <a:stretch/>
        </p:blipFill>
        <p:spPr>
          <a:xfrm>
            <a:off x="5097240" y="950400"/>
            <a:ext cx="1640160" cy="4761360"/>
          </a:xfrm>
          <a:prstGeom prst="rect">
            <a:avLst/>
          </a:prstGeom>
          <a:noFill/>
          <a:ln w="0">
            <a:noFill/>
          </a:ln>
        </p:spPr>
      </p:pic>
      <p:sp>
        <p:nvSpPr>
          <p:cNvPr id="206" name="Ellipse 7"/>
          <p:cNvSpPr/>
          <p:nvPr/>
        </p:nvSpPr>
        <p:spPr>
          <a:xfrm>
            <a:off x="1756080" y="2685240"/>
            <a:ext cx="1582920" cy="1582920"/>
          </a:xfrm>
          <a:prstGeom prst="ellipse">
            <a:avLst/>
          </a:prstGeom>
          <a:solidFill>
            <a:srgbClr val="FFFFFF"/>
          </a:solidFill>
          <a:ln>
            <a:solidFill>
              <a:srgbClr val="9ED6E3"/>
            </a:solidFill>
          </a:ln>
        </p:spPr>
        <p:style>
          <a:lnRef idx="2">
            <a:schemeClr val="accent3"/>
          </a:lnRef>
          <a:fillRef idx="1">
            <a:schemeClr val="lt1"/>
          </a:fillRef>
          <a:effectRef idx="0">
            <a:schemeClr val="accent3"/>
          </a:effectRef>
          <a:fontRef idx="minor"/>
        </p:style>
        <p:txBody>
          <a:bodyPr lIns="90000" tIns="45000" rIns="90000" bIns="45000" anchor="ctr">
            <a:noAutofit/>
          </a:bodyPr>
          <a:p>
            <a:pPr algn="ctr" defTabSz="457200">
              <a:lnSpc>
                <a:spcPct val="100000"/>
              </a:lnSpc>
            </a:pPr>
            <a:endParaRPr lang="fr-FR"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xit" fill="hold" nodeType="clickEffect">
                                  <p:stCondLst>
                                    <p:cond delay="0"/>
                                  </p:stCondLst>
                                  <p:childTnLst>
                                    <p:set>
                                      <p:cBhvr>
                                        <p:cTn id="6" dur="1" fill="hold">
                                          <p:stCondLst>
                                            <p:cond delay="0"/>
                                          </p:stCondLst>
                                        </p:cTn>
                                        <p:tgtEl>
                                          <p:spTgt spid="20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05"/>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Microbiome states resilience as key factor</a:t>
            </a:r>
            <a:endParaRPr lang="en-US" sz="3000" b="1" u="none" strike="noStrike">
              <a:solidFill>
                <a:srgbClr val="00A3A6"/>
              </a:solidFill>
              <a:effectLst/>
              <a:uFillTx/>
              <a:latin typeface="AvenirNext LT Pro MediumCn"/>
            </a:endParaRPr>
          </a:p>
        </p:txBody>
      </p:sp>
      <p:pic>
        <p:nvPicPr>
          <p:cNvPr id="208" name="Picture 10" descr="http://www.botanique-jardins-paysages.com/wp-content/uploads/2007_120907octmaison0063-840x562.jpg"/>
          <p:cNvPicPr/>
          <p:nvPr/>
        </p:nvPicPr>
        <p:blipFill>
          <a:blip r:embed="rId2"/>
          <a:stretch/>
        </p:blipFill>
        <p:spPr>
          <a:xfrm>
            <a:off x="145080" y="2304360"/>
            <a:ext cx="2665800" cy="1783080"/>
          </a:xfrm>
          <a:prstGeom prst="rect">
            <a:avLst/>
          </a:prstGeom>
          <a:noFill/>
          <a:ln w="0">
            <a:noFill/>
          </a:ln>
        </p:spPr>
      </p:pic>
      <p:pic>
        <p:nvPicPr>
          <p:cNvPr id="209" name="Picture 8" descr="http://i.f1g.fr/media/ext/805x453/www.lefigaro.fr/medias/2013/06/13/PHO245b1e4c-d42b-11e2-84ca-4a6a2612ed1d-805x453.jpg"/>
          <p:cNvPicPr/>
          <p:nvPr/>
        </p:nvPicPr>
        <p:blipFill>
          <a:blip r:embed="rId3"/>
          <a:stretch/>
        </p:blipFill>
        <p:spPr>
          <a:xfrm>
            <a:off x="3069720" y="2304360"/>
            <a:ext cx="2696040" cy="1773360"/>
          </a:xfrm>
          <a:prstGeom prst="rect">
            <a:avLst/>
          </a:prstGeom>
          <a:noFill/>
          <a:ln w="0">
            <a:noFill/>
          </a:ln>
        </p:spPr>
      </p:pic>
      <p:pic>
        <p:nvPicPr>
          <p:cNvPr id="210" name="Picture 2" descr="Résultat de recherche d'images pour &quot;feu de foret restauration&quot;"/>
          <p:cNvPicPr/>
          <p:nvPr/>
        </p:nvPicPr>
        <p:blipFill>
          <a:blip r:embed="rId4"/>
          <a:srcRect l="0" t="11770" r="0" b="0"/>
          <a:stretch/>
        </p:blipFill>
        <p:spPr>
          <a:xfrm>
            <a:off x="5935320" y="2304360"/>
            <a:ext cx="2681640" cy="1773360"/>
          </a:xfrm>
          <a:prstGeom prst="rect">
            <a:avLst/>
          </a:prstGeom>
          <a:noFill/>
          <a:ln w="0">
            <a:noFill/>
          </a:ln>
        </p:spPr>
      </p:pic>
      <p:pic>
        <p:nvPicPr>
          <p:cNvPr id="211" name="Picture 4" descr="Résultat de recherche d'images pour &quot;garrigue ou un maquis.&quot;"/>
          <p:cNvPicPr/>
          <p:nvPr/>
        </p:nvPicPr>
        <p:blipFill>
          <a:blip r:embed="rId5"/>
          <a:srcRect l="4494" t="7455" r="3730" b="7106"/>
          <a:stretch/>
        </p:blipFill>
        <p:spPr>
          <a:xfrm>
            <a:off x="8786520" y="3429000"/>
            <a:ext cx="2927520" cy="1849320"/>
          </a:xfrm>
          <a:prstGeom prst="rect">
            <a:avLst/>
          </a:prstGeom>
          <a:noFill/>
          <a:ln w="0">
            <a:noFill/>
          </a:ln>
        </p:spPr>
      </p:pic>
      <p:pic>
        <p:nvPicPr>
          <p:cNvPr id="212" name="Picture 10" descr="http://www.botanique-jardins-paysages.com/wp-content/uploads/2007_120907octmaison0063-840x562.jpg"/>
          <p:cNvPicPr/>
          <p:nvPr/>
        </p:nvPicPr>
        <p:blipFill>
          <a:blip r:embed="rId6"/>
          <a:stretch/>
        </p:blipFill>
        <p:spPr>
          <a:xfrm>
            <a:off x="8773560" y="1233360"/>
            <a:ext cx="2940120" cy="1966680"/>
          </a:xfrm>
          <a:prstGeom prst="rect">
            <a:avLst/>
          </a:prstGeom>
          <a:noFill/>
          <a:ln w="0">
            <a:noFill/>
          </a:ln>
        </p:spPr>
      </p:pic>
      <p:sp>
        <p:nvSpPr>
          <p:cNvPr id="213" name="ZoneTexte 21"/>
          <p:cNvSpPr/>
          <p:nvPr/>
        </p:nvSpPr>
        <p:spPr>
          <a:xfrm>
            <a:off x="9447480" y="864000"/>
            <a:ext cx="1702080" cy="368280"/>
          </a:xfrm>
          <a:prstGeom prst="rect">
            <a:avLst/>
          </a:prstGeom>
          <a:solidFill>
            <a:srgbClr val="00CC99">
              <a:alpha val="26000"/>
            </a:srgbClr>
          </a:solidFill>
          <a:ln>
            <a:solidFill>
              <a:srgbClr val="000000"/>
            </a:solidFill>
          </a:ln>
        </p:spPr>
        <p:style>
          <a:lnRef idx="2">
            <a:schemeClr val="dk1"/>
          </a:lnRef>
          <a:fillRef idx="1">
            <a:schemeClr val="lt1"/>
          </a:fillRef>
          <a:effectRef idx="0">
            <a:schemeClr val="dk1"/>
          </a:effectRef>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Healthy state</a:t>
            </a:r>
            <a:endParaRPr lang="fr-FR" sz="1800" b="0" u="none" strike="noStrike">
              <a:solidFill>
                <a:srgbClr val="000000"/>
              </a:solidFill>
              <a:effectLst/>
              <a:uFillTx/>
              <a:latin typeface="Arial"/>
            </a:endParaRPr>
          </a:p>
        </p:txBody>
      </p:sp>
      <p:sp>
        <p:nvSpPr>
          <p:cNvPr id="214" name="ZoneTexte 22"/>
          <p:cNvSpPr/>
          <p:nvPr/>
        </p:nvSpPr>
        <p:spPr>
          <a:xfrm>
            <a:off x="9338040" y="5279400"/>
            <a:ext cx="1811520" cy="368280"/>
          </a:xfrm>
          <a:prstGeom prst="rect">
            <a:avLst/>
          </a:prstGeom>
          <a:solidFill>
            <a:srgbClr val="FF0000"/>
          </a:solidFill>
          <a:ln>
            <a:solidFill>
              <a:srgbClr val="000000"/>
            </a:solidFill>
          </a:ln>
        </p:spPr>
        <p:style>
          <a:lnRef idx="2">
            <a:schemeClr val="dk1"/>
          </a:lnRef>
          <a:fillRef idx="1">
            <a:schemeClr val="lt1"/>
          </a:fillRef>
          <a:effectRef idx="0">
            <a:schemeClr val="dk1"/>
          </a:effectRef>
          <a:fontRef idx="minor"/>
        </p:style>
        <p:txBody>
          <a:bodyPr lIns="90000" tIns="45000" rIns="90000" bIns="45000" anchor="t">
            <a:spAutoFit/>
          </a:bodyPr>
          <a:p>
            <a:pPr algn="ctr" defTabSz="457200">
              <a:lnSpc>
                <a:spcPct val="100000"/>
              </a:lnSpc>
            </a:pPr>
            <a:r>
              <a:rPr lang="en-US" sz="1800" b="0" u="none" strike="noStrike">
                <a:solidFill>
                  <a:schemeClr val="lt1"/>
                </a:solidFill>
                <a:effectLst/>
                <a:uFillTx/>
                <a:latin typeface="Calibri"/>
              </a:rPr>
              <a:t>Degraded state</a:t>
            </a:r>
            <a:endParaRPr lang="fr-FR" sz="1800" b="0" u="none" strike="noStrike">
              <a:solidFill>
                <a:srgbClr val="FFFFFF"/>
              </a:solidFill>
              <a:effectLst/>
              <a:uFillTx/>
              <a:latin typeface="Arial"/>
            </a:endParaRPr>
          </a:p>
        </p:txBody>
      </p:sp>
      <p:sp>
        <p:nvSpPr>
          <p:cNvPr id="215" name="ZoneTexte 23"/>
          <p:cNvSpPr/>
          <p:nvPr/>
        </p:nvSpPr>
        <p:spPr>
          <a:xfrm>
            <a:off x="537480" y="4155120"/>
            <a:ext cx="1547640" cy="36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Healthy state</a:t>
            </a:r>
            <a:endParaRPr lang="fr-FR" sz="1800" b="0" u="none" strike="noStrike">
              <a:solidFill>
                <a:srgbClr val="000000"/>
              </a:solidFill>
              <a:effectLst/>
              <a:uFillTx/>
              <a:latin typeface="Arial"/>
            </a:endParaRPr>
          </a:p>
        </p:txBody>
      </p:sp>
      <p:sp>
        <p:nvSpPr>
          <p:cNvPr id="216" name="ZoneTexte 24"/>
          <p:cNvSpPr/>
          <p:nvPr/>
        </p:nvSpPr>
        <p:spPr>
          <a:xfrm>
            <a:off x="3690360" y="4155120"/>
            <a:ext cx="1405080" cy="36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Resistance</a:t>
            </a:r>
            <a:endParaRPr lang="fr-FR" sz="1800" b="0" u="none" strike="noStrike">
              <a:solidFill>
                <a:srgbClr val="000000"/>
              </a:solidFill>
              <a:effectLst/>
              <a:uFillTx/>
              <a:latin typeface="Arial"/>
            </a:endParaRPr>
          </a:p>
        </p:txBody>
      </p:sp>
      <p:sp>
        <p:nvSpPr>
          <p:cNvPr id="217" name="ZoneTexte 25"/>
          <p:cNvSpPr/>
          <p:nvPr/>
        </p:nvSpPr>
        <p:spPr>
          <a:xfrm>
            <a:off x="6512040" y="4155120"/>
            <a:ext cx="1405080" cy="36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Recovery</a:t>
            </a:r>
            <a:endParaRPr lang="fr-FR" sz="1800" b="0" u="none" strike="noStrike">
              <a:solidFill>
                <a:srgbClr val="000000"/>
              </a:solidFill>
              <a:effectLst/>
              <a:uFillTx/>
              <a:latin typeface="Arial"/>
            </a:endParaRPr>
          </a:p>
        </p:txBody>
      </p:sp>
      <p:sp>
        <p:nvSpPr>
          <p:cNvPr id="218" name="ZoneTexte 26"/>
          <p:cNvSpPr/>
          <p:nvPr/>
        </p:nvSpPr>
        <p:spPr>
          <a:xfrm>
            <a:off x="4830120" y="4719600"/>
            <a:ext cx="1937160" cy="36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fr-FR" sz="1800" b="0" u="none" strike="noStrike">
                <a:solidFill>
                  <a:schemeClr val="dk1"/>
                </a:solidFill>
                <a:effectLst/>
                <a:uFillTx/>
                <a:latin typeface="Calibri"/>
              </a:rPr>
              <a:t>Resilience</a:t>
            </a:r>
            <a:endParaRPr lang="fr-FR" sz="1800" b="0" u="none" strike="noStrike">
              <a:solidFill>
                <a:srgbClr val="000000"/>
              </a:solidFill>
              <a:effectLst/>
              <a:uFillTx/>
              <a:latin typeface="Arial"/>
            </a:endParaRPr>
          </a:p>
        </p:txBody>
      </p:sp>
      <p:sp>
        <p:nvSpPr>
          <p:cNvPr id="219" name="Accolade fermante 27"/>
          <p:cNvSpPr/>
          <p:nvPr/>
        </p:nvSpPr>
        <p:spPr>
          <a:xfrm rot="5400000">
            <a:off x="5753880" y="1854360"/>
            <a:ext cx="180720" cy="5547240"/>
          </a:xfrm>
          <a:prstGeom prst="rightBrace">
            <a:avLst>
              <a:gd name="adj1" fmla="val 8333"/>
              <a:gd name="adj2" fmla="val 50000"/>
            </a:avLst>
          </a:prstGeom>
          <a:noFill/>
          <a:ln>
            <a:solidFill>
              <a:srgbClr val="00A3A6"/>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lgn="ctr" defTabSz="457200">
              <a:lnSpc>
                <a:spcPct val="100000"/>
              </a:lnSpc>
            </a:pPr>
            <a:endParaRPr lang="fr-FR"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08"/>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2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20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2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2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2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fill="hold" nodeType="clickEffect">
                                  <p:stCondLst>
                                    <p:cond delay="0"/>
                                  </p:stCondLst>
                                  <p:childTnLst>
                                    <p:set>
                                      <p:cBhvr>
                                        <p:cTn id="40" dur="1" fill="hold">
                                          <p:stCondLst>
                                            <p:cond delay="0"/>
                                          </p:stCondLst>
                                        </p:cTn>
                                        <p:tgtEl>
                                          <p:spTgt spid="219"/>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2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212"/>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2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211"/>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4"/>
          <p:cNvSpPr/>
          <p:nvPr/>
        </p:nvSpPr>
        <p:spPr>
          <a:xfrm>
            <a:off x="700200" y="43200"/>
            <a:ext cx="10283400" cy="772560"/>
          </a:xfrm>
          <a:prstGeom prst="rect">
            <a:avLst/>
          </a:prstGeom>
          <a:noFill/>
          <a:ln w="0">
            <a:noFill/>
          </a:ln>
        </p:spPr>
        <p:style>
          <a:lnRef idx="0"/>
          <a:fillRef idx="0"/>
          <a:effectRef idx="0"/>
          <a:fontRef idx="minor"/>
        </p:style>
        <p:txBody>
          <a:bodyPr lIns="0" tIns="46800" rIns="90000" bIns="45000" anchor="ctr">
            <a:noAutofit/>
          </a:bodyPr>
          <a:p>
            <a:pPr marL="457200" indent="-457200" defTabSz="914400">
              <a:lnSpc>
                <a:spcPct val="90000"/>
              </a:lnSpc>
              <a:buSzPct val="100054"/>
              <a:buBlip>
                <a:blip r:embed="rId1"/>
              </a:buBlip>
            </a:pPr>
            <a:r>
              <a:rPr lang="en-US" sz="3000" b="1" u="none" strike="noStrike">
                <a:solidFill>
                  <a:srgbClr val="00A3A6"/>
                </a:solidFill>
                <a:effectLst/>
                <a:uFillTx/>
                <a:latin typeface="AvenirNext LT Pro MediumCn"/>
              </a:rPr>
              <a:t>Finding tipping elements</a:t>
            </a:r>
            <a:endParaRPr lang="fr-FR" sz="3000" b="0" u="none" strike="noStrike">
              <a:solidFill>
                <a:srgbClr val="000000"/>
              </a:solidFill>
              <a:effectLst/>
              <a:uFillTx/>
              <a:latin typeface="Arial"/>
            </a:endParaRPr>
          </a:p>
        </p:txBody>
      </p:sp>
      <p:pic>
        <p:nvPicPr>
          <p:cNvPr id="221" name=""/>
          <p:cNvPicPr/>
          <p:nvPr/>
        </p:nvPicPr>
        <p:blipFill>
          <a:blip r:embed="rId2"/>
          <a:stretch/>
        </p:blipFill>
        <p:spPr>
          <a:xfrm>
            <a:off x="180000" y="1440000"/>
            <a:ext cx="5884200" cy="3470400"/>
          </a:xfrm>
          <a:prstGeom prst="rect">
            <a:avLst/>
          </a:prstGeom>
          <a:noFill/>
          <a:ln w="0">
            <a:noFill/>
          </a:ln>
        </p:spPr>
      </p:pic>
      <p:pic>
        <p:nvPicPr>
          <p:cNvPr id="222" name=""/>
          <p:cNvPicPr/>
          <p:nvPr/>
        </p:nvPicPr>
        <p:blipFill>
          <a:blip r:embed="rId3"/>
          <a:stretch/>
        </p:blipFill>
        <p:spPr>
          <a:xfrm>
            <a:off x="6480000" y="1440000"/>
            <a:ext cx="5478480" cy="36788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How to model hysteresis? An in vivo study</a:t>
            </a:r>
            <a:endParaRPr lang="fr-FR" sz="3000" b="1" u="none" strike="noStrike">
              <a:solidFill>
                <a:srgbClr val="00A3A6"/>
              </a:solidFill>
              <a:effectLst/>
              <a:uFillTx/>
              <a:latin typeface="AvenirNext LT Pro MediumCn"/>
            </a:endParaRPr>
          </a:p>
        </p:txBody>
      </p:sp>
      <p:pic>
        <p:nvPicPr>
          <p:cNvPr id="224" name="Image 3"/>
          <p:cNvPicPr/>
          <p:nvPr/>
        </p:nvPicPr>
        <p:blipFill>
          <a:blip r:embed="rId2"/>
          <a:stretch/>
        </p:blipFill>
        <p:spPr>
          <a:xfrm>
            <a:off x="554040" y="1225800"/>
            <a:ext cx="11082960" cy="44049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
          <p:cNvPicPr/>
          <p:nvPr/>
        </p:nvPicPr>
        <p:blipFill>
          <a:blip r:embed="rId1"/>
          <a:stretch/>
        </p:blipFill>
        <p:spPr>
          <a:xfrm>
            <a:off x="1152000" y="1604160"/>
            <a:ext cx="9647640" cy="3435480"/>
          </a:xfrm>
          <a:prstGeom prst="rect">
            <a:avLst/>
          </a:prstGeom>
          <a:noFill/>
          <a:ln w="0">
            <a:noFill/>
          </a:ln>
        </p:spPr>
      </p:pic>
      <p:sp>
        <p:nvSpPr>
          <p:cNvPr id="226" name="PlaceHolder 13"/>
          <p:cNvSpPr/>
          <p:nvPr/>
        </p:nvSpPr>
        <p:spPr>
          <a:xfrm>
            <a:off x="743400" y="150120"/>
            <a:ext cx="10215360" cy="887040"/>
          </a:xfrm>
          <a:prstGeom prst="rect">
            <a:avLst/>
          </a:prstGeom>
          <a:noFill/>
          <a:ln w="0">
            <a:noFill/>
          </a:ln>
        </p:spPr>
        <p:style>
          <a:lnRef idx="0"/>
          <a:fillRef idx="0"/>
          <a:effectRef idx="0"/>
          <a:fontRef idx="minor"/>
        </p:style>
        <p:txBody>
          <a:bodyPr lIns="0" tIns="46800" rIns="90000" bIns="45000" anchor="ctr">
            <a:noAutofit/>
          </a:bodyPr>
          <a:p>
            <a:pPr marL="457200" indent="-457200" defTabSz="914400">
              <a:lnSpc>
                <a:spcPct val="90000"/>
              </a:lnSpc>
              <a:buSzPct val="100054"/>
              <a:buBlip>
                <a:blip r:embed="rId2"/>
              </a:buBlip>
            </a:pPr>
            <a:r>
              <a:rPr lang="en-US" sz="3000" b="1" u="none" strike="noStrike">
                <a:solidFill>
                  <a:srgbClr val="00A3A6"/>
                </a:solidFill>
                <a:effectLst/>
                <a:uFillTx/>
                <a:latin typeface="AvenirNext LT Pro MediumCn"/>
              </a:rPr>
              <a:t>Akkermansia as tipping element in rat models</a:t>
            </a:r>
            <a:endParaRPr lang="fr-FR"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Akkermansia as tipping element in rat models</a:t>
            </a:r>
            <a:endParaRPr lang="fr-FR" sz="3000" b="1" u="none" strike="noStrike">
              <a:solidFill>
                <a:srgbClr val="00A3A6"/>
              </a:solidFill>
              <a:effectLst/>
              <a:uFillTx/>
              <a:latin typeface="AvenirNext LT Pro MediumCn"/>
            </a:endParaRPr>
          </a:p>
        </p:txBody>
      </p:sp>
      <p:pic>
        <p:nvPicPr>
          <p:cNvPr id="228" name="Image 3"/>
          <p:cNvPicPr/>
          <p:nvPr/>
        </p:nvPicPr>
        <p:blipFill>
          <a:blip r:embed="rId2"/>
          <a:stretch/>
        </p:blipFill>
        <p:spPr>
          <a:xfrm>
            <a:off x="100800" y="914760"/>
            <a:ext cx="7930440" cy="5156280"/>
          </a:xfrm>
          <a:prstGeom prst="rect">
            <a:avLst/>
          </a:prstGeom>
          <a:noFill/>
          <a:ln w="0">
            <a:noFill/>
          </a:ln>
        </p:spPr>
      </p:pic>
      <p:pic>
        <p:nvPicPr>
          <p:cNvPr id="229" name="Image 5"/>
          <p:cNvPicPr/>
          <p:nvPr/>
        </p:nvPicPr>
        <p:blipFill>
          <a:blip r:embed="rId3"/>
          <a:stretch/>
        </p:blipFill>
        <p:spPr>
          <a:xfrm>
            <a:off x="7948440" y="1525680"/>
            <a:ext cx="4242600" cy="3805560"/>
          </a:xfrm>
          <a:prstGeom prst="rect">
            <a:avLst/>
          </a:prstGeom>
          <a:noFill/>
          <a:ln w="0">
            <a:noFill/>
          </a:ln>
        </p:spPr>
      </p:pic>
    </p:spTree>
  </p:cSld>
  <mc:AlternateContent>
    <mc:Choice Requires="p14">
      <p:transition spd="slow" p14:dur="2000"/>
    </mc:Choice>
    <mc:Fallback>
      <p:transition spd="slow"/>
    </mc:Fallback>
  </mc:AlternateContent>
  <p:timing>
    <p:tnLst>
      <p:par>
        <p:cTn id="55" dur="indefinite" restart="never" nodeType="tmRoot">
          <p:childTnLst>
            <p:seq>
              <p:cTn id="56" dur="indefinite" nodeType="mainSeq">
                <p:childTnLst>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0" name="Image 3"/>
          <p:cNvPicPr/>
          <p:nvPr/>
        </p:nvPicPr>
        <p:blipFill>
          <a:blip r:embed="rId1"/>
          <a:stretch/>
        </p:blipFill>
        <p:spPr>
          <a:xfrm>
            <a:off x="10106280" y="349200"/>
            <a:ext cx="1951560" cy="2332440"/>
          </a:xfrm>
          <a:prstGeom prst="rect">
            <a:avLst/>
          </a:prstGeom>
          <a:noFill/>
          <a:ln w="0">
            <a:noFill/>
          </a:ln>
        </p:spPr>
      </p:pic>
      <p:sp>
        <p:nvSpPr>
          <p:cNvPr id="231" name="PlaceHolder 1"/>
          <p:cNvSpPr>
            <a:spLocks noGrp="1"/>
          </p:cNvSpPr>
          <p:nvPr>
            <p:ph type="title"/>
          </p:nvPr>
        </p:nvSpPr>
        <p:spPr>
          <a:xfrm>
            <a:off x="360000" y="149760"/>
            <a:ext cx="10596600" cy="1109880"/>
          </a:xfrm>
          <a:prstGeom prst="rect">
            <a:avLst/>
          </a:prstGeom>
          <a:noFill/>
          <a:ln w="0">
            <a:noFill/>
          </a:ln>
        </p:spPr>
        <p:txBody>
          <a:bodyPr lIns="0" tIns="46800" rIns="91440" bIns="45720" anchor="ctr">
            <a:normAutofit fontScale="92500" lnSpcReduction="9999"/>
          </a:bodyPr>
          <a:p>
            <a:pPr marL="457200" indent="-457200" algn="l" defTabSz="914400">
              <a:lnSpc>
                <a:spcPct val="90000"/>
              </a:lnSpc>
              <a:buSzPct val="106998"/>
              <a:buBlip>
                <a:blip r:embed="rId2"/>
              </a:buBlip>
            </a:pPr>
            <a:r>
              <a:rPr lang="fr-FR" sz="2800" b="1" u="none" strike="noStrike">
                <a:solidFill>
                  <a:srgbClr val="00A3A6"/>
                </a:solidFill>
                <a:effectLst/>
                <a:uFillTx/>
                <a:latin typeface="AvenirNext LT Pro MediumCn"/>
              </a:rPr>
              <a:t>How to define gut microbiome state? </a:t>
            </a:r>
            <a:br>
              <a:rPr sz="2800"/>
            </a:br>
            <a:br>
              <a:rPr sz="2800"/>
            </a:br>
            <a:r>
              <a:rPr lang="fr-FR" sz="2800" b="1" u="none" strike="noStrike">
                <a:solidFill>
                  <a:srgbClr val="00A3A6"/>
                </a:solidFill>
                <a:effectLst/>
                <a:uFillTx/>
                <a:latin typeface="AvenirNext LT Pro MediumCn"/>
              </a:rPr>
              <a:t>Are You A SPLITTER or LUMPER?</a:t>
            </a:r>
            <a:endParaRPr lang="fr-FR" sz="2800" b="1" u="none" strike="noStrike">
              <a:solidFill>
                <a:srgbClr val="00A3A6"/>
              </a:solidFill>
              <a:effectLst/>
              <a:uFillTx/>
              <a:latin typeface="AvenirNext LT Pro MediumCn"/>
            </a:endParaRPr>
          </a:p>
        </p:txBody>
      </p:sp>
      <p:sp>
        <p:nvSpPr>
          <p:cNvPr id="232" name="ZoneTexte 4"/>
          <p:cNvSpPr/>
          <p:nvPr/>
        </p:nvSpPr>
        <p:spPr>
          <a:xfrm>
            <a:off x="8012880" y="797400"/>
            <a:ext cx="15058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Darwin (1857)</a:t>
            </a:r>
            <a:endParaRPr lang="fr-FR" sz="1800" b="0" u="none" strike="noStrike">
              <a:solidFill>
                <a:srgbClr val="000000"/>
              </a:solidFill>
              <a:effectLst/>
              <a:uFillTx/>
              <a:latin typeface="Arial"/>
            </a:endParaRPr>
          </a:p>
        </p:txBody>
      </p:sp>
      <p:pic>
        <p:nvPicPr>
          <p:cNvPr id="233" name="Picture 2" descr="La plage vue du ciel par Gray Malin"/>
          <p:cNvPicPr/>
          <p:nvPr/>
        </p:nvPicPr>
        <p:blipFill>
          <a:blip r:embed="rId3"/>
          <a:stretch/>
        </p:blipFill>
        <p:spPr>
          <a:xfrm>
            <a:off x="6234480" y="1883520"/>
            <a:ext cx="3737520" cy="2621520"/>
          </a:xfrm>
          <a:prstGeom prst="rect">
            <a:avLst/>
          </a:prstGeom>
          <a:noFill/>
          <a:ln w="0">
            <a:noFill/>
          </a:ln>
        </p:spPr>
      </p:pic>
      <p:pic>
        <p:nvPicPr>
          <p:cNvPr id="234" name="Picture 4" descr="photo Plage de Navagio. Baie des épaves, île de Zante, Grèce. Vue d'en haut  par Lobachad sur Envato Elements"/>
          <p:cNvPicPr/>
          <p:nvPr/>
        </p:nvPicPr>
        <p:blipFill>
          <a:blip r:embed="rId4"/>
          <a:stretch/>
        </p:blipFill>
        <p:spPr>
          <a:xfrm>
            <a:off x="1589040" y="1883520"/>
            <a:ext cx="3939840" cy="2621520"/>
          </a:xfrm>
          <a:prstGeom prst="rect">
            <a:avLst/>
          </a:prstGeom>
          <a:noFill/>
          <a:ln w="0">
            <a:noFill/>
          </a:ln>
        </p:spPr>
      </p:pic>
      <p:sp>
        <p:nvSpPr>
          <p:cNvPr id="235" name="ZoneTexte 7"/>
          <p:cNvSpPr/>
          <p:nvPr/>
        </p:nvSpPr>
        <p:spPr>
          <a:xfrm>
            <a:off x="2234160" y="4632840"/>
            <a:ext cx="24112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SPLITTER point of view</a:t>
            </a:r>
            <a:endParaRPr lang="fr-FR" sz="1800" b="0" u="none" strike="noStrike">
              <a:solidFill>
                <a:srgbClr val="000000"/>
              </a:solidFill>
              <a:effectLst/>
              <a:uFillTx/>
              <a:latin typeface="Arial"/>
            </a:endParaRPr>
          </a:p>
        </p:txBody>
      </p:sp>
      <p:sp>
        <p:nvSpPr>
          <p:cNvPr id="236" name="ZoneTexte 8"/>
          <p:cNvSpPr/>
          <p:nvPr/>
        </p:nvSpPr>
        <p:spPr>
          <a:xfrm>
            <a:off x="7217640" y="4599000"/>
            <a:ext cx="24112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LUMPER point of view</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hasCustomPrompt="1"/>
          </p:nvPr>
        </p:nvSpPr>
        <p:spPr>
          <a:xfrm>
            <a:off x="470520" y="53280"/>
            <a:ext cx="11250000" cy="10569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fr-FR" sz="3000" b="1" u="none" strike="noStrike">
                <a:solidFill>
                  <a:srgbClr val="00A3A6"/>
                </a:solidFill>
                <a:effectLst/>
                <a:uFillTx/>
                <a:latin typeface="AvenirNext LT Pro MediumCn"/>
              </a:rPr>
              <a:t>Several attempts to decipher the microbiome structure</a:t>
            </a:r>
            <a:endParaRPr lang="en-US" sz="3000" b="1" u="none" strike="noStrike">
              <a:solidFill>
                <a:srgbClr val="00A3A6"/>
              </a:solidFill>
              <a:effectLst/>
              <a:uFillTx/>
              <a:latin typeface="AvenirNext LT Pro MediumCn"/>
            </a:endParaRPr>
          </a:p>
        </p:txBody>
      </p:sp>
      <p:pic>
        <p:nvPicPr>
          <p:cNvPr id="238" name="Image 9"/>
          <p:cNvPicPr/>
          <p:nvPr/>
        </p:nvPicPr>
        <p:blipFill>
          <a:blip r:embed="rId2"/>
          <a:stretch/>
        </p:blipFill>
        <p:spPr>
          <a:xfrm>
            <a:off x="1498320" y="1091880"/>
            <a:ext cx="3588480" cy="3566520"/>
          </a:xfrm>
          <a:prstGeom prst="rect">
            <a:avLst/>
          </a:prstGeom>
          <a:noFill/>
          <a:ln w="0">
            <a:noFill/>
          </a:ln>
        </p:spPr>
      </p:pic>
      <p:pic>
        <p:nvPicPr>
          <p:cNvPr id="239" name="Image 11"/>
          <p:cNvPicPr/>
          <p:nvPr/>
        </p:nvPicPr>
        <p:blipFill>
          <a:blip r:embed="rId3"/>
          <a:srcRect l="0" t="57211" r="55638" b="0"/>
          <a:stretch/>
        </p:blipFill>
        <p:spPr>
          <a:xfrm>
            <a:off x="6736320" y="1371960"/>
            <a:ext cx="3588480" cy="2765160"/>
          </a:xfrm>
          <a:prstGeom prst="rect">
            <a:avLst/>
          </a:prstGeom>
          <a:noFill/>
          <a:ln w="0">
            <a:noFill/>
          </a:ln>
        </p:spPr>
      </p:pic>
      <p:sp>
        <p:nvSpPr>
          <p:cNvPr id="240" name="ZoneTexte 13"/>
          <p:cNvSpPr/>
          <p:nvPr/>
        </p:nvSpPr>
        <p:spPr>
          <a:xfrm>
            <a:off x="6736320" y="5053680"/>
            <a:ext cx="4505400" cy="1199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Limits:</a:t>
            </a:r>
            <a:endParaRPr lang="fr-FR" sz="1800" b="0" u="none" strike="noStrike">
              <a:solidFill>
                <a:srgbClr val="000000"/>
              </a:solidFill>
              <a:effectLst/>
              <a:uFillTx/>
              <a:latin typeface="Arial"/>
            </a:endParaRPr>
          </a:p>
          <a:p>
            <a:pPr defTabSz="457200">
              <a:lnSpc>
                <a:spcPct val="100000"/>
              </a:lnSpc>
            </a:pPr>
            <a:r>
              <a:rPr lang="fr-FR" sz="1800" b="0" u="none" strike="noStrike">
                <a:solidFill>
                  <a:schemeClr val="dk1"/>
                </a:solidFill>
                <a:effectLst/>
                <a:uFillTx/>
                <a:latin typeface="Calibri"/>
              </a:rPr>
              <a:t>Few association with diet</a:t>
            </a:r>
            <a:endParaRPr lang="fr-FR" sz="1800" b="0" u="none" strike="noStrike">
              <a:solidFill>
                <a:srgbClr val="000000"/>
              </a:solidFill>
              <a:effectLst/>
              <a:uFillTx/>
              <a:latin typeface="Arial"/>
            </a:endParaRPr>
          </a:p>
          <a:p>
            <a:pPr defTabSz="457200">
              <a:lnSpc>
                <a:spcPct val="100000"/>
              </a:lnSpc>
            </a:pPr>
            <a:r>
              <a:rPr lang="fr-FR" sz="1800" b="0" u="none" strike="noStrike">
                <a:solidFill>
                  <a:schemeClr val="dk1"/>
                </a:solidFill>
                <a:effectLst/>
                <a:uFillTx/>
                <a:latin typeface="Calibri"/>
              </a:rPr>
              <a:t>Few stability assessment (e.g. with time-series) </a:t>
            </a:r>
            <a:endParaRPr lang="fr-FR" sz="1800" b="0" u="none" strike="noStrike">
              <a:solidFill>
                <a:srgbClr val="000000"/>
              </a:solidFill>
              <a:effectLst/>
              <a:uFillTx/>
              <a:latin typeface="Arial"/>
            </a:endParaRPr>
          </a:p>
        </p:txBody>
      </p:sp>
      <p:sp>
        <p:nvSpPr>
          <p:cNvPr id="241" name="ZoneTexte 2"/>
          <p:cNvSpPr/>
          <p:nvPr/>
        </p:nvSpPr>
        <p:spPr>
          <a:xfrm>
            <a:off x="6575760" y="4659480"/>
            <a:ext cx="48268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Dirichlet Multinomial Mixture (DMM) modeling</a:t>
            </a:r>
            <a:endParaRPr lang="fr-FR" sz="1800" b="0" u="none" strike="noStrike">
              <a:solidFill>
                <a:srgbClr val="000000"/>
              </a:solidFill>
              <a:effectLst/>
              <a:uFillTx/>
              <a:latin typeface="Arial"/>
            </a:endParaRPr>
          </a:p>
        </p:txBody>
      </p:sp>
      <p:sp>
        <p:nvSpPr>
          <p:cNvPr id="242" name="ZoneTexte 3"/>
          <p:cNvSpPr/>
          <p:nvPr/>
        </p:nvSpPr>
        <p:spPr>
          <a:xfrm>
            <a:off x="1645920" y="5053680"/>
            <a:ext cx="2871360" cy="306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400" b="0" u="none" strike="noStrike">
                <a:solidFill>
                  <a:schemeClr val="dk1"/>
                </a:solidFill>
                <a:effectLst/>
                <a:uFillTx/>
                <a:latin typeface="Calibri"/>
              </a:rPr>
              <a:t>Arumugam, Raes et al (2010)</a:t>
            </a:r>
            <a:endParaRPr lang="fr-FR" sz="1400" b="0" u="none" strike="noStrike">
              <a:solidFill>
                <a:srgbClr val="000000"/>
              </a:solidFill>
              <a:effectLst/>
              <a:uFillTx/>
              <a:latin typeface="Arial"/>
            </a:endParaRPr>
          </a:p>
        </p:txBody>
      </p:sp>
      <p:sp>
        <p:nvSpPr>
          <p:cNvPr id="243" name="ZoneTexte 7"/>
          <p:cNvSpPr/>
          <p:nvPr/>
        </p:nvSpPr>
        <p:spPr>
          <a:xfrm>
            <a:off x="8531280" y="3965760"/>
            <a:ext cx="2871360" cy="306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400" b="0" u="none" strike="noStrike">
                <a:solidFill>
                  <a:schemeClr val="dk1"/>
                </a:solidFill>
                <a:effectLst/>
                <a:uFillTx/>
                <a:latin typeface="Calibri"/>
              </a:rPr>
              <a:t>Costea et al (2017)</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fr-FR" sz="3000" b="1" u="none" strike="noStrike">
                <a:solidFill>
                  <a:srgbClr val="00A3A6"/>
                </a:solidFill>
                <a:effectLst/>
                <a:uFillTx/>
                <a:latin typeface="AvenirNext LT Pro MediumCn"/>
              </a:rPr>
              <a:t>Several attempts to deciper the microbiome structure</a:t>
            </a:r>
            <a:endParaRPr lang="en-US" sz="3000" b="1" u="none" strike="noStrike">
              <a:solidFill>
                <a:srgbClr val="00A3A6"/>
              </a:solidFill>
              <a:effectLst/>
              <a:uFillTx/>
              <a:latin typeface="AvenirNext LT Pro MediumCn"/>
            </a:endParaRPr>
          </a:p>
        </p:txBody>
      </p:sp>
      <p:sp>
        <p:nvSpPr>
          <p:cNvPr id="245" name="ZoneTexte 4"/>
          <p:cNvSpPr/>
          <p:nvPr/>
        </p:nvSpPr>
        <p:spPr>
          <a:xfrm>
            <a:off x="6736320" y="5053680"/>
            <a:ext cx="5280480" cy="922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Limits:</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Still no mathematical formulation to treat microbiota composition as a gradient</a:t>
            </a:r>
            <a:endParaRPr lang="fr-FR" sz="1800" b="0" u="none" strike="noStrike">
              <a:solidFill>
                <a:srgbClr val="000000"/>
              </a:solidFill>
              <a:effectLst/>
              <a:uFillTx/>
              <a:latin typeface="Arial"/>
            </a:endParaRPr>
          </a:p>
        </p:txBody>
      </p:sp>
      <p:sp>
        <p:nvSpPr>
          <p:cNvPr id="246" name="ZoneTexte 5"/>
          <p:cNvSpPr/>
          <p:nvPr/>
        </p:nvSpPr>
        <p:spPr>
          <a:xfrm>
            <a:off x="2822040" y="4117320"/>
            <a:ext cx="2871360" cy="306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400" b="0" u="none" strike="noStrike">
                <a:solidFill>
                  <a:schemeClr val="dk1"/>
                </a:solidFill>
                <a:effectLst/>
                <a:uFillTx/>
                <a:latin typeface="Calibri"/>
              </a:rPr>
              <a:t>Huse et al (2012)</a:t>
            </a:r>
            <a:endParaRPr lang="fr-FR" sz="1400" b="0" u="none" strike="noStrike">
              <a:solidFill>
                <a:srgbClr val="000000"/>
              </a:solidFill>
              <a:effectLst/>
              <a:uFillTx/>
              <a:latin typeface="Arial"/>
            </a:endParaRPr>
          </a:p>
        </p:txBody>
      </p:sp>
      <p:sp>
        <p:nvSpPr>
          <p:cNvPr id="247" name="ZoneTexte 6"/>
          <p:cNvSpPr/>
          <p:nvPr/>
        </p:nvSpPr>
        <p:spPr>
          <a:xfrm>
            <a:off x="8081280" y="4116960"/>
            <a:ext cx="2871360" cy="306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400" b="0" u="none" strike="noStrike">
                <a:solidFill>
                  <a:schemeClr val="dk1"/>
                </a:solidFill>
                <a:effectLst/>
                <a:uFillTx/>
                <a:latin typeface="Calibri"/>
              </a:rPr>
              <a:t>Cheng et al (2019)</a:t>
            </a:r>
            <a:endParaRPr lang="fr-FR" sz="1400" b="0" u="none" strike="noStrike">
              <a:solidFill>
                <a:srgbClr val="000000"/>
              </a:solidFill>
              <a:effectLst/>
              <a:uFillTx/>
              <a:latin typeface="Arial"/>
            </a:endParaRPr>
          </a:p>
        </p:txBody>
      </p:sp>
      <p:sp>
        <p:nvSpPr>
          <p:cNvPr id="248" name="ZoneTexte 7"/>
          <p:cNvSpPr/>
          <p:nvPr/>
        </p:nvSpPr>
        <p:spPr>
          <a:xfrm>
            <a:off x="315720" y="1091880"/>
            <a:ext cx="20386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LUMPER</a:t>
            </a:r>
            <a:endParaRPr lang="fr-FR" sz="1800" b="0" u="none" strike="noStrike">
              <a:solidFill>
                <a:srgbClr val="000000"/>
              </a:solidFill>
              <a:effectLst/>
              <a:uFillTx/>
              <a:latin typeface="Arial"/>
            </a:endParaRPr>
          </a:p>
        </p:txBody>
      </p:sp>
      <p:sp>
        <p:nvSpPr>
          <p:cNvPr id="249" name="ZoneTexte 8"/>
          <p:cNvSpPr/>
          <p:nvPr/>
        </p:nvSpPr>
        <p:spPr>
          <a:xfrm>
            <a:off x="315720" y="5192280"/>
            <a:ext cx="559080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“there is no structure in the human gut and everything should be treated as a gradient”</a:t>
            </a:r>
            <a:endParaRPr lang="fr-FR" sz="1800" b="0" u="none" strike="noStrike">
              <a:solidFill>
                <a:srgbClr val="000000"/>
              </a:solidFill>
              <a:effectLst/>
              <a:uFillTx/>
              <a:latin typeface="Arial"/>
            </a:endParaRPr>
          </a:p>
        </p:txBody>
      </p:sp>
      <p:pic>
        <p:nvPicPr>
          <p:cNvPr id="250" name="Image 9"/>
          <p:cNvPicPr/>
          <p:nvPr/>
        </p:nvPicPr>
        <p:blipFill>
          <a:blip r:embed="rId2"/>
          <a:stretch/>
        </p:blipFill>
        <p:spPr>
          <a:xfrm>
            <a:off x="1457280" y="1457280"/>
            <a:ext cx="4088880" cy="2507400"/>
          </a:xfrm>
          <a:prstGeom prst="rect">
            <a:avLst/>
          </a:prstGeom>
          <a:noFill/>
          <a:ln w="0">
            <a:noFill/>
          </a:ln>
        </p:spPr>
      </p:pic>
      <p:pic>
        <p:nvPicPr>
          <p:cNvPr id="251" name="Image 10"/>
          <p:cNvPicPr/>
          <p:nvPr/>
        </p:nvPicPr>
        <p:blipFill>
          <a:blip r:embed="rId3"/>
          <a:srcRect l="49984" t="7873" r="0" b="16531"/>
          <a:stretch/>
        </p:blipFill>
        <p:spPr>
          <a:xfrm>
            <a:off x="6736320" y="1352880"/>
            <a:ext cx="4413960" cy="24829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2" name="Image 4"/>
          <p:cNvPicPr/>
          <p:nvPr/>
        </p:nvPicPr>
        <p:blipFill>
          <a:blip r:embed="rId1"/>
          <a:stretch/>
        </p:blipFill>
        <p:spPr>
          <a:xfrm>
            <a:off x="6463800" y="0"/>
            <a:ext cx="4851360" cy="6856920"/>
          </a:xfrm>
          <a:prstGeom prst="rect">
            <a:avLst/>
          </a:prstGeom>
          <a:noFill/>
          <a:ln w="0">
            <a:noFill/>
          </a:ln>
        </p:spPr>
      </p:pic>
      <p:pic>
        <p:nvPicPr>
          <p:cNvPr id="253" name="Image 5"/>
          <p:cNvPicPr/>
          <p:nvPr/>
        </p:nvPicPr>
        <p:blipFill>
          <a:blip r:embed="rId2"/>
          <a:stretch/>
        </p:blipFill>
        <p:spPr>
          <a:xfrm>
            <a:off x="2402280" y="1436400"/>
            <a:ext cx="1951560" cy="2332440"/>
          </a:xfrm>
          <a:prstGeom prst="rect">
            <a:avLst/>
          </a:prstGeom>
          <a:noFill/>
          <a:ln w="0">
            <a:noFill/>
          </a:ln>
        </p:spPr>
      </p:pic>
      <p:sp>
        <p:nvSpPr>
          <p:cNvPr id="254" name="ZoneTexte 6"/>
          <p:cNvSpPr/>
          <p:nvPr/>
        </p:nvSpPr>
        <p:spPr>
          <a:xfrm>
            <a:off x="2674080" y="4271040"/>
            <a:ext cx="167472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Darwin, 1857</a:t>
            </a:r>
            <a:endParaRPr lang="fr-FR" sz="1800" b="0" u="none" strike="noStrike">
              <a:solidFill>
                <a:srgbClr val="000000"/>
              </a:solidFill>
              <a:effectLst/>
              <a:uFillTx/>
              <a:latin typeface="Arial"/>
            </a:endParaRPr>
          </a:p>
        </p:txBody>
      </p:sp>
      <p:sp>
        <p:nvSpPr>
          <p:cNvPr id="255" name="ZoneTexte 7"/>
          <p:cNvSpPr/>
          <p:nvPr/>
        </p:nvSpPr>
        <p:spPr>
          <a:xfrm>
            <a:off x="2472480" y="3650040"/>
            <a:ext cx="238284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 It is good to have splitters and lumpers »</a:t>
            </a:r>
            <a:endParaRPr lang="fr-FR" sz="1800" b="0" u="none" strike="noStrike">
              <a:solidFill>
                <a:srgbClr val="000000"/>
              </a:solidFill>
              <a:effectLst/>
              <a:uFillTx/>
              <a:latin typeface="Arial"/>
            </a:endParaRPr>
          </a:p>
        </p:txBody>
      </p:sp>
      <p:pic>
        <p:nvPicPr>
          <p:cNvPr id="256" name="Picture 2" descr="pixel-sunglasses-20"/>
          <p:cNvPicPr/>
          <p:nvPr/>
        </p:nvPicPr>
        <p:blipFill>
          <a:blip r:embed="rId3"/>
          <a:stretch/>
        </p:blipFill>
        <p:spPr>
          <a:xfrm>
            <a:off x="2724480" y="1819440"/>
            <a:ext cx="1126080" cy="481680"/>
          </a:xfrm>
          <a:prstGeom prst="rect">
            <a:avLst/>
          </a:prstGeom>
          <a:noFill/>
          <a:ln w="0">
            <a:noFill/>
          </a:ln>
        </p:spPr>
      </p:pic>
      <p:sp>
        <p:nvSpPr>
          <p:cNvPr id="257" name="ZoneTexte 9"/>
          <p:cNvSpPr/>
          <p:nvPr/>
        </p:nvSpPr>
        <p:spPr>
          <a:xfrm>
            <a:off x="9574920" y="5671080"/>
            <a:ext cx="182952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My son, 2020</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“School at home”</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2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fill="hold" nodeType="clickEffect">
                                  <p:stCondLst>
                                    <p:cond delay="0"/>
                                  </p:stCondLst>
                                  <p:childTnLst>
                                    <p:set>
                                      <p:cBhvr>
                                        <p:cTn id="70" dur="1" fill="hold">
                                          <p:stCondLst>
                                            <p:cond delay="0"/>
                                          </p:stCondLst>
                                        </p:cTn>
                                        <p:tgtEl>
                                          <p:spTgt spid="25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fill="hold" nodeType="clickEffect">
                                  <p:stCondLst>
                                    <p:cond delay="0"/>
                                  </p:stCondLst>
                                  <p:childTnLst>
                                    <p:set>
                                      <p:cBhvr>
                                        <p:cTn id="74" dur="1" fill="hold">
                                          <p:stCondLst>
                                            <p:cond delay="0"/>
                                          </p:stCondLst>
                                        </p:cTn>
                                        <p:tgtEl>
                                          <p:spTgt spid="254"/>
                                        </p:tgtEl>
                                        <p:attrNameLst>
                                          <p:attrName>style.visibility</p:attrName>
                                        </p:attrNameLst>
                                      </p:cBhvr>
                                      <p:to>
                                        <p:strVal val="visible"/>
                                      </p:to>
                                    </p:set>
                                  </p:childTnLst>
                                </p:cTn>
                              </p:par>
                              <p:par>
                                <p:cTn id="75" presetID="1" presetClass="entr" fill="hold" nodeType="withEffect">
                                  <p:stCondLst>
                                    <p:cond delay="0"/>
                                  </p:stCondLst>
                                  <p:childTnLst>
                                    <p:set>
                                      <p:cBhvr>
                                        <p:cTn id="76" dur="1" fill="hold">
                                          <p:stCondLst>
                                            <p:cond delay="0"/>
                                          </p:stCondLst>
                                        </p:cTn>
                                        <p:tgtEl>
                                          <p:spTgt spid="256"/>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35,000 human gut microbiome samples analyzed</a:t>
            </a:r>
            <a:endParaRPr lang="en-US" sz="3000" b="1" u="none" strike="noStrike">
              <a:solidFill>
                <a:srgbClr val="00A3A6"/>
              </a:solidFill>
              <a:effectLst/>
              <a:uFillTx/>
              <a:latin typeface="AvenirNext LT Pro MediumCn"/>
            </a:endParaRPr>
          </a:p>
        </p:txBody>
      </p:sp>
      <p:pic>
        <p:nvPicPr>
          <p:cNvPr id="259" name="Image 4"/>
          <p:cNvPicPr/>
          <p:nvPr/>
        </p:nvPicPr>
        <p:blipFill>
          <a:blip r:embed="rId2"/>
          <a:srcRect l="3511" t="19913" r="0" b="23658"/>
          <a:stretch/>
        </p:blipFill>
        <p:spPr>
          <a:xfrm>
            <a:off x="700200" y="767520"/>
            <a:ext cx="6281640" cy="2268720"/>
          </a:xfrm>
          <a:prstGeom prst="rect">
            <a:avLst/>
          </a:prstGeom>
          <a:noFill/>
          <a:ln w="0">
            <a:noFill/>
          </a:ln>
        </p:spPr>
      </p:pic>
      <p:pic>
        <p:nvPicPr>
          <p:cNvPr id="260" name="Image 5"/>
          <p:cNvPicPr/>
          <p:nvPr/>
        </p:nvPicPr>
        <p:blipFill>
          <a:blip r:embed="rId3"/>
          <a:srcRect l="37395" t="0" r="0" b="0"/>
          <a:stretch/>
        </p:blipFill>
        <p:spPr>
          <a:xfrm>
            <a:off x="1009800" y="3037320"/>
            <a:ext cx="6181920" cy="2840040"/>
          </a:xfrm>
          <a:prstGeom prst="rect">
            <a:avLst/>
          </a:prstGeom>
          <a:noFill/>
          <a:ln w="0">
            <a:noFill/>
          </a:ln>
        </p:spPr>
      </p:pic>
      <p:sp>
        <p:nvSpPr>
          <p:cNvPr id="261" name="ZoneTexte 6"/>
          <p:cNvSpPr/>
          <p:nvPr/>
        </p:nvSpPr>
        <p:spPr>
          <a:xfrm>
            <a:off x="1522800" y="3730680"/>
            <a:ext cx="1670040" cy="36828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microbial taxa</a:t>
            </a:r>
            <a:endParaRPr lang="fr-FR" sz="1800" b="0" u="none" strike="noStrike">
              <a:solidFill>
                <a:srgbClr val="000000"/>
              </a:solidFill>
              <a:effectLst/>
              <a:uFillTx/>
              <a:latin typeface="Arial"/>
            </a:endParaRPr>
          </a:p>
        </p:txBody>
      </p:sp>
      <p:sp>
        <p:nvSpPr>
          <p:cNvPr id="262" name="ZoneTexte 7"/>
          <p:cNvSpPr/>
          <p:nvPr/>
        </p:nvSpPr>
        <p:spPr>
          <a:xfrm rot="16200000">
            <a:off x="-9360" y="4631400"/>
            <a:ext cx="1541520" cy="368280"/>
          </a:xfrm>
          <a:prstGeom prst="rect">
            <a:avLst/>
          </a:prstGeom>
          <a:solidFill>
            <a:schemeClr val="bg1"/>
          </a:solid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fecal samples</a:t>
            </a:r>
            <a:endParaRPr lang="fr-FR" sz="1800" b="0" u="none" strike="noStrike">
              <a:solidFill>
                <a:srgbClr val="000000"/>
              </a:solidFill>
              <a:effectLst/>
              <a:uFillTx/>
              <a:latin typeface="Arial"/>
            </a:endParaRPr>
          </a:p>
        </p:txBody>
      </p:sp>
      <p:sp>
        <p:nvSpPr>
          <p:cNvPr id="263" name="ZoneTexte 8"/>
          <p:cNvSpPr/>
          <p:nvPr/>
        </p:nvSpPr>
        <p:spPr>
          <a:xfrm>
            <a:off x="8585640" y="3638160"/>
            <a:ext cx="2675160" cy="645120"/>
          </a:xfrm>
          <a:prstGeom prst="rect">
            <a:avLst/>
          </a:prstGeom>
          <a:gradFill rotWithShape="0">
            <a:gsLst>
              <a:gs pos="0">
                <a:srgbClr val="5F5597"/>
              </a:gs>
              <a:gs pos="50000">
                <a:srgbClr val="3E2B8C"/>
              </a:gs>
              <a:gs pos="100000">
                <a:srgbClr val="352281"/>
              </a:gs>
            </a:gsLst>
            <a:lin ang="5400000"/>
          </a:gradFill>
          <a:ln w="0">
            <a:noFill/>
          </a:ln>
          <a:effectLst>
            <a:outerShdw algn="ctr" blurRad="57240" dir="5400000" dist="19080" rotWithShape="0">
              <a:srgbClr val="000000">
                <a:alpha val="63000"/>
              </a:srgbClr>
            </a:outerShdw>
          </a:effectLst>
        </p:spPr>
        <p:style>
          <a:lnRef idx="0">
            <a:schemeClr val="accent4"/>
          </a:lnRef>
          <a:fillRef idx="3">
            <a:schemeClr val="accent4"/>
          </a:fillRef>
          <a:effectRef idx="3">
            <a:schemeClr val="accent4"/>
          </a:effectRef>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Time-series analysis to detect microbiome states</a:t>
            </a:r>
            <a:endParaRPr lang="fr-FR" sz="1800" b="0" u="none" strike="noStrike">
              <a:solidFill>
                <a:srgbClr val="000000"/>
              </a:solidFill>
              <a:effectLst/>
              <a:uFillTx/>
              <a:latin typeface="Arial"/>
            </a:endParaRPr>
          </a:p>
        </p:txBody>
      </p:sp>
      <p:sp>
        <p:nvSpPr>
          <p:cNvPr id="264" name="Rectangle 9"/>
          <p:cNvSpPr/>
          <p:nvPr/>
        </p:nvSpPr>
        <p:spPr>
          <a:xfrm>
            <a:off x="8585640" y="4727160"/>
            <a:ext cx="2458440" cy="922320"/>
          </a:xfrm>
          <a:prstGeom prst="rect">
            <a:avLst/>
          </a:prstGeom>
          <a:gradFill rotWithShape="0">
            <a:gsLst>
              <a:gs pos="0">
                <a:srgbClr val="5F5597"/>
              </a:gs>
              <a:gs pos="50000">
                <a:srgbClr val="3E2B8C"/>
              </a:gs>
              <a:gs pos="100000">
                <a:srgbClr val="352281"/>
              </a:gs>
            </a:gsLst>
            <a:lin ang="5400000"/>
          </a:gradFill>
          <a:ln w="0">
            <a:noFill/>
          </a:ln>
          <a:effectLst>
            <a:outerShdw algn="ctr" blurRad="57240" dir="5400000" dist="19080" rotWithShape="0">
              <a:srgbClr val="000000">
                <a:alpha val="63000"/>
              </a:srgbClr>
            </a:outerShdw>
          </a:effectLst>
        </p:spPr>
        <p:style>
          <a:lnRef idx="0">
            <a:schemeClr val="accent4"/>
          </a:lnRef>
          <a:fillRef idx="3">
            <a:schemeClr val="accent4"/>
          </a:fillRef>
          <a:effectRef idx="3">
            <a:schemeClr val="accent4"/>
          </a:effectRef>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Region of birth, Lifestyle, diet, and health modelization</a:t>
            </a:r>
            <a:endParaRPr lang="fr-FR" sz="1800" b="0" u="none" strike="noStrike">
              <a:solidFill>
                <a:srgbClr val="000000"/>
              </a:solidFill>
              <a:effectLst/>
              <a:uFillTx/>
              <a:latin typeface="Arial"/>
            </a:endParaRPr>
          </a:p>
        </p:txBody>
      </p:sp>
      <p:cxnSp>
        <p:nvCxnSpPr>
          <p:cNvPr id="265" name="Connecteur droit avec flèche 11"/>
          <p:cNvCxnSpPr/>
          <p:nvPr/>
        </p:nvCxnSpPr>
        <p:spPr>
          <a:xfrm>
            <a:off x="7590960" y="4815000"/>
            <a:ext cx="339840" cy="1080"/>
          </a:xfrm>
          <a:prstGeom prst="straightConnector1">
            <a:avLst/>
          </a:prstGeom>
          <a:ln w="53975">
            <a:solidFill>
              <a:srgbClr val="000000"/>
            </a:solidFill>
            <a:round/>
            <a:tailEnd len="sm" type="triangle" w="med"/>
          </a:ln>
        </p:spPr>
      </p:cxnSp>
      <p:sp>
        <p:nvSpPr>
          <p:cNvPr id="266" name="ZoneTexte 2"/>
          <p:cNvSpPr/>
          <p:nvPr/>
        </p:nvSpPr>
        <p:spPr>
          <a:xfrm>
            <a:off x="8729280" y="1294560"/>
            <a:ext cx="2314800" cy="1476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New computational method that help observe </a:t>
            </a:r>
            <a:r>
              <a:rPr lang="en-US" sz="1800" b="1" u="none" strike="noStrike">
                <a:solidFill>
                  <a:schemeClr val="dk1"/>
                </a:solidFill>
                <a:effectLst/>
                <a:uFillTx/>
                <a:latin typeface="Calibri"/>
              </a:rPr>
              <a:t>global and local structure </a:t>
            </a:r>
            <a:r>
              <a:rPr lang="en-US" sz="1800" b="0" u="none" strike="noStrike">
                <a:solidFill>
                  <a:schemeClr val="dk1"/>
                </a:solidFill>
                <a:effectLst/>
                <a:uFillTx/>
                <a:latin typeface="Calibri"/>
              </a:rPr>
              <a:t>at the same time</a:t>
            </a:r>
            <a:endParaRPr lang="fr-FR" sz="1800" b="0" u="none" strike="noStrike">
              <a:solidFill>
                <a:srgbClr val="000000"/>
              </a:solidFill>
              <a:effectLst/>
              <a:uFillTx/>
              <a:latin typeface="Arial"/>
            </a:endParaRPr>
          </a:p>
        </p:txBody>
      </p:sp>
      <p:sp>
        <p:nvSpPr>
          <p:cNvPr id="267" name="ZoneTexte 3"/>
          <p:cNvSpPr/>
          <p:nvPr/>
        </p:nvSpPr>
        <p:spPr>
          <a:xfrm>
            <a:off x="4897440" y="3355920"/>
            <a:ext cx="199332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AvenirNext LT Pro Cn"/>
              </a:rPr>
              <a:t>and DMM partitioning</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fr-FR" sz="3000" b="1" u="none" strike="noStrike">
                <a:solidFill>
                  <a:srgbClr val="00A3A6"/>
                </a:solidFill>
                <a:effectLst/>
                <a:uFillTx/>
                <a:latin typeface="AvenirNext LT Pro MediumCn"/>
              </a:rPr>
              <a:t>Human Gut microbiome structured as branches</a:t>
            </a:r>
            <a:endParaRPr lang="en-US" sz="3000" b="1" u="none" strike="noStrike">
              <a:solidFill>
                <a:srgbClr val="00A3A6"/>
              </a:solidFill>
              <a:effectLst/>
              <a:uFillTx/>
              <a:latin typeface="AvenirNext LT Pro MediumCn"/>
            </a:endParaRPr>
          </a:p>
        </p:txBody>
      </p:sp>
      <p:pic>
        <p:nvPicPr>
          <p:cNvPr id="269" name="Image 4"/>
          <p:cNvPicPr/>
          <p:nvPr/>
        </p:nvPicPr>
        <p:blipFill>
          <a:blip r:embed="rId2"/>
          <a:stretch/>
        </p:blipFill>
        <p:spPr>
          <a:xfrm>
            <a:off x="700200" y="1073520"/>
            <a:ext cx="5004000" cy="2614320"/>
          </a:xfrm>
          <a:prstGeom prst="rect">
            <a:avLst/>
          </a:prstGeom>
          <a:noFill/>
          <a:ln w="0">
            <a:noFill/>
          </a:ln>
        </p:spPr>
      </p:pic>
      <p:pic>
        <p:nvPicPr>
          <p:cNvPr id="270" name="Image 5"/>
          <p:cNvPicPr/>
          <p:nvPr/>
        </p:nvPicPr>
        <p:blipFill>
          <a:blip r:embed="rId3"/>
          <a:stretch/>
        </p:blipFill>
        <p:spPr>
          <a:xfrm>
            <a:off x="6625800" y="1079640"/>
            <a:ext cx="5260320" cy="2614320"/>
          </a:xfrm>
          <a:prstGeom prst="rect">
            <a:avLst/>
          </a:prstGeom>
          <a:noFill/>
          <a:ln w="0">
            <a:noFill/>
          </a:ln>
        </p:spPr>
      </p:pic>
      <p:pic>
        <p:nvPicPr>
          <p:cNvPr id="271" name="Image 6"/>
          <p:cNvPicPr/>
          <p:nvPr/>
        </p:nvPicPr>
        <p:blipFill>
          <a:blip r:embed="rId4"/>
          <a:stretch/>
        </p:blipFill>
        <p:spPr>
          <a:xfrm>
            <a:off x="6625800" y="3710520"/>
            <a:ext cx="5260320" cy="2498400"/>
          </a:xfrm>
          <a:prstGeom prst="rect">
            <a:avLst/>
          </a:prstGeom>
          <a:noFill/>
          <a:ln w="0">
            <a:noFill/>
          </a:ln>
        </p:spPr>
      </p:pic>
      <p:pic>
        <p:nvPicPr>
          <p:cNvPr id="272" name="Image 7"/>
          <p:cNvPicPr/>
          <p:nvPr/>
        </p:nvPicPr>
        <p:blipFill>
          <a:blip r:embed="rId5"/>
          <a:stretch/>
        </p:blipFill>
        <p:spPr>
          <a:xfrm>
            <a:off x="700200" y="3655800"/>
            <a:ext cx="5004000" cy="2553480"/>
          </a:xfrm>
          <a:prstGeom prst="rect">
            <a:avLst/>
          </a:prstGeom>
          <a:noFill/>
          <a:ln w="0">
            <a:noFill/>
          </a:ln>
        </p:spPr>
      </p:pic>
      <p:sp>
        <p:nvSpPr>
          <p:cNvPr id="273" name="ZoneTexte 8"/>
          <p:cNvSpPr/>
          <p:nvPr/>
        </p:nvSpPr>
        <p:spPr>
          <a:xfrm>
            <a:off x="9516240" y="1248480"/>
            <a:ext cx="159372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Alpha-diversity</a:t>
            </a:r>
            <a:endParaRPr lang="fr-FR" sz="1800" b="0" u="none" strike="noStrike">
              <a:solidFill>
                <a:srgbClr val="000000"/>
              </a:solidFill>
              <a:effectLst/>
              <a:uFillTx/>
              <a:latin typeface="Arial"/>
            </a:endParaRPr>
          </a:p>
        </p:txBody>
      </p:sp>
      <p:sp>
        <p:nvSpPr>
          <p:cNvPr id="274" name="ZoneTexte 9"/>
          <p:cNvSpPr/>
          <p:nvPr/>
        </p:nvSpPr>
        <p:spPr>
          <a:xfrm>
            <a:off x="3706200" y="3655800"/>
            <a:ext cx="184356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 Healthy index »</a:t>
            </a:r>
            <a:endParaRPr lang="fr-FR" sz="1800" b="0" u="none" strike="noStrike">
              <a:solidFill>
                <a:srgbClr val="000000"/>
              </a:solidFill>
              <a:effectLst/>
              <a:uFillTx/>
              <a:latin typeface="Arial"/>
            </a:endParaRPr>
          </a:p>
        </p:txBody>
      </p:sp>
      <p:sp>
        <p:nvSpPr>
          <p:cNvPr id="275" name="ZoneTexte 10"/>
          <p:cNvSpPr/>
          <p:nvPr/>
        </p:nvSpPr>
        <p:spPr>
          <a:xfrm>
            <a:off x="9668520" y="3808080"/>
            <a:ext cx="1637280" cy="36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800" b="0" u="none" strike="noStrike">
                <a:solidFill>
                  <a:schemeClr val="dk1"/>
                </a:solidFill>
                <a:effectLst/>
                <a:uFillTx/>
                <a:latin typeface="Calibri"/>
              </a:rPr>
              <a:t>« Aerobiosis »</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27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fill="hold" nodeType="clickEffect">
                                  <p:stCondLst>
                                    <p:cond delay="0"/>
                                  </p:stCondLst>
                                  <p:childTnLst>
                                    <p:set>
                                      <p:cBhvr>
                                        <p:cTn id="88" dur="1" fill="hold">
                                          <p:stCondLst>
                                            <p:cond delay="0"/>
                                          </p:stCondLst>
                                        </p:cTn>
                                        <p:tgtEl>
                                          <p:spTgt spid="27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fill="hold" nodeType="clickEffect">
                                  <p:stCondLst>
                                    <p:cond delay="0"/>
                                  </p:stCondLst>
                                  <p:childTnLst>
                                    <p:set>
                                      <p:cBhvr>
                                        <p:cTn id="92" dur="1" fill="hold">
                                          <p:stCondLst>
                                            <p:cond delay="0"/>
                                          </p:stCondLst>
                                        </p:cTn>
                                        <p:tgtEl>
                                          <p:spTgt spid="27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fill="hold" nodeType="clickEffect">
                                  <p:stCondLst>
                                    <p:cond delay="0"/>
                                  </p:stCondLst>
                                  <p:childTnLst>
                                    <p:set>
                                      <p:cBhvr>
                                        <p:cTn id="96" dur="1" fill="hold">
                                          <p:stCondLst>
                                            <p:cond delay="0"/>
                                          </p:stCondLst>
                                        </p:cTn>
                                        <p:tgtEl>
                                          <p:spTgt spid="27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fill="hold" nodeType="clickEffect">
                                  <p:stCondLst>
                                    <p:cond delay="0"/>
                                  </p:stCondLst>
                                  <p:childTnLst>
                                    <p:set>
                                      <p:cBhvr>
                                        <p:cTn id="100" dur="1" fill="hold">
                                          <p:stCondLst>
                                            <p:cond delay="0"/>
                                          </p:stCondLst>
                                        </p:cTn>
                                        <p:tgtEl>
                                          <p:spTgt spid="27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fill="hold" nodeType="clickEffect">
                                  <p:stCondLst>
                                    <p:cond delay="0"/>
                                  </p:stCondLst>
                                  <p:childTnLst>
                                    <p:set>
                                      <p:cBhvr>
                                        <p:cTn id="104"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Dynamics between partitions are associated to branches</a:t>
            </a:r>
            <a:endParaRPr lang="en-US" sz="3000" b="1" u="none" strike="noStrike">
              <a:solidFill>
                <a:srgbClr val="00A3A6"/>
              </a:solidFill>
              <a:effectLst/>
              <a:uFillTx/>
              <a:latin typeface="AvenirNext LT Pro MediumCn"/>
            </a:endParaRPr>
          </a:p>
        </p:txBody>
      </p:sp>
      <p:sp>
        <p:nvSpPr>
          <p:cNvPr id="277" name="ZoneTexte 4"/>
          <p:cNvSpPr/>
          <p:nvPr/>
        </p:nvSpPr>
        <p:spPr>
          <a:xfrm>
            <a:off x="1880640" y="997920"/>
            <a:ext cx="1577520" cy="33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600" b="0" u="none" strike="noStrike">
                <a:solidFill>
                  <a:schemeClr val="dk1"/>
                </a:solidFill>
                <a:effectLst/>
                <a:uFillTx/>
                <a:latin typeface="Calibri"/>
              </a:rPr>
              <a:t>2,998 samples</a:t>
            </a:r>
            <a:endParaRPr lang="fr-FR" sz="1600" b="0" u="none" strike="noStrike">
              <a:solidFill>
                <a:srgbClr val="000000"/>
              </a:solidFill>
              <a:effectLst/>
              <a:uFillTx/>
              <a:latin typeface="Arial"/>
            </a:endParaRPr>
          </a:p>
        </p:txBody>
      </p:sp>
      <p:sp>
        <p:nvSpPr>
          <p:cNvPr id="278" name="ZoneTexte 5"/>
          <p:cNvSpPr/>
          <p:nvPr/>
        </p:nvSpPr>
        <p:spPr>
          <a:xfrm>
            <a:off x="3391920" y="1003680"/>
            <a:ext cx="2978280" cy="33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600" b="0" u="none" strike="noStrike">
                <a:solidFill>
                  <a:schemeClr val="dk1"/>
                </a:solidFill>
                <a:effectLst/>
                <a:uFillTx/>
                <a:latin typeface="Calibri"/>
              </a:rPr>
              <a:t>2,171 time-pairs</a:t>
            </a:r>
            <a:endParaRPr lang="fr-FR" sz="1600" b="0" u="none" strike="noStrike">
              <a:solidFill>
                <a:srgbClr val="000000"/>
              </a:solidFill>
              <a:effectLst/>
              <a:uFillTx/>
              <a:latin typeface="Arial"/>
            </a:endParaRPr>
          </a:p>
        </p:txBody>
      </p:sp>
      <p:sp>
        <p:nvSpPr>
          <p:cNvPr id="279" name="ZoneTexte 6"/>
          <p:cNvSpPr/>
          <p:nvPr/>
        </p:nvSpPr>
        <p:spPr>
          <a:xfrm>
            <a:off x="218160" y="974520"/>
            <a:ext cx="1768320" cy="33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fr-FR" sz="1600" b="0" u="none" strike="noStrike">
                <a:solidFill>
                  <a:schemeClr val="dk1"/>
                </a:solidFill>
                <a:effectLst/>
                <a:uFillTx/>
                <a:latin typeface="Calibri"/>
              </a:rPr>
              <a:t>827 participants</a:t>
            </a:r>
            <a:endParaRPr lang="fr-FR" sz="1600" b="0" u="none" strike="noStrike">
              <a:solidFill>
                <a:srgbClr val="000000"/>
              </a:solidFill>
              <a:effectLst/>
              <a:uFillTx/>
              <a:latin typeface="Arial"/>
            </a:endParaRPr>
          </a:p>
        </p:txBody>
      </p:sp>
      <p:pic>
        <p:nvPicPr>
          <p:cNvPr id="280" name="Image 7"/>
          <p:cNvPicPr/>
          <p:nvPr/>
        </p:nvPicPr>
        <p:blipFill>
          <a:blip r:embed="rId2"/>
          <a:stretch/>
        </p:blipFill>
        <p:spPr>
          <a:xfrm>
            <a:off x="169560" y="1328400"/>
            <a:ext cx="5594760" cy="3926520"/>
          </a:xfrm>
          <a:prstGeom prst="rect">
            <a:avLst/>
          </a:prstGeom>
          <a:noFill/>
          <a:ln w="0">
            <a:noFill/>
          </a:ln>
        </p:spPr>
      </p:pic>
      <p:pic>
        <p:nvPicPr>
          <p:cNvPr id="281" name="Image 8"/>
          <p:cNvPicPr/>
          <p:nvPr/>
        </p:nvPicPr>
        <p:blipFill>
          <a:blip r:embed="rId3"/>
          <a:stretch/>
        </p:blipFill>
        <p:spPr>
          <a:xfrm>
            <a:off x="6723000" y="1445040"/>
            <a:ext cx="5053680" cy="3966480"/>
          </a:xfrm>
          <a:prstGeom prst="rect">
            <a:avLst/>
          </a:prstGeom>
          <a:noFill/>
          <a:ln w="0">
            <a:noFill/>
          </a:ln>
        </p:spPr>
      </p:pic>
      <p:sp>
        <p:nvSpPr>
          <p:cNvPr id="282" name="Ellipse 9"/>
          <p:cNvSpPr/>
          <p:nvPr/>
        </p:nvSpPr>
        <p:spPr>
          <a:xfrm>
            <a:off x="1811520" y="3173400"/>
            <a:ext cx="758520" cy="714960"/>
          </a:xfrm>
          <a:prstGeom prst="ellipse">
            <a:avLst/>
          </a:prstGeom>
          <a:noFill/>
          <a:ln w="9525">
            <a:solidFill>
              <a:srgbClr val="ED6E6C"/>
            </a:solidFill>
            <a:round/>
          </a:ln>
        </p:spPr>
        <p:style>
          <a:lnRef idx="0"/>
          <a:fillRef idx="0"/>
          <a:effectRef idx="0"/>
          <a:fontRef idx="minor"/>
        </p:style>
        <p:txBody>
          <a:bodyPr lIns="90000" tIns="45000" rIns="90000" bIns="45000" anchor="ctr">
            <a:noAutofit/>
          </a:bodyPr>
          <a:p>
            <a:pPr algn="ctr" defTabSz="457200">
              <a:lnSpc>
                <a:spcPct val="100000"/>
              </a:lnSpc>
            </a:pPr>
            <a:endParaRPr lang="fr-FR" sz="1800" b="0" u="none" strike="noStrike">
              <a:solidFill>
                <a:schemeClr val="accent5"/>
              </a:solidFill>
              <a:effectLst/>
              <a:uFillTx/>
              <a:latin typeface="Calibri"/>
            </a:endParaRPr>
          </a:p>
        </p:txBody>
      </p:sp>
      <p:sp>
        <p:nvSpPr>
          <p:cNvPr id="283" name="Ellipse 10"/>
          <p:cNvSpPr/>
          <p:nvPr/>
        </p:nvSpPr>
        <p:spPr>
          <a:xfrm>
            <a:off x="3032280" y="4298760"/>
            <a:ext cx="718200" cy="697680"/>
          </a:xfrm>
          <a:prstGeom prst="ellipse">
            <a:avLst/>
          </a:prstGeom>
          <a:noFill/>
          <a:ln w="9525">
            <a:solidFill>
              <a:srgbClr val="ED6E6C"/>
            </a:solidFill>
            <a:round/>
          </a:ln>
        </p:spPr>
        <p:style>
          <a:lnRef idx="0"/>
          <a:fillRef idx="0"/>
          <a:effectRef idx="0"/>
          <a:fontRef idx="minor"/>
        </p:style>
        <p:txBody>
          <a:bodyPr lIns="90000" tIns="45000" rIns="90000" bIns="45000" anchor="ctr">
            <a:noAutofit/>
          </a:bodyPr>
          <a:p>
            <a:pPr algn="ctr" defTabSz="457200">
              <a:lnSpc>
                <a:spcPct val="100000"/>
              </a:lnSpc>
            </a:pPr>
            <a:endParaRPr lang="fr-FR" sz="1800" b="0" u="none" strike="noStrike">
              <a:solidFill>
                <a:schemeClr val="accent5"/>
              </a:solidFill>
              <a:effectLst/>
              <a:uFillTx/>
              <a:latin typeface="Calibri"/>
            </a:endParaRPr>
          </a:p>
        </p:txBody>
      </p:sp>
      <p:sp>
        <p:nvSpPr>
          <p:cNvPr id="284" name="ZoneTexte 2"/>
          <p:cNvSpPr/>
          <p:nvPr/>
        </p:nvSpPr>
        <p:spPr>
          <a:xfrm>
            <a:off x="6542280" y="5610960"/>
            <a:ext cx="498780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i="1" u="none" strike="noStrike">
                <a:solidFill>
                  <a:schemeClr val="dk1"/>
                </a:solidFill>
                <a:effectLst/>
                <a:uFillTx/>
                <a:latin typeface="Calibri"/>
              </a:rPr>
              <a:t>Feacalibacterium/Bacteroides </a:t>
            </a:r>
            <a:r>
              <a:rPr lang="en-US" sz="1800" b="0" u="none" strike="noStrike">
                <a:solidFill>
                  <a:schemeClr val="dk1"/>
                </a:solidFill>
                <a:effectLst/>
                <a:uFillTx/>
                <a:latin typeface="Calibri"/>
              </a:rPr>
              <a:t>as a tipping element </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explaining the switch between some states</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5" dur="indefinite" restart="never" nodeType="tmRoot">
          <p:childTnLst>
            <p:seq>
              <p:cTn id="106" dur="indefinite" nodeType="mainSeq">
                <p:childTnLst>
                  <p:par>
                    <p:cTn id="107" fill="hold">
                      <p:stCondLst>
                        <p:cond delay="indefinite"/>
                      </p:stCondLst>
                      <p:childTnLst>
                        <p:par>
                          <p:cTn id="108" fill="hold">
                            <p:stCondLst>
                              <p:cond delay="0"/>
                            </p:stCondLst>
                            <p:childTnLst>
                              <p:par>
                                <p:cTn id="109" presetID="1" presetClass="entr" fill="hold" nodeType="clickEffect">
                                  <p:stCondLst>
                                    <p:cond delay="0"/>
                                  </p:stCondLst>
                                  <p:childTnLst>
                                    <p:set>
                                      <p:cBhvr>
                                        <p:cTn id="110" dur="1" fill="hold">
                                          <p:stCondLst>
                                            <p:cond delay="0"/>
                                          </p:stCondLst>
                                        </p:cTn>
                                        <p:tgtEl>
                                          <p:spTgt spid="280"/>
                                        </p:tgtEl>
                                        <p:attrNameLst>
                                          <p:attrName>style.visibility</p:attrName>
                                        </p:attrNameLst>
                                      </p:cBhvr>
                                      <p:to>
                                        <p:strVal val="visible"/>
                                      </p:to>
                                    </p:set>
                                  </p:childTnLst>
                                </p:cTn>
                              </p:par>
                              <p:par>
                                <p:cTn id="111" presetID="1" presetClass="entr" fill="hold" nodeType="withEffect">
                                  <p:stCondLst>
                                    <p:cond delay="0"/>
                                  </p:stCondLst>
                                  <p:childTnLst>
                                    <p:set>
                                      <p:cBhvr>
                                        <p:cTn id="112" dur="1" fill="hold">
                                          <p:stCondLst>
                                            <p:cond delay="0"/>
                                          </p:stCondLst>
                                        </p:cTn>
                                        <p:tgtEl>
                                          <p:spTgt spid="282"/>
                                        </p:tgtEl>
                                        <p:attrNameLst>
                                          <p:attrName>style.visibility</p:attrName>
                                        </p:attrNameLst>
                                      </p:cBhvr>
                                      <p:to>
                                        <p:strVal val="visible"/>
                                      </p:to>
                                    </p:set>
                                  </p:childTnLst>
                                </p:cTn>
                              </p:par>
                              <p:par>
                                <p:cTn id="113" presetID="1" presetClass="entr" fill="hold" nodeType="withEffect">
                                  <p:stCondLst>
                                    <p:cond delay="0"/>
                                  </p:stCondLst>
                                  <p:childTnLst>
                                    <p:set>
                                      <p:cBhvr>
                                        <p:cTn id="114" dur="1" fill="hold">
                                          <p:stCondLst>
                                            <p:cond delay="0"/>
                                          </p:stCondLst>
                                        </p:cTn>
                                        <p:tgtEl>
                                          <p:spTgt spid="28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fill="hold" nodeType="clickEffect">
                                  <p:stCondLst>
                                    <p:cond delay="0"/>
                                  </p:stCondLst>
                                  <p:childTnLst>
                                    <p:set>
                                      <p:cBhvr>
                                        <p:cTn id="118" dur="1" fill="hold">
                                          <p:stCondLst>
                                            <p:cond delay="0"/>
                                          </p:stCondLst>
                                        </p:cTn>
                                        <p:tgtEl>
                                          <p:spTgt spid="281"/>
                                        </p:tgtEl>
                                        <p:attrNameLst>
                                          <p:attrName>style.visibility</p:attrName>
                                        </p:attrNameLst>
                                      </p:cBhvr>
                                      <p:to>
                                        <p:strVal val="visible"/>
                                      </p:to>
                                    </p:set>
                                  </p:childTnLst>
                                </p:cTn>
                              </p:par>
                              <p:par>
                                <p:cTn id="119" presetID="1" presetClass="entr" fill="hold" nodeType="withEffect">
                                  <p:stCondLst>
                                    <p:cond delay="0"/>
                                  </p:stCondLst>
                                  <p:childTnLst>
                                    <p:set>
                                      <p:cBhvr>
                                        <p:cTn id="120"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5" name="Image 2"/>
          <p:cNvPicPr/>
          <p:nvPr/>
        </p:nvPicPr>
        <p:blipFill>
          <a:blip r:embed="rId1"/>
          <a:stretch/>
        </p:blipFill>
        <p:spPr>
          <a:xfrm>
            <a:off x="1182240" y="1103040"/>
            <a:ext cx="8809920" cy="5441400"/>
          </a:xfrm>
          <a:prstGeom prst="rect">
            <a:avLst/>
          </a:prstGeom>
          <a:noFill/>
          <a:ln w="0">
            <a:noFill/>
          </a:ln>
        </p:spPr>
      </p:pic>
      <p:sp>
        <p:nvSpPr>
          <p:cNvPr id="286"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2"/>
              </a:buBlip>
            </a:pPr>
            <a:r>
              <a:rPr lang="en-US" sz="3000" b="1" u="none" strike="noStrike">
                <a:solidFill>
                  <a:srgbClr val="00A3A6"/>
                </a:solidFill>
                <a:effectLst/>
                <a:uFillTx/>
                <a:latin typeface="AvenirNext LT Pro MediumCn"/>
              </a:rPr>
              <a:t>Branches help to monitor gut microbiome recovery</a:t>
            </a:r>
            <a:endParaRPr lang="fr-FR" sz="3000" b="1" u="none" strike="noStrike">
              <a:solidFill>
                <a:srgbClr val="00A3A6"/>
              </a:solidFill>
              <a:effectLst/>
              <a:uFillTx/>
              <a:latin typeface="AvenirNext LT Pro MediumCn"/>
            </a:endParaRPr>
          </a:p>
        </p:txBody>
      </p:sp>
      <p:sp>
        <p:nvSpPr>
          <p:cNvPr id="287" name="Éclair 3"/>
          <p:cNvSpPr/>
          <p:nvPr/>
        </p:nvSpPr>
        <p:spPr>
          <a:xfrm>
            <a:off x="3644640" y="3084480"/>
            <a:ext cx="175320" cy="416880"/>
          </a:xfrm>
          <a:prstGeom prst="lightningBolt">
            <a:avLst/>
          </a:prstGeom>
          <a:solidFill>
            <a:srgbClr val="000000"/>
          </a:solidFill>
          <a:ln>
            <a:solidFill>
              <a:srgbClr val="000000"/>
            </a:solidFill>
          </a:ln>
        </p:spPr>
        <p:style>
          <a:lnRef idx="2">
            <a:schemeClr val="dk1">
              <a:shade val="50000"/>
            </a:schemeClr>
          </a:lnRef>
          <a:fillRef idx="1">
            <a:schemeClr val="dk1"/>
          </a:fillRef>
          <a:effectRef idx="0">
            <a:schemeClr val="dk1"/>
          </a:effectRef>
          <a:fontRef idx="minor"/>
        </p:style>
        <p:txBody>
          <a:bodyPr lIns="87840" tIns="45000" rIns="87840" bIns="45000" anchor="ctr">
            <a:noAutofit/>
          </a:bodyPr>
          <a:p>
            <a:endParaRPr lang="en-US" sz="1800" b="0" u="none" strike="noStrike">
              <a:solidFill>
                <a:schemeClr val="lt1"/>
              </a:solidFill>
              <a:effectLst/>
              <a:uFillTx/>
              <a:latin typeface="Calibri"/>
            </a:endParaRPr>
          </a:p>
        </p:txBody>
      </p:sp>
      <p:sp>
        <p:nvSpPr>
          <p:cNvPr id="288" name="ZoneTexte 4"/>
          <p:cNvSpPr/>
          <p:nvPr/>
        </p:nvSpPr>
        <p:spPr>
          <a:xfrm>
            <a:off x="3226680" y="2364480"/>
            <a:ext cx="157968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Bowel surgery (IBD)</a:t>
            </a:r>
            <a:endParaRPr lang="fr-FR" sz="1800" b="0" u="none" strike="noStrike">
              <a:solidFill>
                <a:srgbClr val="000000"/>
              </a:solidFill>
              <a:effectLst/>
              <a:uFillTx/>
              <a:latin typeface="Arial"/>
            </a:endParaRPr>
          </a:p>
        </p:txBody>
      </p:sp>
      <p:pic>
        <p:nvPicPr>
          <p:cNvPr id="289" name="Image 5"/>
          <p:cNvPicPr/>
          <p:nvPr/>
        </p:nvPicPr>
        <p:blipFill>
          <a:blip r:embed="rId3"/>
          <a:stretch/>
        </p:blipFill>
        <p:spPr>
          <a:xfrm>
            <a:off x="3546720" y="871560"/>
            <a:ext cx="6818760" cy="1334880"/>
          </a:xfrm>
          <a:prstGeom prst="rect">
            <a:avLst/>
          </a:prstGeom>
          <a:noFill/>
          <a:ln w="0">
            <a:noFill/>
          </a:ln>
        </p:spPr>
      </p:pic>
      <p:pic>
        <p:nvPicPr>
          <p:cNvPr id="290" name="Image 6"/>
          <p:cNvPicPr/>
          <p:nvPr/>
        </p:nvPicPr>
        <p:blipFill>
          <a:blip r:embed="rId4"/>
          <a:stretch/>
        </p:blipFill>
        <p:spPr>
          <a:xfrm>
            <a:off x="8208720" y="4707360"/>
            <a:ext cx="1364400" cy="5904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hasCustomPrompt="1"/>
          </p:nvPr>
        </p:nvSpPr>
        <p:spPr>
          <a:xfrm>
            <a:off x="700200" y="42840"/>
            <a:ext cx="10283400" cy="77256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Do we already observe a intergenerationally mass extinction ?</a:t>
            </a:r>
            <a:endParaRPr lang="en-US" sz="3000" b="1" u="none" strike="noStrike">
              <a:solidFill>
                <a:srgbClr val="00A3A6"/>
              </a:solidFill>
              <a:effectLst/>
              <a:uFillTx/>
              <a:latin typeface="AvenirNext LT Pro MediumCn"/>
            </a:endParaRPr>
          </a:p>
        </p:txBody>
      </p:sp>
      <p:pic>
        <p:nvPicPr>
          <p:cNvPr id="292" name="Image 4"/>
          <p:cNvPicPr/>
          <p:nvPr/>
        </p:nvPicPr>
        <p:blipFill>
          <a:blip r:embed="rId2"/>
          <a:srcRect l="52805" t="18222" r="15929" b="39049"/>
          <a:stretch/>
        </p:blipFill>
        <p:spPr>
          <a:xfrm>
            <a:off x="700200" y="772560"/>
            <a:ext cx="3807720" cy="1636920"/>
          </a:xfrm>
          <a:prstGeom prst="rect">
            <a:avLst/>
          </a:prstGeom>
          <a:noFill/>
          <a:ln w="0">
            <a:noFill/>
          </a:ln>
        </p:spPr>
      </p:pic>
      <p:grpSp>
        <p:nvGrpSpPr>
          <p:cNvPr id="293" name="Groupe 24"/>
          <p:cNvGrpSpPr/>
          <p:nvPr/>
        </p:nvGrpSpPr>
        <p:grpSpPr>
          <a:xfrm>
            <a:off x="4382640" y="2410560"/>
            <a:ext cx="6480360" cy="3748680"/>
            <a:chOff x="4382640" y="2410560"/>
            <a:chExt cx="6480360" cy="3748680"/>
          </a:xfrm>
        </p:grpSpPr>
        <p:pic>
          <p:nvPicPr>
            <p:cNvPr id="294" name="Image 5"/>
            <p:cNvPicPr/>
            <p:nvPr/>
          </p:nvPicPr>
          <p:blipFill>
            <a:blip r:embed="rId3"/>
            <a:stretch/>
          </p:blipFill>
          <p:spPr>
            <a:xfrm>
              <a:off x="4382640" y="2410560"/>
              <a:ext cx="6480360" cy="3480120"/>
            </a:xfrm>
            <a:prstGeom prst="rect">
              <a:avLst/>
            </a:prstGeom>
            <a:noFill/>
            <a:ln w="0">
              <a:noFill/>
            </a:ln>
          </p:spPr>
        </p:pic>
        <p:sp>
          <p:nvSpPr>
            <p:cNvPr id="295" name="ZoneTexte 6"/>
            <p:cNvSpPr/>
            <p:nvPr/>
          </p:nvSpPr>
          <p:spPr>
            <a:xfrm>
              <a:off x="6194520" y="5785560"/>
              <a:ext cx="1369440" cy="368280"/>
            </a:xfrm>
            <a:prstGeom prst="rect">
              <a:avLst/>
            </a:prstGeom>
            <a:solidFill>
              <a:srgbClr val="FFFFFF"/>
            </a:solidFill>
            <a:ln>
              <a:noFill/>
            </a:ln>
          </p:spPr>
          <p:style>
            <a:lnRef idx="2">
              <a:schemeClr val="dk1"/>
            </a:lnRef>
            <a:fillRef idx="1">
              <a:schemeClr val="lt1"/>
            </a:fillRef>
            <a:effectRef idx="0">
              <a:schemeClr val="dk1"/>
            </a:effectRef>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Pseudo-time</a:t>
              </a:r>
              <a:endParaRPr lang="fr-FR" sz="1800" b="0" u="none" strike="noStrike">
                <a:solidFill>
                  <a:srgbClr val="000000"/>
                </a:solidFill>
                <a:effectLst/>
                <a:uFillTx/>
                <a:latin typeface="Arial"/>
              </a:endParaRPr>
            </a:p>
          </p:txBody>
        </p:sp>
        <p:sp>
          <p:nvSpPr>
            <p:cNvPr id="296" name="ZoneTexte 7"/>
            <p:cNvSpPr/>
            <p:nvPr/>
          </p:nvSpPr>
          <p:spPr>
            <a:xfrm>
              <a:off x="8715600" y="5790960"/>
              <a:ext cx="1369440" cy="368280"/>
            </a:xfrm>
            <a:prstGeom prst="rect">
              <a:avLst/>
            </a:prstGeom>
            <a:solidFill>
              <a:srgbClr val="FFFFFF"/>
            </a:solidFill>
            <a:ln>
              <a:noFill/>
            </a:ln>
          </p:spPr>
          <p:style>
            <a:lnRef idx="2">
              <a:schemeClr val="dk1"/>
            </a:lnRef>
            <a:fillRef idx="1">
              <a:schemeClr val="lt1"/>
            </a:fillRef>
            <a:effectRef idx="0">
              <a:schemeClr val="dk1"/>
            </a:effectRef>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Pseudo-time</a:t>
              </a:r>
              <a:endParaRPr lang="fr-FR" sz="1800" b="0" u="none" strike="noStrike">
                <a:solidFill>
                  <a:srgbClr val="000000"/>
                </a:solidFill>
                <a:effectLst/>
                <a:uFillTx/>
                <a:latin typeface="Arial"/>
              </a:endParaRPr>
            </a:p>
          </p:txBody>
        </p:sp>
      </p:grpSp>
      <p:cxnSp>
        <p:nvCxnSpPr>
          <p:cNvPr id="297" name="Connecteur : en arc 9"/>
          <p:cNvCxnSpPr>
            <a:stCxn id="292" idx="3"/>
          </p:cNvCxnSpPr>
          <p:nvPr/>
        </p:nvCxnSpPr>
        <p:spPr>
          <a:xfrm>
            <a:off x="4507920" y="1590840"/>
            <a:ext cx="1448640" cy="883080"/>
          </a:xfrm>
          <a:prstGeom prst="curvedConnector3">
            <a:avLst>
              <a:gd name="adj1" fmla="val 100024"/>
            </a:avLst>
          </a:prstGeom>
          <a:ln w="0">
            <a:solidFill>
              <a:srgbClr val="000000"/>
            </a:solidFill>
            <a:tailEnd len="med" type="triangle" w="med"/>
          </a:ln>
        </p:spPr>
      </p:cxnSp>
      <p:cxnSp>
        <p:nvCxnSpPr>
          <p:cNvPr id="298" name="Connecteur : en arc 19"/>
          <p:cNvCxnSpPr>
            <a:stCxn id="292" idx="3"/>
          </p:cNvCxnSpPr>
          <p:nvPr/>
        </p:nvCxnSpPr>
        <p:spPr>
          <a:xfrm>
            <a:off x="4507920" y="1590840"/>
            <a:ext cx="3929400" cy="820800"/>
          </a:xfrm>
          <a:prstGeom prst="curvedConnector3">
            <a:avLst>
              <a:gd name="adj1" fmla="val 99807"/>
            </a:avLst>
          </a:prstGeom>
          <a:ln w="0">
            <a:solidFill>
              <a:srgbClr val="000000"/>
            </a:solidFill>
            <a:tailEnd len="med" type="triangle" w="med"/>
          </a:ln>
        </p:spPr>
      </p:cxnSp>
      <p:pic>
        <p:nvPicPr>
          <p:cNvPr id="299" name="Image 23"/>
          <p:cNvPicPr/>
          <p:nvPr/>
        </p:nvPicPr>
        <p:blipFill>
          <a:blip r:embed="rId4"/>
          <a:stretch/>
        </p:blipFill>
        <p:spPr>
          <a:xfrm>
            <a:off x="576000" y="2830680"/>
            <a:ext cx="3109320" cy="2846160"/>
          </a:xfrm>
          <a:prstGeom prst="rect">
            <a:avLst/>
          </a:prstGeom>
          <a:noFill/>
          <a:ln w="0">
            <a:noFill/>
          </a:ln>
        </p:spPr>
      </p:pic>
      <p:cxnSp>
        <p:nvCxnSpPr>
          <p:cNvPr id="300" name="Connecteur : en arc 29"/>
          <p:cNvCxnSpPr>
            <a:stCxn id="292" idx="2"/>
          </p:cNvCxnSpPr>
          <p:nvPr/>
        </p:nvCxnSpPr>
        <p:spPr>
          <a:xfrm rot="5400000">
            <a:off x="1301400" y="3039840"/>
            <a:ext cx="1932840" cy="672480"/>
          </a:xfrm>
          <a:prstGeom prst="curvedConnector3">
            <a:avLst>
              <a:gd name="adj1" fmla="val 50037"/>
            </a:avLst>
          </a:prstGeom>
          <a:ln w="0">
            <a:solidFill>
              <a:srgbClr val="000000"/>
            </a:solidFill>
            <a:tailEnd len="med" type="triangle" w="med"/>
          </a:ln>
        </p:spPr>
      </p:cxnSp>
      <p:sp>
        <p:nvSpPr>
          <p:cNvPr id="301" name="ZoneTexte 32"/>
          <p:cNvSpPr/>
          <p:nvPr/>
        </p:nvSpPr>
        <p:spPr>
          <a:xfrm>
            <a:off x="2913840" y="2955960"/>
            <a:ext cx="95328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younger</a:t>
            </a:r>
            <a:endParaRPr lang="fr-FR" sz="1800" b="0" u="none" strike="noStrike">
              <a:solidFill>
                <a:srgbClr val="000000"/>
              </a:solidFill>
              <a:effectLst/>
              <a:uFillTx/>
              <a:latin typeface="Arial"/>
            </a:endParaRPr>
          </a:p>
        </p:txBody>
      </p:sp>
      <p:sp>
        <p:nvSpPr>
          <p:cNvPr id="302" name="ZoneTexte 33"/>
          <p:cNvSpPr/>
          <p:nvPr/>
        </p:nvSpPr>
        <p:spPr>
          <a:xfrm>
            <a:off x="977760" y="2802960"/>
            <a:ext cx="95328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younger</a:t>
            </a:r>
            <a:endParaRPr lang="fr-FR" sz="1800" b="0" u="none" strike="noStrike">
              <a:solidFill>
                <a:srgbClr val="000000"/>
              </a:solidFill>
              <a:effectLst/>
              <a:uFillTx/>
              <a:latin typeface="Arial"/>
            </a:endParaRPr>
          </a:p>
        </p:txBody>
      </p:sp>
      <p:cxnSp>
        <p:nvCxnSpPr>
          <p:cNvPr id="303" name="Connecteur droit avec flèche 35"/>
          <p:cNvCxnSpPr/>
          <p:nvPr/>
        </p:nvCxnSpPr>
        <p:spPr>
          <a:xfrm flipH="1">
            <a:off x="1224360" y="3140640"/>
            <a:ext cx="104400" cy="185760"/>
          </a:xfrm>
          <a:prstGeom prst="straightConnector1">
            <a:avLst/>
          </a:prstGeom>
          <a:ln w="0">
            <a:solidFill>
              <a:srgbClr val="00A3A6"/>
            </a:solidFill>
            <a:tailEnd len="med" type="triangle" w="med"/>
          </a:ln>
        </p:spPr>
      </p:cxnSp>
      <p:cxnSp>
        <p:nvCxnSpPr>
          <p:cNvPr id="304" name="Connecteur droit avec flèche 37"/>
          <p:cNvCxnSpPr/>
          <p:nvPr/>
        </p:nvCxnSpPr>
        <p:spPr>
          <a:xfrm flipH="1">
            <a:off x="3113280" y="3249000"/>
            <a:ext cx="104400" cy="185760"/>
          </a:xfrm>
          <a:prstGeom prst="straightConnector1">
            <a:avLst/>
          </a:prstGeom>
          <a:ln w="0">
            <a:solidFill>
              <a:srgbClr val="00A3A6"/>
            </a:solidFill>
            <a:tailEnd len="med" type="triangle" w="med"/>
          </a:ln>
        </p:spPr>
      </p:cxnSp>
      <p:sp>
        <p:nvSpPr>
          <p:cNvPr id="305" name="ZoneTexte 38"/>
          <p:cNvSpPr/>
          <p:nvPr/>
        </p:nvSpPr>
        <p:spPr>
          <a:xfrm>
            <a:off x="7146360" y="2032200"/>
            <a:ext cx="95328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younger</a:t>
            </a:r>
            <a:endParaRPr lang="fr-FR" sz="1800" b="0" u="none" strike="noStrike">
              <a:solidFill>
                <a:srgbClr val="000000"/>
              </a:solidFill>
              <a:effectLst/>
              <a:uFillTx/>
              <a:latin typeface="Arial"/>
            </a:endParaRPr>
          </a:p>
        </p:txBody>
      </p:sp>
      <p:sp>
        <p:nvSpPr>
          <p:cNvPr id="306" name="ZoneTexte 39"/>
          <p:cNvSpPr/>
          <p:nvPr/>
        </p:nvSpPr>
        <p:spPr>
          <a:xfrm>
            <a:off x="9764280" y="2001240"/>
            <a:ext cx="95328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younger</a:t>
            </a:r>
            <a:endParaRPr lang="fr-FR" sz="1800" b="0" u="none" strike="noStrike">
              <a:solidFill>
                <a:srgbClr val="000000"/>
              </a:solidFill>
              <a:effectLst/>
              <a:uFillTx/>
              <a:latin typeface="Arial"/>
            </a:endParaRPr>
          </a:p>
        </p:txBody>
      </p:sp>
      <p:cxnSp>
        <p:nvCxnSpPr>
          <p:cNvPr id="307" name="Connecteur droit avec flèche 40"/>
          <p:cNvCxnSpPr/>
          <p:nvPr/>
        </p:nvCxnSpPr>
        <p:spPr>
          <a:xfrm flipH="1">
            <a:off x="7728120" y="2322720"/>
            <a:ext cx="104400" cy="185760"/>
          </a:xfrm>
          <a:prstGeom prst="straightConnector1">
            <a:avLst/>
          </a:prstGeom>
          <a:ln w="0">
            <a:solidFill>
              <a:srgbClr val="00A3A6"/>
            </a:solidFill>
            <a:tailEnd len="med" type="triangle" w="med"/>
          </a:ln>
        </p:spPr>
      </p:cxnSp>
      <p:cxnSp>
        <p:nvCxnSpPr>
          <p:cNvPr id="308" name="Connecteur droit avec flèche 41"/>
          <p:cNvCxnSpPr/>
          <p:nvPr/>
        </p:nvCxnSpPr>
        <p:spPr>
          <a:xfrm flipH="1">
            <a:off x="10288800" y="2306520"/>
            <a:ext cx="104400" cy="185760"/>
          </a:xfrm>
          <a:prstGeom prst="straightConnector1">
            <a:avLst/>
          </a:prstGeom>
          <a:ln w="0">
            <a:solidFill>
              <a:srgbClr val="00A3A6"/>
            </a:solidFill>
            <a:tailEnd len="med" type="triangle" w="med"/>
          </a:ln>
        </p:spPr>
      </p:cxnSp>
      <p:pic>
        <p:nvPicPr>
          <p:cNvPr id="309" name="Image 46"/>
          <p:cNvPicPr/>
          <p:nvPr/>
        </p:nvPicPr>
        <p:blipFill>
          <a:blip r:embed="rId5"/>
          <a:stretch/>
        </p:blipFill>
        <p:spPr>
          <a:xfrm>
            <a:off x="9161280" y="801360"/>
            <a:ext cx="2835720" cy="1198800"/>
          </a:xfrm>
          <a:prstGeom prst="rect">
            <a:avLst/>
          </a:prstGeom>
          <a:noFill/>
          <a:ln w="0">
            <a:noFill/>
          </a:ln>
        </p:spPr>
      </p:pic>
      <p:sp>
        <p:nvSpPr>
          <p:cNvPr id="310" name="ZoneTexte 2"/>
          <p:cNvSpPr/>
          <p:nvPr/>
        </p:nvSpPr>
        <p:spPr>
          <a:xfrm>
            <a:off x="8367480" y="6341400"/>
            <a:ext cx="303336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Tap et al., Nature Comm. 2023</a:t>
            </a:r>
            <a:endParaRPr lang="fr-FR" sz="1800" b="0" u="none" strike="noStrike">
              <a:solidFill>
                <a:srgbClr val="000000"/>
              </a:solidFill>
              <a:effectLst/>
              <a:uFillTx/>
              <a:latin typeface="Arial"/>
            </a:endParaRPr>
          </a:p>
        </p:txBody>
      </p:sp>
      <p:sp>
        <p:nvSpPr>
          <p:cNvPr id="311" name="ZoneTexte 3"/>
          <p:cNvSpPr/>
          <p:nvPr/>
        </p:nvSpPr>
        <p:spPr>
          <a:xfrm>
            <a:off x="4628160" y="848520"/>
            <a:ext cx="195264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Older and healthy diet and lifestyle</a:t>
            </a:r>
            <a:endParaRPr lang="fr-FR" sz="1800" b="0" u="none" strike="noStrike">
              <a:solidFill>
                <a:srgbClr val="000000"/>
              </a:solidFill>
              <a:effectLst/>
              <a:uFillTx/>
              <a:latin typeface="Arial"/>
            </a:endParaRPr>
          </a:p>
        </p:txBody>
      </p:sp>
      <p:pic>
        <p:nvPicPr>
          <p:cNvPr id="312" name="Image 8"/>
          <p:cNvPicPr/>
          <p:nvPr/>
        </p:nvPicPr>
        <p:blipFill>
          <a:blip r:embed="rId6"/>
          <a:srcRect l="6479" t="12675" r="9899" b="13892"/>
          <a:stretch/>
        </p:blipFill>
        <p:spPr>
          <a:xfrm>
            <a:off x="2669040" y="4541760"/>
            <a:ext cx="1364400" cy="591480"/>
          </a:xfrm>
          <a:prstGeom prst="rect">
            <a:avLst/>
          </a:prstGeom>
          <a:noFill/>
          <a:ln w="0">
            <a:noFill/>
          </a:ln>
        </p:spPr>
      </p:pic>
    </p:spTree>
  </p:cSld>
  <mc:AlternateContent>
    <mc:Choice Requires="p14">
      <p:transition spd="slow" p14:dur="2000"/>
    </mc:Choice>
    <mc:Fallback>
      <p:transition spd="slow"/>
    </mc:Fallback>
  </mc:AlternateContent>
  <p:timing>
    <p:tnLst>
      <p:par>
        <p:cTn id="121" dur="indefinite" restart="never" nodeType="tmRoot">
          <p:childTnLst>
            <p:seq>
              <p:cTn id="122" dur="indefinite" nodeType="mainSeq">
                <p:childTnLst>
                  <p:par>
                    <p:cTn id="123" fill="hold">
                      <p:stCondLst>
                        <p:cond delay="indefinite"/>
                      </p:stCondLst>
                      <p:childTnLst>
                        <p:par>
                          <p:cTn id="124" fill="hold">
                            <p:stCondLst>
                              <p:cond delay="0"/>
                            </p:stCondLst>
                            <p:childTnLst>
                              <p:par>
                                <p:cTn id="125" presetID="1" presetClass="entr" fill="hold" nodeType="clickEffect">
                                  <p:stCondLst>
                                    <p:cond delay="0"/>
                                  </p:stCondLst>
                                  <p:childTnLst>
                                    <p:set>
                                      <p:cBhvr>
                                        <p:cTn id="126" dur="1" fill="hold">
                                          <p:stCondLst>
                                            <p:cond delay="0"/>
                                          </p:stCondLst>
                                        </p:cTn>
                                        <p:tgtEl>
                                          <p:spTgt spid="300"/>
                                        </p:tgtEl>
                                        <p:attrNameLst>
                                          <p:attrName>style.visibility</p:attrName>
                                        </p:attrNameLst>
                                      </p:cBhvr>
                                      <p:to>
                                        <p:strVal val="visible"/>
                                      </p:to>
                                    </p:set>
                                  </p:childTnLst>
                                </p:cTn>
                              </p:par>
                              <p:par>
                                <p:cTn id="127" presetID="1" presetClass="entr" fill="hold" nodeType="withEffect">
                                  <p:stCondLst>
                                    <p:cond delay="0"/>
                                  </p:stCondLst>
                                  <p:childTnLst>
                                    <p:set>
                                      <p:cBhvr>
                                        <p:cTn id="128" dur="1" fill="hold">
                                          <p:stCondLst>
                                            <p:cond delay="0"/>
                                          </p:stCondLst>
                                        </p:cTn>
                                        <p:tgtEl>
                                          <p:spTgt spid="29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fill="hold" nodeType="clickEffect">
                                  <p:stCondLst>
                                    <p:cond delay="0"/>
                                  </p:stCondLst>
                                  <p:childTnLst>
                                    <p:set>
                                      <p:cBhvr>
                                        <p:cTn id="132" dur="1" fill="hold">
                                          <p:stCondLst>
                                            <p:cond delay="0"/>
                                          </p:stCondLst>
                                        </p:cTn>
                                        <p:tgtEl>
                                          <p:spTgt spid="302"/>
                                        </p:tgtEl>
                                        <p:attrNameLst>
                                          <p:attrName>style.visibility</p:attrName>
                                        </p:attrNameLst>
                                      </p:cBhvr>
                                      <p:to>
                                        <p:strVal val="visible"/>
                                      </p:to>
                                    </p:set>
                                  </p:childTnLst>
                                </p:cTn>
                              </p:par>
                              <p:par>
                                <p:cTn id="133" presetID="1" presetClass="entr" fill="hold" nodeType="withEffect">
                                  <p:stCondLst>
                                    <p:cond delay="0"/>
                                  </p:stCondLst>
                                  <p:childTnLst>
                                    <p:set>
                                      <p:cBhvr>
                                        <p:cTn id="134" dur="1" fill="hold">
                                          <p:stCondLst>
                                            <p:cond delay="0"/>
                                          </p:stCondLst>
                                        </p:cTn>
                                        <p:tgtEl>
                                          <p:spTgt spid="303"/>
                                        </p:tgtEl>
                                        <p:attrNameLst>
                                          <p:attrName>style.visibility</p:attrName>
                                        </p:attrNameLst>
                                      </p:cBhvr>
                                      <p:to>
                                        <p:strVal val="visible"/>
                                      </p:to>
                                    </p:set>
                                  </p:childTnLst>
                                </p:cTn>
                              </p:par>
                              <p:par>
                                <p:cTn id="135" presetID="1" presetClass="entr" fill="hold" nodeType="withEffect">
                                  <p:stCondLst>
                                    <p:cond delay="0"/>
                                  </p:stCondLst>
                                  <p:childTnLst>
                                    <p:set>
                                      <p:cBhvr>
                                        <p:cTn id="136" dur="1" fill="hold">
                                          <p:stCondLst>
                                            <p:cond delay="0"/>
                                          </p:stCondLst>
                                        </p:cTn>
                                        <p:tgtEl>
                                          <p:spTgt spid="301"/>
                                        </p:tgtEl>
                                        <p:attrNameLst>
                                          <p:attrName>style.visibility</p:attrName>
                                        </p:attrNameLst>
                                      </p:cBhvr>
                                      <p:to>
                                        <p:strVal val="visible"/>
                                      </p:to>
                                    </p:set>
                                  </p:childTnLst>
                                </p:cTn>
                              </p:par>
                              <p:par>
                                <p:cTn id="137" presetID="1" presetClass="entr" fill="hold" nodeType="withEffect">
                                  <p:stCondLst>
                                    <p:cond delay="0"/>
                                  </p:stCondLst>
                                  <p:childTnLst>
                                    <p:set>
                                      <p:cBhvr>
                                        <p:cTn id="138" dur="1" fill="hold">
                                          <p:stCondLst>
                                            <p:cond delay="0"/>
                                          </p:stCondLst>
                                        </p:cTn>
                                        <p:tgtEl>
                                          <p:spTgt spid="304"/>
                                        </p:tgtEl>
                                        <p:attrNameLst>
                                          <p:attrName>style.visibility</p:attrName>
                                        </p:attrNameLst>
                                      </p:cBhvr>
                                      <p:to>
                                        <p:strVal val="visible"/>
                                      </p:to>
                                    </p:set>
                                  </p:childTnLst>
                                </p:cTn>
                              </p:par>
                              <p:par>
                                <p:cTn id="139" presetID="1" presetClass="entr" fill="hold" nodeType="withEffect">
                                  <p:stCondLst>
                                    <p:cond delay="0"/>
                                  </p:stCondLst>
                                  <p:childTnLst>
                                    <p:set>
                                      <p:cBhvr>
                                        <p:cTn id="140" dur="1" fill="hold">
                                          <p:stCondLst>
                                            <p:cond delay="0"/>
                                          </p:stCondLst>
                                        </p:cTn>
                                        <p:tgtEl>
                                          <p:spTgt spid="312"/>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fill="hold" nodeType="clickEffect">
                                  <p:stCondLst>
                                    <p:cond delay="0"/>
                                  </p:stCondLst>
                                  <p:childTnLst>
                                    <p:set>
                                      <p:cBhvr>
                                        <p:cTn id="144" dur="1" fill="hold">
                                          <p:stCondLst>
                                            <p:cond delay="0"/>
                                          </p:stCondLst>
                                        </p:cTn>
                                        <p:tgtEl>
                                          <p:spTgt spid="297"/>
                                        </p:tgtEl>
                                        <p:attrNameLst>
                                          <p:attrName>style.visibility</p:attrName>
                                        </p:attrNameLst>
                                      </p:cBhvr>
                                      <p:to>
                                        <p:strVal val="visible"/>
                                      </p:to>
                                    </p:set>
                                  </p:childTnLst>
                                </p:cTn>
                              </p:par>
                              <p:par>
                                <p:cTn id="145" presetID="1" presetClass="entr" fill="hold" nodeType="withEffect">
                                  <p:stCondLst>
                                    <p:cond delay="0"/>
                                  </p:stCondLst>
                                  <p:childTnLst>
                                    <p:set>
                                      <p:cBhvr>
                                        <p:cTn id="146" dur="1" fill="hold">
                                          <p:stCondLst>
                                            <p:cond delay="0"/>
                                          </p:stCondLst>
                                        </p:cTn>
                                        <p:tgtEl>
                                          <p:spTgt spid="298"/>
                                        </p:tgtEl>
                                        <p:attrNameLst>
                                          <p:attrName>style.visibility</p:attrName>
                                        </p:attrNameLst>
                                      </p:cBhvr>
                                      <p:to>
                                        <p:strVal val="visible"/>
                                      </p:to>
                                    </p:set>
                                  </p:childTnLst>
                                </p:cTn>
                              </p:par>
                              <p:par>
                                <p:cTn id="147" presetID="1" presetClass="entr" fill="hold" nodeType="withEffect">
                                  <p:stCondLst>
                                    <p:cond delay="0"/>
                                  </p:stCondLst>
                                  <p:childTnLst>
                                    <p:set>
                                      <p:cBhvr>
                                        <p:cTn id="148" dur="1" fill="hold">
                                          <p:stCondLst>
                                            <p:cond delay="0"/>
                                          </p:stCondLst>
                                        </p:cTn>
                                        <p:tgtEl>
                                          <p:spTgt spid="293"/>
                                        </p:tgtEl>
                                        <p:attrNameLst>
                                          <p:attrName>style.visibility</p:attrName>
                                        </p:attrNameLst>
                                      </p:cBhvr>
                                      <p:to>
                                        <p:strVal val="visible"/>
                                      </p:to>
                                    </p:set>
                                  </p:childTnLst>
                                </p:cTn>
                              </p:par>
                              <p:par>
                                <p:cTn id="149" presetID="1" presetClass="entr" fill="hold" nodeType="withEffect">
                                  <p:stCondLst>
                                    <p:cond delay="0"/>
                                  </p:stCondLst>
                                  <p:childTnLst>
                                    <p:set>
                                      <p:cBhvr>
                                        <p:cTn id="150" dur="1" fill="hold">
                                          <p:stCondLst>
                                            <p:cond delay="0"/>
                                          </p:stCondLst>
                                        </p:cTn>
                                        <p:tgtEl>
                                          <p:spTgt spid="308"/>
                                        </p:tgtEl>
                                        <p:attrNameLst>
                                          <p:attrName>style.visibility</p:attrName>
                                        </p:attrNameLst>
                                      </p:cBhvr>
                                      <p:to>
                                        <p:strVal val="visible"/>
                                      </p:to>
                                    </p:set>
                                  </p:childTnLst>
                                </p:cTn>
                              </p:par>
                              <p:par>
                                <p:cTn id="151" presetID="1" presetClass="entr" fill="hold" nodeType="withEffect">
                                  <p:stCondLst>
                                    <p:cond delay="0"/>
                                  </p:stCondLst>
                                  <p:childTnLst>
                                    <p:set>
                                      <p:cBhvr>
                                        <p:cTn id="152" dur="1" fill="hold">
                                          <p:stCondLst>
                                            <p:cond delay="0"/>
                                          </p:stCondLst>
                                        </p:cTn>
                                        <p:tgtEl>
                                          <p:spTgt spid="306"/>
                                        </p:tgtEl>
                                        <p:attrNameLst>
                                          <p:attrName>style.visibility</p:attrName>
                                        </p:attrNameLst>
                                      </p:cBhvr>
                                      <p:to>
                                        <p:strVal val="visible"/>
                                      </p:to>
                                    </p:set>
                                  </p:childTnLst>
                                </p:cTn>
                              </p:par>
                              <p:par>
                                <p:cTn id="153" presetID="1" presetClass="entr" fill="hold" nodeType="withEffect">
                                  <p:stCondLst>
                                    <p:cond delay="0"/>
                                  </p:stCondLst>
                                  <p:childTnLst>
                                    <p:set>
                                      <p:cBhvr>
                                        <p:cTn id="154" dur="1" fill="hold">
                                          <p:stCondLst>
                                            <p:cond delay="0"/>
                                          </p:stCondLst>
                                        </p:cTn>
                                        <p:tgtEl>
                                          <p:spTgt spid="309"/>
                                        </p:tgtEl>
                                        <p:attrNameLst>
                                          <p:attrName>style.visibility</p:attrName>
                                        </p:attrNameLst>
                                      </p:cBhvr>
                                      <p:to>
                                        <p:strVal val="visible"/>
                                      </p:to>
                                    </p:set>
                                  </p:childTnLst>
                                </p:cTn>
                              </p:par>
                              <p:par>
                                <p:cTn id="155" presetID="1" presetClass="entr" fill="hold" nodeType="withEffect">
                                  <p:stCondLst>
                                    <p:cond delay="0"/>
                                  </p:stCondLst>
                                  <p:childTnLst>
                                    <p:set>
                                      <p:cBhvr>
                                        <p:cTn id="156" dur="1" fill="hold">
                                          <p:stCondLst>
                                            <p:cond delay="0"/>
                                          </p:stCondLst>
                                        </p:cTn>
                                        <p:tgtEl>
                                          <p:spTgt spid="307"/>
                                        </p:tgtEl>
                                        <p:attrNameLst>
                                          <p:attrName>style.visibility</p:attrName>
                                        </p:attrNameLst>
                                      </p:cBhvr>
                                      <p:to>
                                        <p:strVal val="visible"/>
                                      </p:to>
                                    </p:set>
                                  </p:childTnLst>
                                </p:cTn>
                              </p:par>
                              <p:par>
                                <p:cTn id="157" presetID="1" presetClass="entr" fill="hold" nodeType="withEffect">
                                  <p:stCondLst>
                                    <p:cond delay="0"/>
                                  </p:stCondLst>
                                  <p:childTnLst>
                                    <p:set>
                                      <p:cBhvr>
                                        <p:cTn id="158" dur="1" fill="hold">
                                          <p:stCondLst>
                                            <p:cond delay="0"/>
                                          </p:stCondLst>
                                        </p:cTn>
                                        <p:tgtEl>
                                          <p:spTgt spid="305"/>
                                        </p:tgtEl>
                                        <p:attrNameLst>
                                          <p:attrName>style.visibility</p:attrName>
                                        </p:attrNameLst>
                                      </p:cBhvr>
                                      <p:to>
                                        <p:strVal val="visible"/>
                                      </p:to>
                                    </p:set>
                                  </p:childTnLst>
                                </p:cTn>
                              </p:par>
                              <p:par>
                                <p:cTn id="159" presetID="1" presetClass="entr" fill="hold" nodeType="withEffect">
                                  <p:stCondLst>
                                    <p:cond delay="0"/>
                                  </p:stCondLst>
                                  <p:childTnLst>
                                    <p:set>
                                      <p:cBhvr>
                                        <p:cTn id="160"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3" name="Image 32"/>
          <p:cNvPicPr/>
          <p:nvPr/>
        </p:nvPicPr>
        <p:blipFill>
          <a:blip r:embed="rId1"/>
          <a:srcRect l="0" t="0" r="0" b="2101"/>
          <a:stretch/>
        </p:blipFill>
        <p:spPr>
          <a:xfrm>
            <a:off x="0" y="675000"/>
            <a:ext cx="12191400" cy="5391360"/>
          </a:xfrm>
          <a:prstGeom prst="rect">
            <a:avLst/>
          </a:prstGeom>
          <a:noFill/>
          <a:ln w="0">
            <a:noFill/>
          </a:ln>
        </p:spPr>
      </p:pic>
      <p:sp>
        <p:nvSpPr>
          <p:cNvPr id="314" name="Titre 9"/>
          <p:cNvSpPr/>
          <p:nvPr/>
        </p:nvSpPr>
        <p:spPr>
          <a:xfrm>
            <a:off x="743040" y="149760"/>
            <a:ext cx="10215720" cy="887400"/>
          </a:xfrm>
          <a:prstGeom prst="rect">
            <a:avLst/>
          </a:prstGeom>
          <a:noFill/>
          <a:ln w="0">
            <a:noFill/>
          </a:ln>
        </p:spPr>
        <p:style>
          <a:lnRef idx="0"/>
          <a:fillRef idx="0"/>
          <a:effectRef idx="0"/>
          <a:fontRef idx="minor"/>
        </p:style>
        <p:txBody>
          <a:bodyPr lIns="0" tIns="46800" rIns="90000" bIns="45000" anchor="ctr">
            <a:noAutofit/>
          </a:bodyPr>
          <a:p>
            <a:pPr marL="457200" indent="-457200" defTabSz="914400">
              <a:lnSpc>
                <a:spcPct val="90000"/>
              </a:lnSpc>
              <a:buSzPct val="100054"/>
              <a:buBlip>
                <a:blip r:embed="rId2"/>
              </a:buBlip>
            </a:pPr>
            <a:r>
              <a:rPr lang="en-US" sz="3000" b="1" u="none" strike="noStrike">
                <a:solidFill>
                  <a:srgbClr val="00A3A6"/>
                </a:solidFill>
                <a:effectLst/>
                <a:uFillTx/>
                <a:latin typeface="AvenirNext LT Pro MediumCn"/>
              </a:rPr>
              <a:t>What about Bifidobacterium Ecology in Adult Gut Microbiome?</a:t>
            </a:r>
            <a:endParaRPr lang="fr-FR"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700200" y="42840"/>
            <a:ext cx="10654920" cy="772920"/>
          </a:xfrm>
          <a:prstGeom prst="rect">
            <a:avLst/>
          </a:prstGeom>
          <a:noFill/>
          <a:ln w="0">
            <a:noFill/>
          </a:ln>
        </p:spPr>
        <p:txBody>
          <a:bodyPr lIns="0" tIns="46800" rIns="91440" bIns="45720" anchor="ctr">
            <a:noAutofit/>
          </a:bodyPr>
          <a:p>
            <a:pPr marL="457200" indent="-457200" algn="l" defTabSz="914400">
              <a:lnSpc>
                <a:spcPct val="90000"/>
              </a:lnSpc>
              <a:buSzPct val="100017"/>
              <a:buBlip>
                <a:blip r:embed="rId1"/>
              </a:buBlip>
            </a:pPr>
            <a:r>
              <a:rPr lang="en-US" sz="2400" b="1" u="none" strike="noStrike">
                <a:solidFill>
                  <a:srgbClr val="00A3A6"/>
                </a:solidFill>
                <a:effectLst/>
                <a:uFillTx/>
                <a:latin typeface="AvenirNext LT Pro MediumCn"/>
              </a:rPr>
              <a:t>High SCFA producers in gut microbiome with High abundant B.adolescentis</a:t>
            </a:r>
            <a:endParaRPr lang="en-US" sz="2400" b="1" u="none" strike="noStrike">
              <a:solidFill>
                <a:srgbClr val="00A3A6"/>
              </a:solidFill>
              <a:effectLst/>
              <a:uFillTx/>
              <a:latin typeface="AvenirNext LT Pro MediumCn"/>
            </a:endParaRPr>
          </a:p>
        </p:txBody>
      </p:sp>
      <p:pic>
        <p:nvPicPr>
          <p:cNvPr id="316" name="Image 12"/>
          <p:cNvPicPr/>
          <p:nvPr/>
        </p:nvPicPr>
        <p:blipFill>
          <a:blip r:embed="rId2"/>
          <a:srcRect l="41002" t="2093" r="74" b="232"/>
          <a:stretch/>
        </p:blipFill>
        <p:spPr>
          <a:xfrm>
            <a:off x="2619720" y="1046880"/>
            <a:ext cx="5942880" cy="5192640"/>
          </a:xfrm>
          <a:prstGeom prst="rect">
            <a:avLst/>
          </a:prstGeom>
          <a:noFill/>
          <a:ln w="0">
            <a:noFill/>
          </a:ln>
        </p:spPr>
      </p:pic>
      <p:sp>
        <p:nvSpPr>
          <p:cNvPr id="317" name="Accolade ouvrante 3"/>
          <p:cNvSpPr/>
          <p:nvPr/>
        </p:nvSpPr>
        <p:spPr>
          <a:xfrm rot="16200000">
            <a:off x="6652800" y="5538600"/>
            <a:ext cx="363960" cy="1477800"/>
          </a:xfrm>
          <a:prstGeom prst="leftBrace">
            <a:avLst>
              <a:gd name="adj1" fmla="val 8333"/>
              <a:gd name="adj2" fmla="val 52507"/>
            </a:avLst>
          </a:prstGeom>
          <a:noFill/>
          <a:ln>
            <a:solidFill>
              <a:srgbClr val="00A3A6"/>
            </a:solidFill>
          </a:ln>
        </p:spPr>
        <p:style>
          <a:lnRef idx="1">
            <a:schemeClr val="accent1"/>
          </a:lnRef>
          <a:fillRef idx="0">
            <a:schemeClr val="accent1"/>
          </a:fillRef>
          <a:effectRef idx="0">
            <a:schemeClr val="accent1"/>
          </a:effectRef>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18" name="ZoneTexte 15"/>
          <p:cNvSpPr/>
          <p:nvPr/>
        </p:nvSpPr>
        <p:spPr>
          <a:xfrm>
            <a:off x="5103360" y="6409440"/>
            <a:ext cx="4001400" cy="36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High B.ado gut microbiome versus others</a:t>
            </a:r>
            <a:endParaRPr lang="fr-FR" sz="1800" b="0" u="none" strike="noStrike">
              <a:solidFill>
                <a:srgbClr val="000000"/>
              </a:solidFill>
              <a:effectLst/>
              <a:uFillTx/>
              <a:latin typeface="Arial"/>
            </a:endParaRPr>
          </a:p>
        </p:txBody>
      </p:sp>
      <p:sp>
        <p:nvSpPr>
          <p:cNvPr id="319" name="Accolade ouvrante 4"/>
          <p:cNvSpPr/>
          <p:nvPr/>
        </p:nvSpPr>
        <p:spPr>
          <a:xfrm>
            <a:off x="2459160" y="1099800"/>
            <a:ext cx="339120" cy="1865160"/>
          </a:xfrm>
          <a:prstGeom prst="leftBrace">
            <a:avLst>
              <a:gd name="adj1" fmla="val 8333"/>
              <a:gd name="adj2" fmla="val 50000"/>
            </a:avLst>
          </a:prstGeom>
          <a:noFill/>
          <a:ln>
            <a:solidFill>
              <a:srgbClr val="00A3A6"/>
            </a:solidFill>
          </a:ln>
        </p:spPr>
        <p:style>
          <a:lnRef idx="1">
            <a:schemeClr val="accent1"/>
          </a:lnRef>
          <a:fillRef idx="0">
            <a:schemeClr val="accent1"/>
          </a:fillRef>
          <a:effectRef idx="0">
            <a:schemeClr val="accent1"/>
          </a:effectRef>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20" name="ZoneTexte 16"/>
          <p:cNvSpPr/>
          <p:nvPr/>
        </p:nvSpPr>
        <p:spPr>
          <a:xfrm>
            <a:off x="823320" y="1847880"/>
            <a:ext cx="1616040" cy="36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SCFA producers</a:t>
            </a:r>
            <a:endParaRPr lang="fr-FR" sz="1800" b="0" u="none" strike="noStrike">
              <a:solidFill>
                <a:srgbClr val="000000"/>
              </a:solidFill>
              <a:effectLst/>
              <a:uFillTx/>
              <a:latin typeface="Arial"/>
            </a:endParaRPr>
          </a:p>
        </p:txBody>
      </p:sp>
      <p:sp>
        <p:nvSpPr>
          <p:cNvPr id="321" name="Rectangle 3"/>
          <p:cNvSpPr/>
          <p:nvPr/>
        </p:nvSpPr>
        <p:spPr>
          <a:xfrm>
            <a:off x="6095880" y="1099800"/>
            <a:ext cx="1527480" cy="1914480"/>
          </a:xfrm>
          <a:prstGeom prst="rect">
            <a:avLst/>
          </a:prstGeom>
          <a:noFill/>
          <a:ln w="57150">
            <a:solidFill>
              <a:srgbClr val="00A3A6"/>
            </a:solidFill>
            <a:round/>
          </a:ln>
        </p:spPr>
        <p:style>
          <a:lnRef idx="0"/>
          <a:fillRef idx="0"/>
          <a:effectRef idx="0"/>
          <a:fontRef idx="minor"/>
        </p:style>
        <p:txBody>
          <a:bodyPr lIns="90000" tIns="45000" rIns="90000" bIns="45000" anchor="ctr">
            <a:noAutofit/>
          </a:bodyPr>
          <a:p>
            <a:endParaRPr lang="en-US" sz="1800" b="0" u="none" strike="noStrike">
              <a:solidFill>
                <a:schemeClr val="accent1"/>
              </a:solidFill>
              <a:effectLst/>
              <a:uFillTx/>
              <a:latin typeface="Calibri"/>
            </a:endParaRPr>
          </a:p>
        </p:txBody>
      </p:sp>
      <p:sp>
        <p:nvSpPr>
          <p:cNvPr id="322" name="ZoneTexte 18"/>
          <p:cNvSpPr/>
          <p:nvPr/>
        </p:nvSpPr>
        <p:spPr>
          <a:xfrm>
            <a:off x="9059400" y="6409440"/>
            <a:ext cx="2545920" cy="36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fr-FR" sz="1800" b="0" u="none" strike="noStrike">
                <a:solidFill>
                  <a:schemeClr val="dk1"/>
                </a:solidFill>
                <a:effectLst/>
                <a:uFillTx/>
                <a:latin typeface="Calibri"/>
              </a:rPr>
              <a:t>➡️ « Healthy-like states »</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117720" y="394920"/>
            <a:ext cx="5186880" cy="887040"/>
          </a:xfrm>
          <a:prstGeom prst="rect">
            <a:avLst/>
          </a:prstGeom>
          <a:noFill/>
          <a:ln w="0">
            <a:noFill/>
          </a:ln>
        </p:spPr>
        <p:txBody>
          <a:bodyPr lIns="0" tIns="46800" rIns="91440" bIns="45720" anchor="ctr">
            <a:normAutofit fontScale="77500" lnSpcReduction="19999"/>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Le French Gut: reveal full gut microbiome diversity from healthy individuals to those at risk</a:t>
            </a:r>
            <a:endParaRPr lang="fr-FR" sz="3000" b="1" u="none" strike="noStrike">
              <a:solidFill>
                <a:srgbClr val="00A3A6"/>
              </a:solidFill>
              <a:effectLst/>
              <a:uFillTx/>
              <a:latin typeface="AvenirNext LT Pro MediumCn"/>
            </a:endParaRPr>
          </a:p>
        </p:txBody>
      </p:sp>
      <p:sp>
        <p:nvSpPr>
          <p:cNvPr id="324" name="Rectangle 5"/>
          <p:cNvSpPr/>
          <p:nvPr/>
        </p:nvSpPr>
        <p:spPr>
          <a:xfrm>
            <a:off x="89640" y="1551240"/>
            <a:ext cx="487152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An urgent public health issue : 25% in 2025 (OMS)</a:t>
            </a:r>
            <a:endParaRPr lang="fr-FR" sz="1800" b="0" u="none" strike="noStrike">
              <a:solidFill>
                <a:srgbClr val="000000"/>
              </a:solidFill>
              <a:effectLst/>
              <a:uFillTx/>
              <a:latin typeface="Arial"/>
            </a:endParaRPr>
          </a:p>
        </p:txBody>
      </p:sp>
      <p:sp>
        <p:nvSpPr>
          <p:cNvPr id="325" name="Rectangle 6"/>
          <p:cNvSpPr/>
          <p:nvPr/>
        </p:nvSpPr>
        <p:spPr>
          <a:xfrm>
            <a:off x="79560" y="5450400"/>
            <a:ext cx="4892040" cy="6451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0" u="none" strike="noStrike">
                <a:solidFill>
                  <a:schemeClr val="dk1"/>
                </a:solidFill>
                <a:effectLst/>
                <a:uFillTx/>
                <a:latin typeface="Calibri"/>
              </a:rPr>
              <a:t>Strong association between altered microbiota and the development of chronic diseases</a:t>
            </a:r>
            <a:endParaRPr lang="fr-FR" sz="1800" b="0" u="none" strike="noStrike">
              <a:solidFill>
                <a:srgbClr val="000000"/>
              </a:solidFill>
              <a:effectLst/>
              <a:uFillTx/>
              <a:latin typeface="Arial"/>
            </a:endParaRPr>
          </a:p>
        </p:txBody>
      </p:sp>
      <p:pic>
        <p:nvPicPr>
          <p:cNvPr id="326" name="Image 2"/>
          <p:cNvPicPr/>
          <p:nvPr/>
        </p:nvPicPr>
        <p:blipFill>
          <a:blip r:embed="rId2"/>
          <a:stretch/>
        </p:blipFill>
        <p:spPr>
          <a:xfrm>
            <a:off x="190800" y="1903680"/>
            <a:ext cx="5101920" cy="3483720"/>
          </a:xfrm>
          <a:prstGeom prst="rect">
            <a:avLst/>
          </a:prstGeom>
          <a:noFill/>
          <a:ln w="0">
            <a:noFill/>
          </a:ln>
        </p:spPr>
      </p:pic>
      <p:pic>
        <p:nvPicPr>
          <p:cNvPr id="327" name="Image 3"/>
          <p:cNvPicPr/>
          <p:nvPr/>
        </p:nvPicPr>
        <p:blipFill>
          <a:blip r:embed="rId3"/>
          <a:stretch/>
        </p:blipFill>
        <p:spPr>
          <a:xfrm>
            <a:off x="5334120" y="0"/>
            <a:ext cx="6856920" cy="6856920"/>
          </a:xfrm>
          <a:prstGeom prst="rect">
            <a:avLst/>
          </a:prstGeom>
          <a:noFill/>
          <a:ln w="0">
            <a:noFill/>
          </a:ln>
        </p:spPr>
      </p:pic>
      <p:pic>
        <p:nvPicPr>
          <p:cNvPr id="328" name="Google Shape;763;p56"/>
          <p:cNvPicPr/>
          <p:nvPr/>
        </p:nvPicPr>
        <p:blipFill>
          <a:blip r:embed="rId4"/>
          <a:srcRect l="0" t="94321" r="-4412" b="686"/>
          <a:stretch/>
        </p:blipFill>
        <p:spPr>
          <a:xfrm>
            <a:off x="89640" y="5350320"/>
            <a:ext cx="5788800" cy="174960"/>
          </a:xfrm>
          <a:prstGeom prst="rect">
            <a:avLst/>
          </a:prstGeom>
          <a:noFill/>
          <a:ln w="0">
            <a:noFill/>
          </a:ln>
        </p:spPr>
      </p:pic>
      <p:pic>
        <p:nvPicPr>
          <p:cNvPr id="329" name="Image 7"/>
          <p:cNvPicPr/>
          <p:nvPr/>
        </p:nvPicPr>
        <p:blipFill>
          <a:blip r:embed="rId5"/>
          <a:stretch/>
        </p:blipFill>
        <p:spPr>
          <a:xfrm>
            <a:off x="1900800" y="3080880"/>
            <a:ext cx="8229240" cy="1675440"/>
          </a:xfrm>
          <a:prstGeom prst="rect">
            <a:avLst/>
          </a:prstGeom>
          <a:solidFill>
            <a:srgbClr val="EDEDED"/>
          </a:solidFill>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Tree>
  </p:cSld>
  <mc:AlternateContent>
    <mc:Choice Requires="p14">
      <p:transition spd="slow" p14:dur="2000"/>
    </mc:Choice>
    <mc:Fallback>
      <p:transition spd="slow"/>
    </mc:Fallback>
  </mc:AlternateContent>
  <p:timing>
    <p:tnLst>
      <p:par>
        <p:cTn id="161" dur="indefinite" restart="never" nodeType="tmRoot">
          <p:childTnLst>
            <p:seq>
              <p:cTn id="162" dur="indefinite" nodeType="mainSeq">
                <p:childTnLst>
                  <p:par>
                    <p:cTn id="163" fill="hold">
                      <p:stCondLst>
                        <p:cond delay="indefinite"/>
                      </p:stCondLst>
                      <p:childTnLst>
                        <p:par>
                          <p:cTn id="164" fill="hold">
                            <p:stCondLst>
                              <p:cond delay="0"/>
                            </p:stCondLst>
                            <p:childTnLst>
                              <p:par>
                                <p:cTn id="165" presetID="1" presetClass="entr" fill="hold" nodeType="clickEffect">
                                  <p:stCondLst>
                                    <p:cond delay="0"/>
                                  </p:stCondLst>
                                  <p:childTnLst>
                                    <p:set>
                                      <p:cBhvr>
                                        <p:cTn id="166" dur="1" fill="hold">
                                          <p:stCondLst>
                                            <p:cond delay="0"/>
                                          </p:stCondLst>
                                        </p:cTn>
                                        <p:tgtEl>
                                          <p:spTgt spid="32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fill="hold" nodeType="clickEffect">
                                  <p:stCondLst>
                                    <p:cond delay="0"/>
                                  </p:stCondLst>
                                  <p:childTnLst>
                                    <p:set>
                                      <p:cBhvr>
                                        <p:cTn id="170"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A nationwide cohort</a:t>
            </a:r>
            <a:endParaRPr lang="fr-FR" sz="3000" b="1" u="none" strike="noStrike">
              <a:solidFill>
                <a:srgbClr val="00A3A6"/>
              </a:solidFill>
              <a:effectLst/>
              <a:uFillTx/>
              <a:latin typeface="AvenirNext LT Pro MediumCn"/>
            </a:endParaRPr>
          </a:p>
        </p:txBody>
      </p:sp>
      <p:pic>
        <p:nvPicPr>
          <p:cNvPr id="331" name="Image 4"/>
          <p:cNvPicPr/>
          <p:nvPr/>
        </p:nvPicPr>
        <p:blipFill>
          <a:blip r:embed="rId2"/>
          <a:stretch/>
        </p:blipFill>
        <p:spPr>
          <a:xfrm>
            <a:off x="0" y="1618920"/>
            <a:ext cx="4727160" cy="3577680"/>
          </a:xfrm>
          <a:prstGeom prst="rect">
            <a:avLst/>
          </a:prstGeom>
          <a:noFill/>
          <a:ln w="0">
            <a:noFill/>
          </a:ln>
        </p:spPr>
      </p:pic>
      <p:pic>
        <p:nvPicPr>
          <p:cNvPr id="332" name="Image 5"/>
          <p:cNvPicPr/>
          <p:nvPr/>
        </p:nvPicPr>
        <p:blipFill>
          <a:blip r:embed="rId3"/>
          <a:stretch/>
        </p:blipFill>
        <p:spPr>
          <a:xfrm>
            <a:off x="4360680" y="1109160"/>
            <a:ext cx="1662840" cy="1867320"/>
          </a:xfrm>
          <a:prstGeom prst="rect">
            <a:avLst/>
          </a:prstGeom>
          <a:noFill/>
          <a:ln w="0">
            <a:noFill/>
          </a:ln>
        </p:spPr>
      </p:pic>
      <p:sp>
        <p:nvSpPr>
          <p:cNvPr id="333" name="ZoneTexte 6"/>
          <p:cNvSpPr/>
          <p:nvPr/>
        </p:nvSpPr>
        <p:spPr>
          <a:xfrm>
            <a:off x="6095880" y="1037880"/>
            <a:ext cx="2359440" cy="1753200"/>
          </a:xfrm>
          <a:prstGeom prst="rect">
            <a:avLst/>
          </a:prstGeom>
          <a:gradFill rotWithShape="0">
            <a:gsLst>
              <a:gs pos="0">
                <a:srgbClr val="9DD0D2"/>
              </a:gs>
              <a:gs pos="50000">
                <a:srgbClr val="90C6C8"/>
              </a:gs>
              <a:gs pos="100000">
                <a:srgbClr val="7BBEC0"/>
              </a:gs>
            </a:gsLst>
            <a:lin ang="5400000"/>
          </a:gradFill>
          <a:ln>
            <a:solidFill>
              <a:srgbClr val="00A3A6"/>
            </a:solidFill>
          </a:ln>
        </p:spPr>
        <p:style>
          <a:lnRef idx="1">
            <a:schemeClr val="accent1"/>
          </a:lnRef>
          <a:fillRef idx="2">
            <a:schemeClr val="accent1"/>
          </a:fillRef>
          <a:effectRef idx="1">
            <a:schemeClr val="accent1"/>
          </a:effectRef>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Mandatory/Generalists</a:t>
            </a:r>
            <a:endParaRPr lang="fr-FR" sz="1800" b="0" u="none" strike="noStrike">
              <a:solidFill>
                <a:srgbClr val="000000"/>
              </a:solidFill>
              <a:effectLst/>
              <a:uFillTx/>
              <a:latin typeface="Arial"/>
            </a:endParaRPr>
          </a:p>
          <a:p>
            <a:pPr defTabSz="457200">
              <a:lnSpc>
                <a:spcPct val="100000"/>
              </a:lnSpc>
            </a:pP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Anthrometric</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Lifestyle</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Health</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Nutrition</a:t>
            </a:r>
            <a:endParaRPr lang="fr-FR" sz="1800" b="0" u="none" strike="noStrike">
              <a:solidFill>
                <a:srgbClr val="000000"/>
              </a:solidFill>
              <a:effectLst/>
              <a:uFillTx/>
              <a:latin typeface="Arial"/>
            </a:endParaRPr>
          </a:p>
        </p:txBody>
      </p:sp>
      <p:sp>
        <p:nvSpPr>
          <p:cNvPr id="334" name="ZoneTexte 7"/>
          <p:cNvSpPr/>
          <p:nvPr/>
        </p:nvSpPr>
        <p:spPr>
          <a:xfrm>
            <a:off x="9371880" y="362880"/>
            <a:ext cx="2282400" cy="4523400"/>
          </a:xfrm>
          <a:prstGeom prst="rect">
            <a:avLst/>
          </a:prstGeom>
          <a:gradFill rotWithShape="0">
            <a:gsLst>
              <a:gs pos="0">
                <a:srgbClr val="CADFA8"/>
              </a:gs>
              <a:gs pos="50000">
                <a:srgbClr val="C1D99A"/>
              </a:gs>
              <a:gs pos="100000">
                <a:srgbClr val="B9D888"/>
              </a:gs>
            </a:gsLst>
            <a:lin ang="5400000"/>
          </a:gradFill>
          <a:ln>
            <a:solidFill>
              <a:srgbClr val="9DC544"/>
            </a:solidFill>
          </a:ln>
        </p:spPr>
        <p:style>
          <a:lnRef idx="1">
            <a:schemeClr val="accent2"/>
          </a:lnRef>
          <a:fillRef idx="2">
            <a:schemeClr val="accent2"/>
          </a:fillRef>
          <a:effectRef idx="1">
            <a:schemeClr val="accent2"/>
          </a:effectRef>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Facultative /Specialists</a:t>
            </a:r>
            <a:endParaRPr lang="fr-FR" sz="1800" b="0" u="none" strike="noStrike">
              <a:solidFill>
                <a:srgbClr val="000000"/>
              </a:solidFill>
              <a:effectLst/>
              <a:uFillTx/>
              <a:latin typeface="Arial"/>
            </a:endParaRPr>
          </a:p>
          <a:p>
            <a:pPr defTabSz="457200">
              <a:lnSpc>
                <a:spcPct val="100000"/>
              </a:lnSpc>
            </a:pP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Long FFQ</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PIMENTO-FF</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Polyphenol</a:t>
            </a:r>
            <a:endParaRPr lang="fr-FR" sz="1800" b="0" u="none" strike="noStrike">
              <a:solidFill>
                <a:srgbClr val="000000"/>
              </a:solidFill>
              <a:effectLst/>
              <a:uFillTx/>
              <a:latin typeface="Arial"/>
            </a:endParaRPr>
          </a:p>
          <a:p>
            <a:pPr defTabSz="457200">
              <a:lnSpc>
                <a:spcPct val="100000"/>
              </a:lnSpc>
            </a:pP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MOS-36</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IPAQ-SF</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SCOFF</a:t>
            </a:r>
            <a:endParaRPr lang="fr-FR" sz="1800" b="0" u="none" strike="noStrike">
              <a:solidFill>
                <a:srgbClr val="000000"/>
              </a:solidFill>
              <a:effectLst/>
              <a:uFillTx/>
              <a:latin typeface="Arial"/>
            </a:endParaRPr>
          </a:p>
          <a:p>
            <a:pPr defTabSz="457200">
              <a:lnSpc>
                <a:spcPct val="100000"/>
              </a:lnSpc>
            </a:pP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BFI-10</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PHQ-9</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GAD-7</a:t>
            </a:r>
            <a:endParaRPr lang="fr-FR" sz="1800" b="0" u="none" strike="noStrike">
              <a:solidFill>
                <a:srgbClr val="000000"/>
              </a:solidFill>
              <a:effectLst/>
              <a:uFillTx/>
              <a:latin typeface="Arial"/>
            </a:endParaRPr>
          </a:p>
          <a:p>
            <a:pPr defTabSz="457200">
              <a:lnSpc>
                <a:spcPct val="100000"/>
              </a:lnSpc>
            </a:pP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GSRS</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IBS-SSS</a:t>
            </a:r>
            <a:endParaRPr lang="fr-FR" sz="1800" b="0" u="none" strike="noStrike">
              <a:solidFill>
                <a:srgbClr val="000000"/>
              </a:solidFill>
              <a:effectLst/>
              <a:uFillTx/>
              <a:latin typeface="Arial"/>
            </a:endParaRPr>
          </a:p>
        </p:txBody>
      </p:sp>
      <p:sp>
        <p:nvSpPr>
          <p:cNvPr id="335" name="Rectangle 8"/>
          <p:cNvSpPr/>
          <p:nvPr/>
        </p:nvSpPr>
        <p:spPr>
          <a:xfrm>
            <a:off x="6095880" y="362880"/>
            <a:ext cx="2359440" cy="460440"/>
          </a:xfrm>
          <a:prstGeom prst="rect">
            <a:avLst/>
          </a:prstGeom>
          <a:solidFill>
            <a:srgbClr val="00A3A6"/>
          </a:solidFill>
          <a:ln>
            <a:solidFill>
              <a:srgbClr val="00787A"/>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p>
            <a:pPr algn="ctr" defTabSz="457200">
              <a:lnSpc>
                <a:spcPct val="100000"/>
              </a:lnSpc>
            </a:pPr>
            <a:r>
              <a:rPr lang="en-US" sz="2400" b="0" u="none" strike="noStrike">
                <a:solidFill>
                  <a:schemeClr val="lt1"/>
                </a:solidFill>
                <a:effectLst/>
                <a:uFillTx/>
                <a:latin typeface="Calibri"/>
              </a:rPr>
              <a:t>Questionnaires</a:t>
            </a:r>
            <a:endParaRPr lang="fr-FR" sz="2400" b="0" u="none" strike="noStrike">
              <a:solidFill>
                <a:srgbClr val="FFFFFF"/>
              </a:solidFill>
              <a:effectLst/>
              <a:uFillTx/>
              <a:latin typeface="Arial"/>
            </a:endParaRPr>
          </a:p>
        </p:txBody>
      </p:sp>
      <p:pic>
        <p:nvPicPr>
          <p:cNvPr id="336" name="Image 9"/>
          <p:cNvPicPr/>
          <p:nvPr/>
        </p:nvPicPr>
        <p:blipFill>
          <a:blip r:embed="rId4"/>
          <a:stretch/>
        </p:blipFill>
        <p:spPr>
          <a:xfrm>
            <a:off x="4623120" y="3282840"/>
            <a:ext cx="1913400" cy="1803600"/>
          </a:xfrm>
          <a:prstGeom prst="rect">
            <a:avLst/>
          </a:prstGeom>
          <a:noFill/>
          <a:ln w="0">
            <a:noFill/>
          </a:ln>
        </p:spPr>
      </p:pic>
      <p:pic>
        <p:nvPicPr>
          <p:cNvPr id="337" name="Image 10"/>
          <p:cNvPicPr/>
          <p:nvPr/>
        </p:nvPicPr>
        <p:blipFill>
          <a:blip r:embed="rId5"/>
          <a:stretch/>
        </p:blipFill>
        <p:spPr>
          <a:xfrm>
            <a:off x="6024600" y="3001680"/>
            <a:ext cx="3925800" cy="2527920"/>
          </a:xfrm>
          <a:prstGeom prst="rect">
            <a:avLst/>
          </a:prstGeom>
          <a:noFill/>
          <a:ln w="0">
            <a:noFill/>
          </a:ln>
        </p:spPr>
      </p:pic>
      <p:sp>
        <p:nvSpPr>
          <p:cNvPr id="338" name="ZoneTexte 11"/>
          <p:cNvSpPr/>
          <p:nvPr/>
        </p:nvSpPr>
        <p:spPr>
          <a:xfrm>
            <a:off x="4165560" y="5368320"/>
            <a:ext cx="450216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High Quality Shotgun MetaG (40M reads min.)</a:t>
            </a:r>
            <a:endParaRPr lang="fr-FR" sz="1800" b="0" u="none" strike="noStrike">
              <a:solidFill>
                <a:srgbClr val="000000"/>
              </a:solidFill>
              <a:effectLst/>
              <a:uFillTx/>
              <a:latin typeface="Arial"/>
            </a:endParaRPr>
          </a:p>
        </p:txBody>
      </p:sp>
      <p:sp>
        <p:nvSpPr>
          <p:cNvPr id="339" name="Rectangle 12"/>
          <p:cNvSpPr/>
          <p:nvPr/>
        </p:nvSpPr>
        <p:spPr>
          <a:xfrm>
            <a:off x="1791360" y="5944680"/>
            <a:ext cx="8955360" cy="398880"/>
          </a:xfrm>
          <a:prstGeom prst="rect">
            <a:avLst/>
          </a:prstGeom>
          <a:gradFill rotWithShape="0">
            <a:gsLst>
              <a:gs pos="0">
                <a:srgbClr val="4B4B4B"/>
              </a:gs>
              <a:gs pos="50000">
                <a:srgbClr val="000000"/>
              </a:gs>
              <a:gs pos="100000">
                <a:srgbClr val="000000"/>
              </a:gs>
            </a:gsLst>
            <a:lin ang="5400000"/>
          </a:gradFill>
          <a:ln w="0">
            <a:noFill/>
          </a:ln>
          <a:effectLst>
            <a:outerShdw algn="ctr" blurRad="57240" dir="5400000" dist="19080" rotWithShape="0">
              <a:srgbClr val="000000">
                <a:alpha val="63000"/>
              </a:srgbClr>
            </a:outerShdw>
          </a:effectLst>
        </p:spPr>
        <p:style>
          <a:lnRef idx="0">
            <a:schemeClr val="dk1"/>
          </a:lnRef>
          <a:fillRef idx="3">
            <a:schemeClr val="dk1"/>
          </a:fillRef>
          <a:effectRef idx="3">
            <a:schemeClr val="dk1"/>
          </a:effectRef>
          <a:fontRef idx="minor"/>
        </p:style>
        <p:txBody>
          <a:bodyPr wrap="none" lIns="90000" tIns="45000" rIns="90000" bIns="45000" anchor="t">
            <a:spAutoFit/>
          </a:bodyPr>
          <a:p>
            <a:pPr defTabSz="457200">
              <a:lnSpc>
                <a:spcPct val="100000"/>
              </a:lnSpc>
            </a:pPr>
            <a:r>
              <a:rPr lang="en-US" sz="2000" b="0" u="none" strike="noStrike">
                <a:solidFill>
                  <a:schemeClr val="lt1"/>
                </a:solidFill>
                <a:effectLst/>
                <a:uFillTx/>
                <a:latin typeface="Calibri"/>
              </a:rPr>
              <a:t>Multiscale : diet patterns → gut diversity → species/strains → in situ food exposome</a:t>
            </a:r>
            <a:endParaRPr lang="fr-FR" sz="2000" b="0" u="none" strike="noStrike">
              <a:solidFill>
                <a:srgbClr val="000000"/>
              </a:solidFill>
              <a:effectLst/>
              <a:uFillTx/>
              <a:latin typeface="Arial"/>
            </a:endParaRPr>
          </a:p>
        </p:txBody>
      </p:sp>
      <p:pic>
        <p:nvPicPr>
          <p:cNvPr id="340" name="Image 13"/>
          <p:cNvPicPr/>
          <p:nvPr/>
        </p:nvPicPr>
        <p:blipFill>
          <a:blip r:embed="rId6"/>
          <a:srcRect l="29840" t="10772" r="30629" b="10772"/>
          <a:stretch/>
        </p:blipFill>
        <p:spPr>
          <a:xfrm>
            <a:off x="8668800" y="5059440"/>
            <a:ext cx="884160" cy="878040"/>
          </a:xfrm>
          <a:prstGeom prst="rect">
            <a:avLst/>
          </a:prstGeom>
          <a:noFill/>
          <a:ln w="0">
            <a:noFill/>
          </a:ln>
        </p:spPr>
      </p:pic>
      <p:pic>
        <p:nvPicPr>
          <p:cNvPr id="341" name="Image 14"/>
          <p:cNvPicPr/>
          <p:nvPr/>
        </p:nvPicPr>
        <p:blipFill>
          <a:blip r:embed="rId7"/>
          <a:stretch/>
        </p:blipFill>
        <p:spPr>
          <a:xfrm>
            <a:off x="9757440" y="5059440"/>
            <a:ext cx="952200" cy="838440"/>
          </a:xfrm>
          <a:prstGeom prst="rect">
            <a:avLst/>
          </a:prstGeom>
          <a:noFill/>
          <a:ln w="0">
            <a:noFill/>
          </a:ln>
        </p:spPr>
      </p:pic>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presetID="1" presetClass="entr" fill="hold" nodeType="clickEffect">
                                  <p:stCondLst>
                                    <p:cond delay="0"/>
                                  </p:stCondLst>
                                  <p:childTnLst>
                                    <p:set>
                                      <p:cBhvr>
                                        <p:cTn id="176" dur="1" fill="hold">
                                          <p:stCondLst>
                                            <p:cond delay="0"/>
                                          </p:stCondLst>
                                        </p:cTn>
                                        <p:tgtEl>
                                          <p:spTgt spid="334"/>
                                        </p:tgtEl>
                                        <p:attrNameLst>
                                          <p:attrName>style.visibility</p:attrName>
                                        </p:attrNameLst>
                                      </p:cBhvr>
                                      <p:to>
                                        <p:strVal val="visible"/>
                                      </p:to>
                                    </p:set>
                                  </p:childTnLst>
                                </p:cTn>
                              </p:par>
                              <p:par>
                                <p:cTn id="177" presetID="1" presetClass="entr" fill="hold" nodeType="withEffect">
                                  <p:stCondLst>
                                    <p:cond delay="0"/>
                                  </p:stCondLst>
                                  <p:childTnLst>
                                    <p:set>
                                      <p:cBhvr>
                                        <p:cTn id="178" dur="1" fill="hold">
                                          <p:stCondLst>
                                            <p:cond delay="0"/>
                                          </p:stCondLst>
                                        </p:cTn>
                                        <p:tgtEl>
                                          <p:spTgt spid="335"/>
                                        </p:tgtEl>
                                        <p:attrNameLst>
                                          <p:attrName>style.visibility</p:attrName>
                                        </p:attrNameLst>
                                      </p:cBhvr>
                                      <p:to>
                                        <p:strVal val="visible"/>
                                      </p:to>
                                    </p:set>
                                  </p:childTnLst>
                                </p:cTn>
                              </p:par>
                              <p:par>
                                <p:cTn id="179" presetID="1" presetClass="entr" fill="hold" nodeType="withEffect">
                                  <p:stCondLst>
                                    <p:cond delay="0"/>
                                  </p:stCondLst>
                                  <p:childTnLst>
                                    <p:set>
                                      <p:cBhvr>
                                        <p:cTn id="180" dur="1" fill="hold">
                                          <p:stCondLst>
                                            <p:cond delay="0"/>
                                          </p:stCondLst>
                                        </p:cTn>
                                        <p:tgtEl>
                                          <p:spTgt spid="333"/>
                                        </p:tgtEl>
                                        <p:attrNameLst>
                                          <p:attrName>style.visibility</p:attrName>
                                        </p:attrNameLst>
                                      </p:cBhvr>
                                      <p:to>
                                        <p:strVal val="visible"/>
                                      </p:to>
                                    </p:set>
                                  </p:childTnLst>
                                </p:cTn>
                              </p:par>
                              <p:par>
                                <p:cTn id="181" presetID="1" presetClass="entr" fill="hold" nodeType="withEffect">
                                  <p:stCondLst>
                                    <p:cond delay="0"/>
                                  </p:stCondLst>
                                  <p:childTnLst>
                                    <p:set>
                                      <p:cBhvr>
                                        <p:cTn id="182" dur="1" fill="hold">
                                          <p:stCondLst>
                                            <p:cond delay="0"/>
                                          </p:stCondLst>
                                        </p:cTn>
                                        <p:tgtEl>
                                          <p:spTgt spid="33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fill="hold" nodeType="clickEffect">
                                  <p:stCondLst>
                                    <p:cond delay="0"/>
                                  </p:stCondLst>
                                  <p:childTnLst>
                                    <p:set>
                                      <p:cBhvr>
                                        <p:cTn id="186" dur="1" fill="hold">
                                          <p:stCondLst>
                                            <p:cond delay="0"/>
                                          </p:stCondLst>
                                        </p:cTn>
                                        <p:tgtEl>
                                          <p:spTgt spid="336"/>
                                        </p:tgtEl>
                                        <p:attrNameLst>
                                          <p:attrName>style.visibility</p:attrName>
                                        </p:attrNameLst>
                                      </p:cBhvr>
                                      <p:to>
                                        <p:strVal val="visible"/>
                                      </p:to>
                                    </p:set>
                                  </p:childTnLst>
                                </p:cTn>
                              </p:par>
                              <p:par>
                                <p:cTn id="187" presetID="1" presetClass="entr" fill="hold" nodeType="withEffect">
                                  <p:stCondLst>
                                    <p:cond delay="0"/>
                                  </p:stCondLst>
                                  <p:childTnLst>
                                    <p:set>
                                      <p:cBhvr>
                                        <p:cTn id="188" dur="1" fill="hold">
                                          <p:stCondLst>
                                            <p:cond delay="0"/>
                                          </p:stCondLst>
                                        </p:cTn>
                                        <p:tgtEl>
                                          <p:spTgt spid="337"/>
                                        </p:tgtEl>
                                        <p:attrNameLst>
                                          <p:attrName>style.visibility</p:attrName>
                                        </p:attrNameLst>
                                      </p:cBhvr>
                                      <p:to>
                                        <p:strVal val="visible"/>
                                      </p:to>
                                    </p:set>
                                  </p:childTnLst>
                                </p:cTn>
                              </p:par>
                              <p:par>
                                <p:cTn id="189" presetID="1" presetClass="entr" fill="hold" nodeType="withEffect">
                                  <p:stCondLst>
                                    <p:cond delay="0"/>
                                  </p:stCondLst>
                                  <p:childTnLst>
                                    <p:set>
                                      <p:cBhvr>
                                        <p:cTn id="190" dur="1" fill="hold">
                                          <p:stCondLst>
                                            <p:cond delay="0"/>
                                          </p:stCondLst>
                                        </p:cTn>
                                        <p:tgtEl>
                                          <p:spTgt spid="338"/>
                                        </p:tgtEl>
                                        <p:attrNameLst>
                                          <p:attrName>style.visibility</p:attrName>
                                        </p:attrNameLst>
                                      </p:cBhvr>
                                      <p:to>
                                        <p:strVal val="visible"/>
                                      </p:to>
                                    </p:set>
                                  </p:childTnLst>
                                </p:cTn>
                              </p:par>
                              <p:par>
                                <p:cTn id="191" presetID="1" presetClass="entr" fill="hold" nodeType="withEffect">
                                  <p:stCondLst>
                                    <p:cond delay="0"/>
                                  </p:stCondLst>
                                  <p:childTnLst>
                                    <p:set>
                                      <p:cBhvr>
                                        <p:cTn id="192" dur="1" fill="hold">
                                          <p:stCondLst>
                                            <p:cond delay="0"/>
                                          </p:stCondLst>
                                        </p:cTn>
                                        <p:tgtEl>
                                          <p:spTgt spid="340"/>
                                        </p:tgtEl>
                                        <p:attrNameLst>
                                          <p:attrName>style.visibility</p:attrName>
                                        </p:attrNameLst>
                                      </p:cBhvr>
                                      <p:to>
                                        <p:strVal val="visible"/>
                                      </p:to>
                                    </p:set>
                                  </p:childTnLst>
                                </p:cTn>
                              </p:par>
                              <p:par>
                                <p:cTn id="193" presetID="1" presetClass="entr" fill="hold" nodeType="withEffect">
                                  <p:stCondLst>
                                    <p:cond delay="0"/>
                                  </p:stCondLst>
                                  <p:childTnLst>
                                    <p:set>
                                      <p:cBhvr>
                                        <p:cTn id="194" dur="1" fill="hold">
                                          <p:stCondLst>
                                            <p:cond delay="0"/>
                                          </p:stCondLst>
                                        </p:cTn>
                                        <p:tgtEl>
                                          <p:spTgt spid="341"/>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fill="hold" nodeType="clickEffect">
                                  <p:stCondLst>
                                    <p:cond delay="0"/>
                                  </p:stCondLst>
                                  <p:childTnLst>
                                    <p:set>
                                      <p:cBhvr>
                                        <p:cTn id="198"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2" name="Image 4"/>
          <p:cNvPicPr/>
          <p:nvPr/>
        </p:nvPicPr>
        <p:blipFill>
          <a:blip r:embed="rId1"/>
          <a:stretch/>
        </p:blipFill>
        <p:spPr>
          <a:xfrm>
            <a:off x="1354320" y="868680"/>
            <a:ext cx="7902720" cy="4876920"/>
          </a:xfrm>
          <a:prstGeom prst="rect">
            <a:avLst/>
          </a:prstGeom>
          <a:noFill/>
          <a:ln w="0">
            <a:noFill/>
          </a:ln>
        </p:spPr>
      </p:pic>
      <p:sp>
        <p:nvSpPr>
          <p:cNvPr id="343" name="AutoShape 2" descr="http://127.0.0.1:21577/chunk_output/6E7E6658ee9329d9/A02B235E/ca9tqwree7hzl/00001f.png"/>
          <p:cNvSpPr/>
          <p:nvPr/>
        </p:nvSpPr>
        <p:spPr>
          <a:xfrm>
            <a:off x="5242680" y="3081600"/>
            <a:ext cx="303840" cy="303840"/>
          </a:xfrm>
          <a:prstGeom prst="rect">
            <a:avLst/>
          </a:prstGeom>
          <a:noFill/>
          <a:ln w="0">
            <a:noFill/>
          </a:ln>
        </p:spPr>
        <p:style>
          <a:lnRef idx="0"/>
          <a:fillRef idx="0"/>
          <a:effectRef idx="0"/>
          <a:fontRef idx="minor"/>
        </p:style>
        <p:txBody>
          <a:bodyPr numCol="1" spcCol="0" lIns="90000" tIns="45000" rIns="90000" bIns="45000" anchor="t">
            <a:noAutofit/>
          </a:bodyPr>
          <a:p>
            <a:endParaRPr lang="en-US" sz="1800" b="0" u="none" strike="noStrike">
              <a:solidFill>
                <a:schemeClr val="dk1"/>
              </a:solidFill>
              <a:effectLst/>
              <a:uFillTx/>
              <a:latin typeface="Calibri"/>
            </a:endParaRPr>
          </a:p>
        </p:txBody>
      </p:sp>
      <p:sp>
        <p:nvSpPr>
          <p:cNvPr id="344" name="Titre 1"/>
          <p:cNvSpPr/>
          <p:nvPr/>
        </p:nvSpPr>
        <p:spPr>
          <a:xfrm>
            <a:off x="700200" y="42840"/>
            <a:ext cx="11039760" cy="772560"/>
          </a:xfrm>
          <a:prstGeom prst="rect">
            <a:avLst/>
          </a:prstGeom>
          <a:noFill/>
          <a:ln w="0">
            <a:noFill/>
          </a:ln>
        </p:spPr>
        <p:style>
          <a:lnRef idx="0"/>
          <a:fillRef idx="0"/>
          <a:effectRef idx="0"/>
          <a:fontRef idx="minor"/>
        </p:style>
        <p:txBody>
          <a:bodyPr lIns="90000" tIns="45000" rIns="90000" bIns="45000" anchor="t">
            <a:noAutofit/>
          </a:bodyPr>
          <a:p>
            <a:pPr marL="457200" indent="-457200" defTabSz="914400">
              <a:lnSpc>
                <a:spcPct val="90000"/>
              </a:lnSpc>
              <a:buSzPct val="100054"/>
              <a:buBlip>
                <a:blip r:embed="rId2"/>
              </a:buBlip>
            </a:pPr>
            <a:r>
              <a:rPr lang="en-US" sz="3000" b="1" u="none" strike="noStrike">
                <a:solidFill>
                  <a:srgbClr val="00A3A6"/>
                </a:solidFill>
                <a:effectLst/>
                <a:uFillTx/>
                <a:latin typeface="AvenirNext LT Pro MediumCn"/>
              </a:rPr>
              <a:t>Gut microbiome studies: exponential growth of sample numbers</a:t>
            </a:r>
            <a:endParaRPr lang="fr-FR" sz="3000" b="0" u="none" strike="noStrike">
              <a:solidFill>
                <a:srgbClr val="000000"/>
              </a:solidFill>
              <a:effectLst/>
              <a:uFillTx/>
              <a:latin typeface="Arial"/>
            </a:endParaRPr>
          </a:p>
        </p:txBody>
      </p:sp>
      <p:cxnSp>
        <p:nvCxnSpPr>
          <p:cNvPr id="345" name="Connecteur droit avec flèche 16"/>
          <p:cNvCxnSpPr>
            <a:stCxn id="346" idx="2"/>
          </p:cNvCxnSpPr>
          <p:nvPr/>
        </p:nvCxnSpPr>
        <p:spPr>
          <a:xfrm flipH="1">
            <a:off x="2499120" y="3946680"/>
            <a:ext cx="799200" cy="1168920"/>
          </a:xfrm>
          <a:prstGeom prst="straightConnector1">
            <a:avLst/>
          </a:prstGeom>
          <a:ln w="0">
            <a:solidFill>
              <a:srgbClr val="00A3A6"/>
            </a:solidFill>
            <a:tailEnd len="med" type="triangle" w="med"/>
          </a:ln>
        </p:spPr>
      </p:cxnSp>
      <p:sp>
        <p:nvSpPr>
          <p:cNvPr id="346" name="ZoneTexte 17"/>
          <p:cNvSpPr/>
          <p:nvPr/>
        </p:nvSpPr>
        <p:spPr>
          <a:xfrm>
            <a:off x="2456640" y="3578400"/>
            <a:ext cx="1682640" cy="36828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Suau et al, 1999</a:t>
            </a:r>
            <a:endParaRPr lang="fr-FR" sz="1800" b="0" u="none" strike="noStrike">
              <a:solidFill>
                <a:srgbClr val="000000"/>
              </a:solidFill>
              <a:effectLst/>
              <a:uFillTx/>
              <a:latin typeface="Arial"/>
            </a:endParaRPr>
          </a:p>
        </p:txBody>
      </p:sp>
      <p:sp>
        <p:nvSpPr>
          <p:cNvPr id="347" name="ZoneTexte 21"/>
          <p:cNvSpPr/>
          <p:nvPr/>
        </p:nvSpPr>
        <p:spPr>
          <a:xfrm>
            <a:off x="4606200" y="693000"/>
            <a:ext cx="1881000" cy="36828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n&gt;35,000 samples</a:t>
            </a:r>
            <a:endParaRPr lang="fr-FR" sz="1800" b="0" u="none" strike="noStrike">
              <a:solidFill>
                <a:srgbClr val="000000"/>
              </a:solidFill>
              <a:effectLst/>
              <a:uFillTx/>
              <a:latin typeface="Arial"/>
            </a:endParaRPr>
          </a:p>
        </p:txBody>
      </p:sp>
      <p:cxnSp>
        <p:nvCxnSpPr>
          <p:cNvPr id="348" name="Connecteur droit avec flèche 22"/>
          <p:cNvCxnSpPr>
            <a:stCxn id="347" idx="2"/>
          </p:cNvCxnSpPr>
          <p:nvPr/>
        </p:nvCxnSpPr>
        <p:spPr>
          <a:xfrm>
            <a:off x="5546880" y="1061280"/>
            <a:ext cx="942480" cy="423720"/>
          </a:xfrm>
          <a:prstGeom prst="straightConnector1">
            <a:avLst/>
          </a:prstGeom>
          <a:ln w="0">
            <a:solidFill>
              <a:srgbClr val="00A3A6"/>
            </a:solidFill>
            <a:tailEnd len="med" type="triangle" w="med"/>
          </a:ln>
        </p:spPr>
      </p:cxnSp>
      <p:sp>
        <p:nvSpPr>
          <p:cNvPr id="349" name="ZoneTexte 26"/>
          <p:cNvSpPr/>
          <p:nvPr/>
        </p:nvSpPr>
        <p:spPr>
          <a:xfrm>
            <a:off x="3912120" y="2072520"/>
            <a:ext cx="2233080" cy="645120"/>
          </a:xfrm>
          <a:prstGeom prst="rect">
            <a:avLst/>
          </a:prstGeom>
          <a:noFill/>
          <a:ln w="6350">
            <a:solidFill>
              <a:srgbClr val="00A3A6"/>
            </a:solidFill>
            <a:round/>
          </a:ln>
        </p:spPr>
        <p:style>
          <a:lnRef idx="0"/>
          <a:fillRef idx="0"/>
          <a:effectRef idx="0"/>
          <a:fontRef idx="minor"/>
        </p:style>
        <p:txBody>
          <a:bodyPr wrap="none" lIns="90000" tIns="45000" rIns="90000" bIns="45000" anchor="t">
            <a:spAutoFit/>
          </a:bodyPr>
          <a:p>
            <a:pPr algn="ctr" defTabSz="457200">
              <a:lnSpc>
                <a:spcPct val="100000"/>
              </a:lnSpc>
            </a:pPr>
            <a:r>
              <a:rPr lang="en-US" sz="1800" b="0" u="none" strike="noStrike">
                <a:solidFill>
                  <a:schemeClr val="dk1"/>
                </a:solidFill>
                <a:effectLst/>
                <a:uFillTx/>
                <a:latin typeface="Calibri"/>
              </a:rPr>
              <a:t>1</a:t>
            </a:r>
            <a:r>
              <a:rPr lang="en-US" sz="1800" b="0" u="none" strike="noStrike" baseline="30000">
                <a:solidFill>
                  <a:schemeClr val="dk1"/>
                </a:solidFill>
                <a:effectLst/>
                <a:uFillTx/>
                <a:latin typeface="Calibri"/>
              </a:rPr>
              <a:t>st</a:t>
            </a:r>
            <a:r>
              <a:rPr lang="en-US" sz="1800" b="0" u="none" strike="noStrike">
                <a:solidFill>
                  <a:schemeClr val="dk1"/>
                </a:solidFill>
                <a:effectLst/>
                <a:uFillTx/>
                <a:latin typeface="Calibri"/>
              </a:rPr>
              <a:t> Human gut catalog</a:t>
            </a:r>
            <a:endParaRPr lang="fr-FR" sz="1800" b="0" u="none" strike="noStrike">
              <a:solidFill>
                <a:srgbClr val="000000"/>
              </a:solidFill>
              <a:effectLst/>
              <a:uFillTx/>
              <a:latin typeface="Arial"/>
            </a:endParaRPr>
          </a:p>
          <a:p>
            <a:pPr algn="ctr" defTabSz="457200">
              <a:lnSpc>
                <a:spcPct val="100000"/>
              </a:lnSpc>
            </a:pPr>
            <a:r>
              <a:rPr lang="en-US" sz="1800" b="0" u="none" strike="noStrike">
                <a:solidFill>
                  <a:schemeClr val="dk1"/>
                </a:solidFill>
                <a:effectLst/>
                <a:uFillTx/>
                <a:latin typeface="Calibri"/>
              </a:rPr>
              <a:t>(n=124)</a:t>
            </a:r>
            <a:endParaRPr lang="fr-FR" sz="1800" b="0" u="none" strike="noStrike">
              <a:solidFill>
                <a:srgbClr val="000000"/>
              </a:solidFill>
              <a:effectLst/>
              <a:uFillTx/>
              <a:latin typeface="Arial"/>
            </a:endParaRPr>
          </a:p>
        </p:txBody>
      </p:sp>
      <p:cxnSp>
        <p:nvCxnSpPr>
          <p:cNvPr id="350" name="Connecteur droit avec flèche 27"/>
          <p:cNvCxnSpPr>
            <a:stCxn id="349" idx="2"/>
          </p:cNvCxnSpPr>
          <p:nvPr/>
        </p:nvCxnSpPr>
        <p:spPr>
          <a:xfrm flipH="1">
            <a:off x="4840200" y="2717640"/>
            <a:ext cx="189000" cy="590760"/>
          </a:xfrm>
          <a:prstGeom prst="straightConnector1">
            <a:avLst/>
          </a:prstGeom>
          <a:ln w="0">
            <a:solidFill>
              <a:srgbClr val="00A3A6"/>
            </a:solidFill>
            <a:tailEnd len="med" type="triangle" w="med"/>
          </a:ln>
        </p:spPr>
      </p:cxnSp>
      <p:sp>
        <p:nvSpPr>
          <p:cNvPr id="351" name="ZoneTexte 30"/>
          <p:cNvSpPr/>
          <p:nvPr/>
        </p:nvSpPr>
        <p:spPr>
          <a:xfrm>
            <a:off x="7458840" y="5683680"/>
            <a:ext cx="3912840" cy="948240"/>
          </a:xfrm>
          <a:prstGeom prst="rect">
            <a:avLst/>
          </a:prstGeom>
          <a:gradFill rotWithShape="0">
            <a:gsLst>
              <a:gs pos="0">
                <a:srgbClr val="5F5597"/>
              </a:gs>
              <a:gs pos="50000">
                <a:srgbClr val="3E2B8C"/>
              </a:gs>
              <a:gs pos="100000">
                <a:srgbClr val="352281"/>
              </a:gs>
            </a:gsLst>
            <a:lin ang="5400000"/>
          </a:gradFill>
          <a:ln w="0">
            <a:noFill/>
          </a:ln>
          <a:effectLst>
            <a:outerShdw algn="ctr" blurRad="57240" dir="5400000" dist="19080" rotWithShape="0">
              <a:srgbClr val="000000">
                <a:alpha val="63000"/>
              </a:srgbClr>
            </a:outerShdw>
          </a:effectLst>
        </p:spPr>
        <p:style>
          <a:lnRef idx="0">
            <a:schemeClr val="accent4"/>
          </a:lnRef>
          <a:fillRef idx="3">
            <a:schemeClr val="accent4"/>
          </a:fillRef>
          <a:effectRef idx="3">
            <a:schemeClr val="accent4"/>
          </a:effectRef>
          <a:fontRef idx="minor"/>
        </p:style>
        <p:txBody>
          <a:bodyPr lIns="90000" tIns="45000" rIns="90000" bIns="45000" anchor="t">
            <a:spAutoFit/>
          </a:bodyPr>
          <a:p>
            <a:pPr algn="ctr" defTabSz="457200">
              <a:lnSpc>
                <a:spcPct val="100000"/>
              </a:lnSpc>
            </a:pPr>
            <a:r>
              <a:rPr lang="en-US" sz="1800" b="1" u="none" strike="noStrike">
                <a:solidFill>
                  <a:schemeClr val="lt1"/>
                </a:solidFill>
                <a:effectLst/>
                <a:uFillTx/>
                <a:latin typeface="Calibri"/>
              </a:rPr>
              <a:t>Every 10 years</a:t>
            </a:r>
            <a:r>
              <a:rPr lang="en-US" sz="1800" b="0" u="none" strike="noStrike">
                <a:solidFill>
                  <a:schemeClr val="lt1"/>
                </a:solidFill>
                <a:effectLst/>
                <a:uFillTx/>
                <a:latin typeface="Calibri"/>
              </a:rPr>
              <a:t>, </a:t>
            </a:r>
            <a:endParaRPr lang="fr-FR" sz="1800" b="0" u="none" strike="noStrike">
              <a:solidFill>
                <a:srgbClr val="000000"/>
              </a:solidFill>
              <a:effectLst/>
              <a:uFillTx/>
              <a:latin typeface="Arial"/>
            </a:endParaRPr>
          </a:p>
          <a:p>
            <a:pPr algn="ctr" defTabSz="457200">
              <a:lnSpc>
                <a:spcPct val="100000"/>
              </a:lnSpc>
            </a:pPr>
            <a:r>
              <a:rPr lang="en-US" sz="1800" b="0" u="none" strike="noStrike">
                <a:solidFill>
                  <a:schemeClr val="lt1"/>
                </a:solidFill>
                <a:effectLst/>
                <a:uFillTx/>
                <a:latin typeface="Calibri"/>
              </a:rPr>
              <a:t>number of samples analyzed per study </a:t>
            </a:r>
            <a:endParaRPr lang="fr-FR" sz="1800" b="0" u="none" strike="noStrike">
              <a:solidFill>
                <a:srgbClr val="000000"/>
              </a:solidFill>
              <a:effectLst/>
              <a:uFillTx/>
              <a:latin typeface="Arial"/>
            </a:endParaRPr>
          </a:p>
          <a:p>
            <a:pPr algn="ctr" defTabSz="457200">
              <a:lnSpc>
                <a:spcPct val="100000"/>
              </a:lnSpc>
            </a:pPr>
            <a:r>
              <a:rPr lang="en-US" sz="1800" b="1" u="none" strike="noStrike">
                <a:solidFill>
                  <a:schemeClr val="lt1"/>
                </a:solidFill>
                <a:effectLst/>
                <a:uFillTx/>
                <a:latin typeface="Calibri"/>
              </a:rPr>
              <a:t>is multiplied by 100</a:t>
            </a:r>
            <a:endParaRPr lang="fr-FR" sz="1800" b="0" u="none" strike="noStrike">
              <a:solidFill>
                <a:srgbClr val="000000"/>
              </a:solidFill>
              <a:effectLst/>
              <a:uFillTx/>
              <a:latin typeface="Arial"/>
            </a:endParaRPr>
          </a:p>
        </p:txBody>
      </p:sp>
      <p:sp>
        <p:nvSpPr>
          <p:cNvPr id="352" name="ZoneTexte 1"/>
          <p:cNvSpPr/>
          <p:nvPr/>
        </p:nvSpPr>
        <p:spPr>
          <a:xfrm>
            <a:off x="9100800" y="833400"/>
            <a:ext cx="259524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French Gut n = 100k</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By 2030</a:t>
            </a:r>
            <a:endParaRPr lang="fr-FR" sz="1800" b="0" u="none" strike="noStrike">
              <a:solidFill>
                <a:srgbClr val="000000"/>
              </a:solidFill>
              <a:effectLst/>
              <a:uFillTx/>
              <a:latin typeface="Arial"/>
            </a:endParaRPr>
          </a:p>
        </p:txBody>
      </p:sp>
      <p:sp>
        <p:nvSpPr>
          <p:cNvPr id="353" name="ZoneTexte 2"/>
          <p:cNvSpPr/>
          <p:nvPr/>
        </p:nvSpPr>
        <p:spPr>
          <a:xfrm>
            <a:off x="7464240" y="809280"/>
            <a:ext cx="81684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fr-FR" sz="3600" b="0" u="none" strike="noStrike">
                <a:solidFill>
                  <a:schemeClr val="accent1"/>
                </a:solidFill>
                <a:effectLst/>
                <a:uFillTx/>
                <a:latin typeface="Calibri"/>
              </a:rPr>
              <a:t>🎯</a:t>
            </a:r>
            <a:endParaRPr lang="fr-FR" sz="3600" b="0" u="none" strike="noStrike">
              <a:solidFill>
                <a:srgbClr val="000000"/>
              </a:solidFill>
              <a:effectLst/>
              <a:uFillTx/>
              <a:latin typeface="Arial"/>
            </a:endParaRPr>
          </a:p>
        </p:txBody>
      </p:sp>
      <p:pic>
        <p:nvPicPr>
          <p:cNvPr id="354" name="Image 6"/>
          <p:cNvPicPr/>
          <p:nvPr/>
        </p:nvPicPr>
        <p:blipFill>
          <a:blip r:embed="rId3"/>
          <a:stretch/>
        </p:blipFill>
        <p:spPr>
          <a:xfrm>
            <a:off x="8509320" y="851760"/>
            <a:ext cx="590040" cy="587520"/>
          </a:xfrm>
          <a:prstGeom prst="rect">
            <a:avLst/>
          </a:prstGeom>
          <a:noFill/>
          <a:ln w="0">
            <a:noFill/>
          </a:ln>
        </p:spPr>
      </p:pic>
      <p:pic>
        <p:nvPicPr>
          <p:cNvPr id="355" name="Picture 2" descr="World Microbiome Partnership – A non-profit organization for common good of  humanity"/>
          <p:cNvPicPr/>
          <p:nvPr/>
        </p:nvPicPr>
        <p:blipFill>
          <a:blip r:embed="rId4"/>
          <a:stretch/>
        </p:blipFill>
        <p:spPr>
          <a:xfrm>
            <a:off x="10199160" y="1273320"/>
            <a:ext cx="1674360" cy="1407600"/>
          </a:xfrm>
          <a:prstGeom prst="rect">
            <a:avLst/>
          </a:prstGeom>
          <a:noFill/>
          <a:ln w="0">
            <a:noFill/>
          </a:ln>
        </p:spPr>
      </p:pic>
      <p:pic>
        <p:nvPicPr>
          <p:cNvPr id="356" name="Picture 4" descr="Million Microbiome of Humans Project - MGI Tech"/>
          <p:cNvPicPr/>
          <p:nvPr/>
        </p:nvPicPr>
        <p:blipFill>
          <a:blip r:embed="rId5"/>
          <a:stretch/>
        </p:blipFill>
        <p:spPr>
          <a:xfrm>
            <a:off x="7687800" y="3655440"/>
            <a:ext cx="4636080" cy="1650240"/>
          </a:xfrm>
          <a:prstGeom prst="rect">
            <a:avLst/>
          </a:prstGeom>
          <a:noFill/>
          <a:ln w="0">
            <a:noFill/>
          </a:ln>
        </p:spPr>
      </p:pic>
    </p:spTree>
  </p:cSld>
  <mc:AlternateContent>
    <mc:Choice Requires="p14">
      <p:transition spd="slow" p14:dur="2000"/>
    </mc:Choice>
    <mc:Fallback>
      <p:transition spd="slow"/>
    </mc:Fallback>
  </mc:AlternateContent>
  <p:timing>
    <p:tnLst>
      <p:par>
        <p:cTn id="199" dur="indefinite" restart="never" nodeType="tmRoot">
          <p:childTnLst>
            <p:seq>
              <p:cTn id="200" dur="indefinite" nodeType="mainSeq">
                <p:childTnLst>
                  <p:par>
                    <p:cTn id="201" fill="hold">
                      <p:stCondLst>
                        <p:cond delay="indefinite"/>
                      </p:stCondLst>
                      <p:childTnLst>
                        <p:par>
                          <p:cTn id="202" fill="hold">
                            <p:stCondLst>
                              <p:cond delay="0"/>
                            </p:stCondLst>
                            <p:childTnLst>
                              <p:par>
                                <p:cTn id="203" presetID="1" presetClass="entr" fill="hold" nodeType="clickEffect">
                                  <p:stCondLst>
                                    <p:cond delay="0"/>
                                  </p:stCondLst>
                                  <p:childTnLst>
                                    <p:set>
                                      <p:cBhvr>
                                        <p:cTn id="204" dur="1" fill="hold">
                                          <p:stCondLst>
                                            <p:cond delay="0"/>
                                          </p:stCondLst>
                                        </p:cTn>
                                        <p:tgtEl>
                                          <p:spTgt spid="353"/>
                                        </p:tgtEl>
                                        <p:attrNameLst>
                                          <p:attrName>style.visibility</p:attrName>
                                        </p:attrNameLst>
                                      </p:cBhvr>
                                      <p:to>
                                        <p:strVal val="visible"/>
                                      </p:to>
                                    </p:set>
                                  </p:childTnLst>
                                </p:cTn>
                              </p:par>
                              <p:par>
                                <p:cTn id="205" presetID="1" presetClass="entr" fill="hold" nodeType="withEffect">
                                  <p:stCondLst>
                                    <p:cond delay="0"/>
                                  </p:stCondLst>
                                  <p:childTnLst>
                                    <p:set>
                                      <p:cBhvr>
                                        <p:cTn id="206" dur="1" fill="hold">
                                          <p:stCondLst>
                                            <p:cond delay="0"/>
                                          </p:stCondLst>
                                        </p:cTn>
                                        <p:tgtEl>
                                          <p:spTgt spid="354"/>
                                        </p:tgtEl>
                                        <p:attrNameLst>
                                          <p:attrName>style.visibility</p:attrName>
                                        </p:attrNameLst>
                                      </p:cBhvr>
                                      <p:to>
                                        <p:strVal val="visible"/>
                                      </p:to>
                                    </p:set>
                                  </p:childTnLst>
                                </p:cTn>
                              </p:par>
                              <p:par>
                                <p:cTn id="207" presetID="1" presetClass="entr" fill="hold" nodeType="withEffect">
                                  <p:stCondLst>
                                    <p:cond delay="0"/>
                                  </p:stCondLst>
                                  <p:childTnLst>
                                    <p:set>
                                      <p:cBhvr>
                                        <p:cTn id="208" dur="1" fill="hold">
                                          <p:stCondLst>
                                            <p:cond delay="0"/>
                                          </p:stCondLst>
                                        </p:cTn>
                                        <p:tgtEl>
                                          <p:spTgt spid="352"/>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fill="hold" nodeType="clickEffect">
                                  <p:stCondLst>
                                    <p:cond delay="0"/>
                                  </p:stCondLst>
                                  <p:childTnLst>
                                    <p:set>
                                      <p:cBhvr>
                                        <p:cTn id="212" dur="1" fill="hold">
                                          <p:stCondLst>
                                            <p:cond delay="0"/>
                                          </p:stCondLst>
                                        </p:cTn>
                                        <p:tgtEl>
                                          <p:spTgt spid="355"/>
                                        </p:tgtEl>
                                        <p:attrNameLst>
                                          <p:attrName>style.visibility</p:attrName>
                                        </p:attrNameLst>
                                      </p:cBhvr>
                                      <p:to>
                                        <p:strVal val="visible"/>
                                      </p:to>
                                    </p:set>
                                  </p:childTnLst>
                                </p:cTn>
                              </p:par>
                              <p:par>
                                <p:cTn id="213" presetID="1" presetClass="entr" fill="hold" nodeType="withEffect">
                                  <p:stCondLst>
                                    <p:cond delay="0"/>
                                  </p:stCondLst>
                                  <p:childTnLst>
                                    <p:set>
                                      <p:cBhvr>
                                        <p:cTn id="214"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Gut Branches validated in the French Gut Project</a:t>
            </a:r>
            <a:endParaRPr lang="fr-FR" sz="3000" b="1" u="none" strike="noStrike">
              <a:solidFill>
                <a:srgbClr val="00A3A6"/>
              </a:solidFill>
              <a:effectLst/>
              <a:uFillTx/>
              <a:latin typeface="AvenirNext LT Pro MediumCn"/>
            </a:endParaRPr>
          </a:p>
        </p:txBody>
      </p:sp>
      <p:sp>
        <p:nvSpPr>
          <p:cNvPr id="358" name="ZoneTexte 4"/>
          <p:cNvSpPr/>
          <p:nvPr/>
        </p:nvSpPr>
        <p:spPr>
          <a:xfrm>
            <a:off x="1051560" y="5008680"/>
            <a:ext cx="496692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(map onto &gt;60k Metalog)</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Classical adult Gut microbiome branches are found</a:t>
            </a:r>
            <a:endParaRPr lang="fr-FR" sz="1800" b="0" u="none" strike="noStrike">
              <a:solidFill>
                <a:srgbClr val="000000"/>
              </a:solidFill>
              <a:effectLst/>
              <a:uFillTx/>
              <a:latin typeface="Arial"/>
            </a:endParaRPr>
          </a:p>
        </p:txBody>
      </p:sp>
      <p:pic>
        <p:nvPicPr>
          <p:cNvPr id="359" name="Image 5"/>
          <p:cNvPicPr/>
          <p:nvPr/>
        </p:nvPicPr>
        <p:blipFill>
          <a:blip r:embed="rId2"/>
          <a:stretch/>
        </p:blipFill>
        <p:spPr>
          <a:xfrm>
            <a:off x="743040" y="1269000"/>
            <a:ext cx="5743800" cy="3544560"/>
          </a:xfrm>
          <a:prstGeom prst="rect">
            <a:avLst/>
          </a:prstGeom>
          <a:noFill/>
          <a:ln w="0">
            <a:noFill/>
          </a:ln>
        </p:spPr>
      </p:pic>
      <p:sp>
        <p:nvSpPr>
          <p:cNvPr id="360" name="Accolade fermante 6"/>
          <p:cNvSpPr/>
          <p:nvPr/>
        </p:nvSpPr>
        <p:spPr>
          <a:xfrm>
            <a:off x="4881960" y="1315440"/>
            <a:ext cx="414000" cy="1256400"/>
          </a:xfrm>
          <a:prstGeom prst="rightBrace">
            <a:avLst>
              <a:gd name="adj1" fmla="val 8333"/>
              <a:gd name="adj2" fmla="val 50000"/>
            </a:avLst>
          </a:prstGeom>
          <a:noFill/>
          <a:ln>
            <a:solidFill>
              <a:srgbClr val="00A3A6"/>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dk1"/>
              </a:solidFill>
              <a:effectLst/>
              <a:uFillTx/>
              <a:latin typeface="Calibri"/>
            </a:endParaRPr>
          </a:p>
        </p:txBody>
      </p:sp>
      <p:sp>
        <p:nvSpPr>
          <p:cNvPr id="361" name="ZoneTexte 7"/>
          <p:cNvSpPr/>
          <p:nvPr/>
        </p:nvSpPr>
        <p:spPr>
          <a:xfrm>
            <a:off x="5220000" y="1574640"/>
            <a:ext cx="159732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Adult branches</a:t>
            </a:r>
            <a:endParaRPr lang="fr-FR" sz="1800" b="0" u="none" strike="noStrike">
              <a:solidFill>
                <a:srgbClr val="000000"/>
              </a:solidFill>
              <a:effectLst/>
              <a:uFillTx/>
              <a:latin typeface="Arial"/>
            </a:endParaRPr>
          </a:p>
        </p:txBody>
      </p:sp>
      <p:sp>
        <p:nvSpPr>
          <p:cNvPr id="362" name="Accolade fermante 8"/>
          <p:cNvSpPr/>
          <p:nvPr/>
        </p:nvSpPr>
        <p:spPr>
          <a:xfrm>
            <a:off x="4804920" y="3655440"/>
            <a:ext cx="414000" cy="1256400"/>
          </a:xfrm>
          <a:prstGeom prst="rightBrace">
            <a:avLst>
              <a:gd name="adj1" fmla="val 8333"/>
              <a:gd name="adj2" fmla="val 50000"/>
            </a:avLst>
          </a:prstGeom>
          <a:noFill/>
          <a:ln>
            <a:solidFill>
              <a:srgbClr val="00A3A6"/>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dk1"/>
              </a:solidFill>
              <a:effectLst/>
              <a:uFillTx/>
              <a:latin typeface="Calibri"/>
            </a:endParaRPr>
          </a:p>
        </p:txBody>
      </p:sp>
      <p:sp>
        <p:nvSpPr>
          <p:cNvPr id="363" name="ZoneTexte 9"/>
          <p:cNvSpPr/>
          <p:nvPr/>
        </p:nvSpPr>
        <p:spPr>
          <a:xfrm>
            <a:off x="5297040" y="4139640"/>
            <a:ext cx="172728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Infants branches</a:t>
            </a:r>
            <a:endParaRPr lang="fr-FR" sz="1800" b="0" u="none" strike="noStrike">
              <a:solidFill>
                <a:srgbClr val="000000"/>
              </a:solidFill>
              <a:effectLst/>
              <a:uFillTx/>
              <a:latin typeface="Arial"/>
            </a:endParaRPr>
          </a:p>
        </p:txBody>
      </p:sp>
      <p:pic>
        <p:nvPicPr>
          <p:cNvPr id="364" name="Image 10"/>
          <p:cNvPicPr/>
          <p:nvPr/>
        </p:nvPicPr>
        <p:blipFill>
          <a:blip r:embed="rId3"/>
          <a:stretch/>
        </p:blipFill>
        <p:spPr>
          <a:xfrm>
            <a:off x="7487280" y="1168200"/>
            <a:ext cx="4228560" cy="2609280"/>
          </a:xfrm>
          <a:prstGeom prst="rect">
            <a:avLst/>
          </a:prstGeom>
          <a:solidFill>
            <a:srgbClr val="FFFFFF"/>
          </a:solidFill>
          <a:ln w="0">
            <a:solidFill>
              <a:srgbClr val="000000"/>
            </a:solidFill>
          </a:ln>
        </p:spPr>
      </p:pic>
      <p:sp>
        <p:nvSpPr>
          <p:cNvPr id="365" name="Flèche : droite 11"/>
          <p:cNvSpPr/>
          <p:nvPr/>
        </p:nvSpPr>
        <p:spPr>
          <a:xfrm>
            <a:off x="6826680" y="1574640"/>
            <a:ext cx="459360" cy="368280"/>
          </a:xfrm>
          <a:prstGeom prst="rightArrow">
            <a:avLst>
              <a:gd name="adj1" fmla="val 50000"/>
              <a:gd name="adj2" fmla="val 50000"/>
            </a:avLst>
          </a:prstGeom>
          <a:solidFill>
            <a:srgbClr val="00A3A6"/>
          </a:solidFill>
          <a:ln>
            <a:solidFill>
              <a:srgbClr val="00787A"/>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66" name="ZoneTexte 12"/>
          <p:cNvSpPr/>
          <p:nvPr/>
        </p:nvSpPr>
        <p:spPr>
          <a:xfrm>
            <a:off x="7995600" y="687600"/>
            <a:ext cx="345204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Several gut partitions in adults pop</a:t>
            </a:r>
            <a:endParaRPr lang="fr-FR" sz="1800" b="0" u="none" strike="noStrike">
              <a:solidFill>
                <a:srgbClr val="000000"/>
              </a:solidFill>
              <a:effectLst/>
              <a:uFillTx/>
              <a:latin typeface="Arial"/>
            </a:endParaRPr>
          </a:p>
        </p:txBody>
      </p:sp>
      <p:sp>
        <p:nvSpPr>
          <p:cNvPr id="367" name="AutoShape 2" descr="https://rs-boogy4.mgps.inra.fr/chunk_output/s/7507A6F3/c86jfr6so2pzc/000023.png"/>
          <p:cNvSpPr/>
          <p:nvPr/>
        </p:nvSpPr>
        <p:spPr>
          <a:xfrm>
            <a:off x="6264720" y="4535640"/>
            <a:ext cx="303840" cy="303840"/>
          </a:xfrm>
          <a:prstGeom prst="rect">
            <a:avLst/>
          </a:prstGeom>
          <a:noFill/>
          <a:ln w="0">
            <a:noFill/>
          </a:ln>
        </p:spPr>
        <p:style>
          <a:lnRef idx="0"/>
          <a:fillRef idx="0"/>
          <a:effectRef idx="0"/>
          <a:fontRef idx="minor"/>
        </p:style>
        <p:txBody>
          <a:bodyPr numCol="1" spcCol="0" lIns="90000" tIns="45000" rIns="90000" bIns="45000" anchor="t">
            <a:noAutofit/>
          </a:bodyPr>
          <a:p>
            <a:endParaRPr lang="en-US" sz="1800" b="0" u="none" strike="noStrike">
              <a:solidFill>
                <a:schemeClr val="dk1"/>
              </a:solidFill>
              <a:effectLst/>
              <a:uFillTx/>
              <a:latin typeface="Calibri"/>
            </a:endParaRPr>
          </a:p>
        </p:txBody>
      </p:sp>
      <p:pic>
        <p:nvPicPr>
          <p:cNvPr id="368" name="Image 14"/>
          <p:cNvPicPr/>
          <p:nvPr/>
        </p:nvPicPr>
        <p:blipFill>
          <a:blip r:embed="rId4"/>
          <a:stretch/>
        </p:blipFill>
        <p:spPr>
          <a:xfrm>
            <a:off x="7703280" y="4074120"/>
            <a:ext cx="3552480" cy="2192040"/>
          </a:xfrm>
          <a:prstGeom prst="rect">
            <a:avLst/>
          </a:prstGeom>
          <a:noFill/>
          <a:ln w="0">
            <a:noFill/>
          </a:ln>
        </p:spPr>
      </p:pic>
      <p:sp>
        <p:nvSpPr>
          <p:cNvPr id="369" name="Ellipse 15"/>
          <p:cNvSpPr/>
          <p:nvPr/>
        </p:nvSpPr>
        <p:spPr>
          <a:xfrm>
            <a:off x="7853760" y="5730840"/>
            <a:ext cx="211320" cy="214200"/>
          </a:xfrm>
          <a:prstGeom prst="ellipse">
            <a:avLst/>
          </a:prstGeom>
          <a:solidFill>
            <a:srgbClr val="ED6E6C"/>
          </a:solidFill>
          <a:ln>
            <a:solidFill>
              <a:srgbClr val="AF514F"/>
            </a:solid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70" name="Ellipse 16"/>
          <p:cNvSpPr/>
          <p:nvPr/>
        </p:nvSpPr>
        <p:spPr>
          <a:xfrm>
            <a:off x="8582400" y="5760720"/>
            <a:ext cx="211320" cy="214200"/>
          </a:xfrm>
          <a:prstGeom prst="ellipse">
            <a:avLst/>
          </a:prstGeom>
          <a:solidFill>
            <a:srgbClr val="ED6E6C"/>
          </a:solidFill>
          <a:ln>
            <a:solidFill>
              <a:srgbClr val="AF514F"/>
            </a:solid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71" name="Ellipse 17"/>
          <p:cNvSpPr/>
          <p:nvPr/>
        </p:nvSpPr>
        <p:spPr>
          <a:xfrm>
            <a:off x="9930240" y="5760720"/>
            <a:ext cx="211320" cy="214200"/>
          </a:xfrm>
          <a:prstGeom prst="ellipse">
            <a:avLst/>
          </a:prstGeom>
          <a:solidFill>
            <a:srgbClr val="ED6E6C"/>
          </a:solidFill>
          <a:ln>
            <a:solidFill>
              <a:srgbClr val="AF514F"/>
            </a:solid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72" name="Ellipse 18"/>
          <p:cNvSpPr/>
          <p:nvPr/>
        </p:nvSpPr>
        <p:spPr>
          <a:xfrm>
            <a:off x="10643760" y="5760720"/>
            <a:ext cx="211320" cy="214200"/>
          </a:xfrm>
          <a:prstGeom prst="ellipse">
            <a:avLst/>
          </a:prstGeom>
          <a:solidFill>
            <a:srgbClr val="ED6E6C"/>
          </a:solidFill>
          <a:ln>
            <a:solidFill>
              <a:srgbClr val="AF514F"/>
            </a:solid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73" name="Ellipse 19"/>
          <p:cNvSpPr/>
          <p:nvPr/>
        </p:nvSpPr>
        <p:spPr>
          <a:xfrm>
            <a:off x="7351560" y="6415920"/>
            <a:ext cx="211320" cy="214200"/>
          </a:xfrm>
          <a:prstGeom prst="ellipse">
            <a:avLst/>
          </a:prstGeom>
          <a:solidFill>
            <a:srgbClr val="ED6E6C"/>
          </a:solidFill>
          <a:ln>
            <a:solidFill>
              <a:srgbClr val="AF514F"/>
            </a:solidFill>
          </a:ln>
        </p:spPr>
        <p:style>
          <a:lnRef idx="2">
            <a:schemeClr val="accent5">
              <a:shade val="50000"/>
            </a:schemeClr>
          </a:lnRef>
          <a:fillRef idx="1">
            <a:schemeClr val="accent5"/>
          </a:fillRef>
          <a:effectRef idx="0">
            <a:schemeClr val="accent5"/>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74" name="ZoneTexte 20"/>
          <p:cNvSpPr/>
          <p:nvPr/>
        </p:nvSpPr>
        <p:spPr>
          <a:xfrm>
            <a:off x="7539840" y="6338880"/>
            <a:ext cx="408816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Branches tip associated with low diversity</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15" dur="indefinite" restart="never" nodeType="tmRoot">
          <p:childTnLst>
            <p:seq>
              <p:cTn id="216" dur="indefinite" nodeType="mainSeq">
                <p:childTnLst>
                  <p:par>
                    <p:cTn id="217" fill="hold">
                      <p:stCondLst>
                        <p:cond delay="indefinite"/>
                      </p:stCondLst>
                      <p:childTnLst>
                        <p:par>
                          <p:cTn id="218" fill="hold">
                            <p:stCondLst>
                              <p:cond delay="0"/>
                            </p:stCondLst>
                            <p:childTnLst>
                              <p:par>
                                <p:cTn id="219" presetID="1" presetClass="entr" fill="hold" nodeType="clickEffect">
                                  <p:stCondLst>
                                    <p:cond delay="0"/>
                                  </p:stCondLst>
                                  <p:childTnLst>
                                    <p:set>
                                      <p:cBhvr>
                                        <p:cTn id="220" dur="1" fill="hold">
                                          <p:stCondLst>
                                            <p:cond delay="0"/>
                                          </p:stCondLst>
                                        </p:cTn>
                                        <p:tgtEl>
                                          <p:spTgt spid="358"/>
                                        </p:tgtEl>
                                        <p:attrNameLst>
                                          <p:attrName>style.visibility</p:attrName>
                                        </p:attrNameLst>
                                      </p:cBhvr>
                                      <p:to>
                                        <p:strVal val="visible"/>
                                      </p:to>
                                    </p:set>
                                  </p:childTnLst>
                                </p:cTn>
                              </p:par>
                              <p:par>
                                <p:cTn id="221" presetID="1" presetClass="entr" fill="hold" nodeType="withEffect">
                                  <p:stCondLst>
                                    <p:cond delay="0"/>
                                  </p:stCondLst>
                                  <p:childTnLst>
                                    <p:set>
                                      <p:cBhvr>
                                        <p:cTn id="222" dur="1" fill="hold">
                                          <p:stCondLst>
                                            <p:cond delay="0"/>
                                          </p:stCondLst>
                                        </p:cTn>
                                        <p:tgtEl>
                                          <p:spTgt spid="35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0" presetClass="entr" fill="hold" nodeType="clickEffect">
                                  <p:stCondLst>
                                    <p:cond delay="0"/>
                                  </p:stCondLst>
                                  <p:childTnLst>
                                    <p:set>
                                      <p:cBhvr>
                                        <p:cTn id="226" dur="1" fill="hold">
                                          <p:stCondLst>
                                            <p:cond delay="0"/>
                                          </p:stCondLst>
                                        </p:cTn>
                                        <p:tgtEl>
                                          <p:spTgt spid="360"/>
                                        </p:tgtEl>
                                        <p:attrNameLst>
                                          <p:attrName>style.visibility</p:attrName>
                                        </p:attrNameLst>
                                      </p:cBhvr>
                                      <p:to>
                                        <p:strVal val="visible"/>
                                      </p:to>
                                    </p:set>
                                    <p:animEffect transition="in" filter="fade">
                                      <p:cBhvr additive="repl">
                                        <p:cTn id="227" dur="500"/>
                                        <p:tgtEl>
                                          <p:spTgt spid="360"/>
                                        </p:tgtEl>
                                      </p:cBhvr>
                                    </p:animEffect>
                                  </p:childTnLst>
                                </p:cTn>
                              </p:par>
                              <p:par>
                                <p:cTn id="228" presetID="10" presetClass="entr" fill="hold" nodeType="withEffect">
                                  <p:stCondLst>
                                    <p:cond delay="0"/>
                                  </p:stCondLst>
                                  <p:childTnLst>
                                    <p:set>
                                      <p:cBhvr>
                                        <p:cTn id="229" dur="1" fill="hold">
                                          <p:stCondLst>
                                            <p:cond delay="0"/>
                                          </p:stCondLst>
                                        </p:cTn>
                                        <p:tgtEl>
                                          <p:spTgt spid="361"/>
                                        </p:tgtEl>
                                        <p:attrNameLst>
                                          <p:attrName>style.visibility</p:attrName>
                                        </p:attrNameLst>
                                      </p:cBhvr>
                                      <p:to>
                                        <p:strVal val="visible"/>
                                      </p:to>
                                    </p:set>
                                    <p:animEffect transition="in" filter="fade">
                                      <p:cBhvr additive="repl">
                                        <p:cTn id="230" dur="500"/>
                                        <p:tgtEl>
                                          <p:spTgt spid="361"/>
                                        </p:tgtEl>
                                      </p:cBhvr>
                                    </p:animEffect>
                                  </p:childTnLst>
                                </p:cTn>
                              </p:par>
                              <p:par>
                                <p:cTn id="231" presetID="10" presetClass="entr" fill="hold" nodeType="withEffect">
                                  <p:stCondLst>
                                    <p:cond delay="0"/>
                                  </p:stCondLst>
                                  <p:childTnLst>
                                    <p:set>
                                      <p:cBhvr>
                                        <p:cTn id="232" dur="1" fill="hold">
                                          <p:stCondLst>
                                            <p:cond delay="0"/>
                                          </p:stCondLst>
                                        </p:cTn>
                                        <p:tgtEl>
                                          <p:spTgt spid="362"/>
                                        </p:tgtEl>
                                        <p:attrNameLst>
                                          <p:attrName>style.visibility</p:attrName>
                                        </p:attrNameLst>
                                      </p:cBhvr>
                                      <p:to>
                                        <p:strVal val="visible"/>
                                      </p:to>
                                    </p:set>
                                    <p:animEffect transition="in" filter="fade">
                                      <p:cBhvr additive="repl">
                                        <p:cTn id="233" dur="500"/>
                                        <p:tgtEl>
                                          <p:spTgt spid="362"/>
                                        </p:tgtEl>
                                      </p:cBhvr>
                                    </p:animEffect>
                                  </p:childTnLst>
                                </p:cTn>
                              </p:par>
                              <p:par>
                                <p:cTn id="234" presetID="10" presetClass="entr" fill="hold" nodeType="withEffect">
                                  <p:stCondLst>
                                    <p:cond delay="0"/>
                                  </p:stCondLst>
                                  <p:childTnLst>
                                    <p:set>
                                      <p:cBhvr>
                                        <p:cTn id="235" dur="1" fill="hold">
                                          <p:stCondLst>
                                            <p:cond delay="0"/>
                                          </p:stCondLst>
                                        </p:cTn>
                                        <p:tgtEl>
                                          <p:spTgt spid="363"/>
                                        </p:tgtEl>
                                        <p:attrNameLst>
                                          <p:attrName>style.visibility</p:attrName>
                                        </p:attrNameLst>
                                      </p:cBhvr>
                                      <p:to>
                                        <p:strVal val="visible"/>
                                      </p:to>
                                    </p:set>
                                    <p:animEffect transition="in" filter="fade">
                                      <p:cBhvr additive="repl">
                                        <p:cTn id="236" dur="500"/>
                                        <p:tgtEl>
                                          <p:spTgt spid="363"/>
                                        </p:tgtEl>
                                      </p:cBhvr>
                                    </p:animEffect>
                                  </p:childTnLst>
                                </p:cTn>
                              </p:par>
                            </p:childTnLst>
                          </p:cTn>
                        </p:par>
                      </p:childTnLst>
                    </p:cTn>
                  </p:par>
                  <p:par>
                    <p:cTn id="237" fill="hold">
                      <p:stCondLst>
                        <p:cond delay="indefinite"/>
                      </p:stCondLst>
                      <p:childTnLst>
                        <p:par>
                          <p:cTn id="238" fill="hold">
                            <p:stCondLst>
                              <p:cond delay="0"/>
                            </p:stCondLst>
                            <p:childTnLst>
                              <p:par>
                                <p:cTn id="239" presetID="1" presetClass="entr" fill="hold" nodeType="clickEffect">
                                  <p:stCondLst>
                                    <p:cond delay="0"/>
                                  </p:stCondLst>
                                  <p:childTnLst>
                                    <p:set>
                                      <p:cBhvr>
                                        <p:cTn id="240" dur="1" fill="hold">
                                          <p:stCondLst>
                                            <p:cond delay="0"/>
                                          </p:stCondLst>
                                        </p:cTn>
                                        <p:tgtEl>
                                          <p:spTgt spid="365"/>
                                        </p:tgtEl>
                                        <p:attrNameLst>
                                          <p:attrName>style.visibility</p:attrName>
                                        </p:attrNameLst>
                                      </p:cBhvr>
                                      <p:to>
                                        <p:strVal val="visible"/>
                                      </p:to>
                                    </p:set>
                                  </p:childTnLst>
                                </p:cTn>
                              </p:par>
                              <p:par>
                                <p:cTn id="241" presetID="1" presetClass="entr" fill="hold" nodeType="withEffect">
                                  <p:stCondLst>
                                    <p:cond delay="0"/>
                                  </p:stCondLst>
                                  <p:childTnLst>
                                    <p:set>
                                      <p:cBhvr>
                                        <p:cTn id="242" dur="1" fill="hold">
                                          <p:stCondLst>
                                            <p:cond delay="0"/>
                                          </p:stCondLst>
                                        </p:cTn>
                                        <p:tgtEl>
                                          <p:spTgt spid="364"/>
                                        </p:tgtEl>
                                        <p:attrNameLst>
                                          <p:attrName>style.visibility</p:attrName>
                                        </p:attrNameLst>
                                      </p:cBhvr>
                                      <p:to>
                                        <p:strVal val="visible"/>
                                      </p:to>
                                    </p:set>
                                  </p:childTnLst>
                                </p:cTn>
                              </p:par>
                              <p:par>
                                <p:cTn id="243" presetID="1" presetClass="entr" fill="hold" nodeType="withEffect">
                                  <p:stCondLst>
                                    <p:cond delay="0"/>
                                  </p:stCondLst>
                                  <p:childTnLst>
                                    <p:set>
                                      <p:cBhvr>
                                        <p:cTn id="244" dur="1" fill="hold">
                                          <p:stCondLst>
                                            <p:cond delay="0"/>
                                          </p:stCondLst>
                                        </p:cTn>
                                        <p:tgtEl>
                                          <p:spTgt spid="366"/>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fill="hold" nodeType="clickEffect">
                                  <p:stCondLst>
                                    <p:cond delay="0"/>
                                  </p:stCondLst>
                                  <p:childTnLst>
                                    <p:set>
                                      <p:cBhvr>
                                        <p:cTn id="248" dur="1" fill="hold">
                                          <p:stCondLst>
                                            <p:cond delay="0"/>
                                          </p:stCondLst>
                                        </p:cTn>
                                        <p:tgtEl>
                                          <p:spTgt spid="368"/>
                                        </p:tgtEl>
                                        <p:attrNameLst>
                                          <p:attrName>style.visibility</p:attrName>
                                        </p:attrNameLst>
                                      </p:cBhvr>
                                      <p:to>
                                        <p:strVal val="visible"/>
                                      </p:to>
                                    </p:set>
                                  </p:childTnLst>
                                </p:cTn>
                              </p:par>
                              <p:par>
                                <p:cTn id="249" presetID="1" presetClass="entr" fill="hold" nodeType="withEffect">
                                  <p:stCondLst>
                                    <p:cond delay="0"/>
                                  </p:stCondLst>
                                  <p:childTnLst>
                                    <p:set>
                                      <p:cBhvr>
                                        <p:cTn id="250" dur="1" fill="hold">
                                          <p:stCondLst>
                                            <p:cond delay="0"/>
                                          </p:stCondLst>
                                        </p:cTn>
                                        <p:tgtEl>
                                          <p:spTgt spid="369"/>
                                        </p:tgtEl>
                                        <p:attrNameLst>
                                          <p:attrName>style.visibility</p:attrName>
                                        </p:attrNameLst>
                                      </p:cBhvr>
                                      <p:to>
                                        <p:strVal val="visible"/>
                                      </p:to>
                                    </p:set>
                                  </p:childTnLst>
                                </p:cTn>
                              </p:par>
                              <p:par>
                                <p:cTn id="251" presetID="1" presetClass="entr" fill="hold" nodeType="withEffect">
                                  <p:stCondLst>
                                    <p:cond delay="0"/>
                                  </p:stCondLst>
                                  <p:childTnLst>
                                    <p:set>
                                      <p:cBhvr>
                                        <p:cTn id="252" dur="1" fill="hold">
                                          <p:stCondLst>
                                            <p:cond delay="0"/>
                                          </p:stCondLst>
                                        </p:cTn>
                                        <p:tgtEl>
                                          <p:spTgt spid="370"/>
                                        </p:tgtEl>
                                        <p:attrNameLst>
                                          <p:attrName>style.visibility</p:attrName>
                                        </p:attrNameLst>
                                      </p:cBhvr>
                                      <p:to>
                                        <p:strVal val="visible"/>
                                      </p:to>
                                    </p:set>
                                  </p:childTnLst>
                                </p:cTn>
                              </p:par>
                              <p:par>
                                <p:cTn id="253" presetID="1" presetClass="entr" fill="hold" nodeType="withEffect">
                                  <p:stCondLst>
                                    <p:cond delay="0"/>
                                  </p:stCondLst>
                                  <p:childTnLst>
                                    <p:set>
                                      <p:cBhvr>
                                        <p:cTn id="254" dur="1" fill="hold">
                                          <p:stCondLst>
                                            <p:cond delay="0"/>
                                          </p:stCondLst>
                                        </p:cTn>
                                        <p:tgtEl>
                                          <p:spTgt spid="371"/>
                                        </p:tgtEl>
                                        <p:attrNameLst>
                                          <p:attrName>style.visibility</p:attrName>
                                        </p:attrNameLst>
                                      </p:cBhvr>
                                      <p:to>
                                        <p:strVal val="visible"/>
                                      </p:to>
                                    </p:set>
                                  </p:childTnLst>
                                </p:cTn>
                              </p:par>
                              <p:par>
                                <p:cTn id="255" presetID="1" presetClass="entr" fill="hold" nodeType="withEffect">
                                  <p:stCondLst>
                                    <p:cond delay="0"/>
                                  </p:stCondLst>
                                  <p:childTnLst>
                                    <p:set>
                                      <p:cBhvr>
                                        <p:cTn id="256" dur="1" fill="hold">
                                          <p:stCondLst>
                                            <p:cond delay="0"/>
                                          </p:stCondLst>
                                        </p:cTn>
                                        <p:tgtEl>
                                          <p:spTgt spid="372"/>
                                        </p:tgtEl>
                                        <p:attrNameLst>
                                          <p:attrName>style.visibility</p:attrName>
                                        </p:attrNameLst>
                                      </p:cBhvr>
                                      <p:to>
                                        <p:strVal val="visible"/>
                                      </p:to>
                                    </p:set>
                                  </p:childTnLst>
                                </p:cTn>
                              </p:par>
                              <p:par>
                                <p:cTn id="257" presetID="1" presetClass="entr" fill="hold" nodeType="withEffect">
                                  <p:stCondLst>
                                    <p:cond delay="0"/>
                                  </p:stCondLst>
                                  <p:childTnLst>
                                    <p:set>
                                      <p:cBhvr>
                                        <p:cTn id="258" dur="1" fill="hold">
                                          <p:stCondLst>
                                            <p:cond delay="0"/>
                                          </p:stCondLst>
                                        </p:cTn>
                                        <p:tgtEl>
                                          <p:spTgt spid="373"/>
                                        </p:tgtEl>
                                        <p:attrNameLst>
                                          <p:attrName>style.visibility</p:attrName>
                                        </p:attrNameLst>
                                      </p:cBhvr>
                                      <p:to>
                                        <p:strVal val="visible"/>
                                      </p:to>
                                    </p:set>
                                  </p:childTnLst>
                                </p:cTn>
                              </p:par>
                              <p:par>
                                <p:cTn id="259" presetID="1" presetClass="entr" fill="hold" nodeType="withEffect">
                                  <p:stCondLst>
                                    <p:cond delay="0"/>
                                  </p:stCondLst>
                                  <p:childTnLst>
                                    <p:set>
                                      <p:cBhvr>
                                        <p:cTn id="260" dur="1" fill="hold">
                                          <p:stCondLst>
                                            <p:cond delay="0"/>
                                          </p:stCondLst>
                                        </p:cTn>
                                        <p:tgtEl>
                                          <p:spTgt spid="3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Branches seen as metro line and partitions as stations</a:t>
            </a:r>
            <a:endParaRPr lang="fr-FR" sz="3000" b="1" u="none" strike="noStrike">
              <a:solidFill>
                <a:srgbClr val="00A3A6"/>
              </a:solidFill>
              <a:effectLst/>
              <a:uFillTx/>
              <a:latin typeface="AvenirNext LT Pro MediumCn"/>
            </a:endParaRPr>
          </a:p>
        </p:txBody>
      </p:sp>
      <p:pic>
        <p:nvPicPr>
          <p:cNvPr id="376" name="Image 6"/>
          <p:cNvPicPr/>
          <p:nvPr/>
        </p:nvPicPr>
        <p:blipFill>
          <a:blip r:embed="rId2"/>
          <a:stretch/>
        </p:blipFill>
        <p:spPr>
          <a:xfrm>
            <a:off x="1158120" y="753840"/>
            <a:ext cx="7136640" cy="5349240"/>
          </a:xfrm>
          <a:prstGeom prst="rect">
            <a:avLst/>
          </a:prstGeom>
          <a:noFill/>
          <a:ln w="0">
            <a:noFill/>
          </a:ln>
        </p:spPr>
      </p:pic>
      <p:sp>
        <p:nvSpPr>
          <p:cNvPr id="377" name="ZoneTexte 7"/>
          <p:cNvSpPr/>
          <p:nvPr/>
        </p:nvSpPr>
        <p:spPr>
          <a:xfrm>
            <a:off x="1062720" y="1458360"/>
            <a:ext cx="325008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A ecological conceptual view for </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microbiome personalization…</a:t>
            </a:r>
            <a:endParaRPr lang="fr-FR" sz="1800" b="0" u="none" strike="noStrike">
              <a:solidFill>
                <a:srgbClr val="000000"/>
              </a:solidFill>
              <a:effectLst/>
              <a:uFillTx/>
              <a:latin typeface="Arial"/>
            </a:endParaRPr>
          </a:p>
        </p:txBody>
      </p:sp>
      <p:sp>
        <p:nvSpPr>
          <p:cNvPr id="378" name="ZoneTexte 4"/>
          <p:cNvSpPr/>
          <p:nvPr/>
        </p:nvSpPr>
        <p:spPr>
          <a:xfrm>
            <a:off x="7028640" y="5855760"/>
            <a:ext cx="4021920" cy="36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How does it connect with dietary habits ?</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9" name="Image 4"/>
          <p:cNvPicPr/>
          <p:nvPr/>
        </p:nvPicPr>
        <p:blipFill>
          <a:blip r:embed="rId1"/>
          <a:stretch/>
        </p:blipFill>
        <p:spPr>
          <a:xfrm>
            <a:off x="3562920" y="0"/>
            <a:ext cx="8228520" cy="6856920"/>
          </a:xfrm>
          <a:prstGeom prst="rect">
            <a:avLst/>
          </a:prstGeom>
          <a:noFill/>
          <a:ln w="0">
            <a:noFill/>
          </a:ln>
        </p:spPr>
      </p:pic>
      <p:sp>
        <p:nvSpPr>
          <p:cNvPr id="380" name="PlaceHolder 1"/>
          <p:cNvSpPr>
            <a:spLocks noGrp="1"/>
          </p:cNvSpPr>
          <p:nvPr>
            <p:ph type="title"/>
          </p:nvPr>
        </p:nvSpPr>
        <p:spPr>
          <a:xfrm>
            <a:off x="287280" y="1919520"/>
            <a:ext cx="2773080" cy="2629440"/>
          </a:xfrm>
          <a:prstGeom prst="rect">
            <a:avLst/>
          </a:prstGeom>
          <a:noFill/>
          <a:ln w="0">
            <a:noFill/>
          </a:ln>
        </p:spPr>
        <p:txBody>
          <a:bodyPr lIns="0" tIns="46800" rIns="91440" bIns="45720" anchor="ctr">
            <a:normAutofit fontScale="92500" lnSpcReduction="9999"/>
          </a:bodyPr>
          <a:p>
            <a:pPr marL="457200" indent="-457200" algn="l" defTabSz="914400">
              <a:lnSpc>
                <a:spcPct val="90000"/>
              </a:lnSpc>
              <a:buSzPct val="100054"/>
              <a:buBlip>
                <a:blip r:embed="rId2"/>
              </a:buBlip>
            </a:pPr>
            <a:r>
              <a:rPr lang="en-US" sz="3000" b="1" u="none" strike="noStrike">
                <a:solidFill>
                  <a:srgbClr val="00A3A6"/>
                </a:solidFill>
                <a:effectLst/>
                <a:uFillTx/>
                <a:latin typeface="AvenirNext LT Pro MediumCn"/>
              </a:rPr>
              <a:t>Long FFQ co-variate nicely with nutrition table derived from the general questionnaire</a:t>
            </a:r>
            <a:endParaRPr lang="fr-FR" sz="3000" b="1" u="none" strike="noStrike">
              <a:solidFill>
                <a:srgbClr val="00A3A6"/>
              </a:solidFill>
              <a:effectLst/>
              <a:uFillTx/>
              <a:latin typeface="AvenirNext LT Pro MediumCn"/>
            </a:endParaRPr>
          </a:p>
        </p:txBody>
      </p:sp>
      <p:pic>
        <p:nvPicPr>
          <p:cNvPr id="381" name="Image 3"/>
          <p:cNvPicPr/>
          <p:nvPr/>
        </p:nvPicPr>
        <p:blipFill>
          <a:blip r:embed="rId3"/>
          <a:srcRect l="883" t="7769" r="-883" b="5091"/>
          <a:stretch/>
        </p:blipFill>
        <p:spPr>
          <a:xfrm>
            <a:off x="5761080" y="580680"/>
            <a:ext cx="4523760" cy="4016880"/>
          </a:xfrm>
          <a:prstGeom prst="rect">
            <a:avLst/>
          </a:prstGeom>
          <a:noFill/>
          <a:ln w="0">
            <a:noFill/>
          </a:ln>
        </p:spPr>
      </p:pic>
      <p:sp>
        <p:nvSpPr>
          <p:cNvPr id="382" name="Image 5"/>
          <p:cNvSpPr/>
          <p:nvPr/>
        </p:nvSpPr>
        <p:spPr>
          <a:xfrm>
            <a:off x="188640" y="113400"/>
            <a:ext cx="1393920" cy="1393920"/>
          </a:xfrm>
          <a:prstGeom prst="ellipse">
            <a:avLst/>
          </a:prstGeom>
          <a:blipFill rotWithShape="0">
            <a:blip r:embed="rId4"/>
            <a:srcRect/>
            <a:stretch/>
          </a:blipFill>
          <a:ln w="0">
            <a:noFill/>
          </a:ln>
          <a:effectLst>
            <a:softEdge rad="112680"/>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83" name="Rectangle 2"/>
          <p:cNvSpPr/>
          <p:nvPr/>
        </p:nvSpPr>
        <p:spPr>
          <a:xfrm>
            <a:off x="1583640" y="415800"/>
            <a:ext cx="1699200" cy="922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Anne Hiol</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Nutritional Epidemiology</a:t>
            </a:r>
            <a:endParaRPr lang="fr-FR" sz="1800" b="0" u="none" strike="noStrike">
              <a:solidFill>
                <a:srgbClr val="000000"/>
              </a:solidFill>
              <a:effectLst/>
              <a:uFillTx/>
              <a:latin typeface="Arial"/>
            </a:endParaRPr>
          </a:p>
        </p:txBody>
      </p:sp>
      <p:pic>
        <p:nvPicPr>
          <p:cNvPr id="384" name="Image 7"/>
          <p:cNvPicPr/>
          <p:nvPr/>
        </p:nvPicPr>
        <p:blipFill>
          <a:blip r:embed="rId5"/>
          <a:srcRect l="0" t="5668" r="0" b="0"/>
          <a:stretch/>
        </p:blipFill>
        <p:spPr>
          <a:xfrm>
            <a:off x="5362560" y="772560"/>
            <a:ext cx="5675760" cy="3825000"/>
          </a:xfrm>
          <a:prstGeom prst="rect">
            <a:avLst/>
          </a:prstGeom>
          <a:noFill/>
          <a:ln w="0">
            <a:noFill/>
          </a:ln>
        </p:spPr>
      </p:pic>
      <p:pic>
        <p:nvPicPr>
          <p:cNvPr id="385" name="Image 8"/>
          <p:cNvPicPr/>
          <p:nvPr/>
        </p:nvPicPr>
        <p:blipFill>
          <a:blip r:embed="rId6"/>
          <a:stretch/>
        </p:blipFill>
        <p:spPr>
          <a:xfrm>
            <a:off x="8200800" y="2932920"/>
            <a:ext cx="731880" cy="922320"/>
          </a:xfrm>
          <a:prstGeom prst="rect">
            <a:avLst/>
          </a:prstGeom>
          <a:noFill/>
          <a:ln w="0">
            <a:noFill/>
          </a:ln>
        </p:spPr>
      </p:pic>
      <p:pic>
        <p:nvPicPr>
          <p:cNvPr id="386" name="Image 9"/>
          <p:cNvPicPr/>
          <p:nvPr/>
        </p:nvPicPr>
        <p:blipFill>
          <a:blip r:embed="rId7"/>
          <a:srcRect l="0" t="21161" r="0" b="21831"/>
          <a:stretch/>
        </p:blipFill>
        <p:spPr>
          <a:xfrm>
            <a:off x="6540120" y="1229760"/>
            <a:ext cx="815760" cy="437040"/>
          </a:xfrm>
          <a:prstGeom prst="rect">
            <a:avLst/>
          </a:prstGeom>
          <a:noFill/>
          <a:ln w="0">
            <a:noFill/>
          </a:ln>
        </p:spPr>
      </p:pic>
      <p:sp>
        <p:nvSpPr>
          <p:cNvPr id="387" name="ZoneTexte 10"/>
          <p:cNvSpPr/>
          <p:nvPr/>
        </p:nvSpPr>
        <p:spPr>
          <a:xfrm>
            <a:off x="6307920" y="993960"/>
            <a:ext cx="1050840" cy="4604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400" b="0" u="none" strike="noStrike">
                <a:solidFill>
                  <a:schemeClr val="dk1"/>
                </a:solidFill>
                <a:effectLst/>
                <a:uFillTx/>
                <a:latin typeface="AvenirNext LT Pro Medium"/>
              </a:rPr>
              <a:t>Butter</a:t>
            </a:r>
            <a:endParaRPr lang="fr-FR" sz="2400" b="0" u="none" strike="noStrike">
              <a:solidFill>
                <a:srgbClr val="000000"/>
              </a:solidFill>
              <a:effectLst/>
              <a:uFillTx/>
              <a:latin typeface="Arial"/>
            </a:endParaRPr>
          </a:p>
        </p:txBody>
      </p:sp>
      <p:sp>
        <p:nvSpPr>
          <p:cNvPr id="388" name="ZoneTexte 11"/>
          <p:cNvSpPr/>
          <p:nvPr/>
        </p:nvSpPr>
        <p:spPr>
          <a:xfrm>
            <a:off x="8229600" y="3597120"/>
            <a:ext cx="674280" cy="522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800" b="0" u="none" strike="noStrike">
                <a:solidFill>
                  <a:schemeClr val="dk1"/>
                </a:solidFill>
                <a:effectLst/>
                <a:uFillTx/>
                <a:latin typeface="AvenirNext LT Pro Medium"/>
              </a:rPr>
              <a:t>Oil</a:t>
            </a:r>
            <a:endParaRPr lang="fr-FR"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61" dur="indefinite" restart="never" nodeType="tmRoot">
          <p:childTnLst>
            <p:seq>
              <p:cTn id="262" dur="indefinite" nodeType="mainSeq">
                <p:childTnLst>
                  <p:par>
                    <p:cTn id="263" fill="hold">
                      <p:stCondLst>
                        <p:cond delay="indefinite"/>
                      </p:stCondLst>
                      <p:childTnLst>
                        <p:par>
                          <p:cTn id="264" fill="hold">
                            <p:stCondLst>
                              <p:cond delay="0"/>
                            </p:stCondLst>
                            <p:childTnLst>
                              <p:par>
                                <p:cTn id="265" presetID="1" presetClass="entr" fill="hold" nodeType="clickEffect">
                                  <p:stCondLst>
                                    <p:cond delay="0"/>
                                  </p:stCondLst>
                                  <p:childTnLst>
                                    <p:set>
                                      <p:cBhvr>
                                        <p:cTn id="266" dur="1" fill="hold">
                                          <p:stCondLst>
                                            <p:cond delay="0"/>
                                          </p:stCondLst>
                                        </p:cTn>
                                        <p:tgtEl>
                                          <p:spTgt spid="381"/>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fill="hold" nodeType="clickEffect">
                                  <p:stCondLst>
                                    <p:cond delay="0"/>
                                  </p:stCondLst>
                                  <p:childTnLst>
                                    <p:set>
                                      <p:cBhvr>
                                        <p:cTn id="270" dur="1" fill="hold">
                                          <p:stCondLst>
                                            <p:cond delay="0"/>
                                          </p:stCondLst>
                                        </p:cTn>
                                        <p:tgtEl>
                                          <p:spTgt spid="384"/>
                                        </p:tgtEl>
                                        <p:attrNameLst>
                                          <p:attrName>style.visibility</p:attrName>
                                        </p:attrNameLst>
                                      </p:cBhvr>
                                      <p:to>
                                        <p:strVal val="visible"/>
                                      </p:to>
                                    </p:set>
                                  </p:childTnLst>
                                </p:cTn>
                              </p:par>
                              <p:par>
                                <p:cTn id="271" presetID="1" presetClass="entr" fill="hold" nodeType="withEffect">
                                  <p:stCondLst>
                                    <p:cond delay="0"/>
                                  </p:stCondLst>
                                  <p:childTnLst>
                                    <p:set>
                                      <p:cBhvr>
                                        <p:cTn id="272" dur="1" fill="hold">
                                          <p:stCondLst>
                                            <p:cond delay="0"/>
                                          </p:stCondLst>
                                        </p:cTn>
                                        <p:tgtEl>
                                          <p:spTgt spid="387"/>
                                        </p:tgtEl>
                                        <p:attrNameLst>
                                          <p:attrName>style.visibility</p:attrName>
                                        </p:attrNameLst>
                                      </p:cBhvr>
                                      <p:to>
                                        <p:strVal val="visible"/>
                                      </p:to>
                                    </p:set>
                                  </p:childTnLst>
                                </p:cTn>
                              </p:par>
                              <p:par>
                                <p:cTn id="273" presetID="1" presetClass="entr" fill="hold" nodeType="withEffect">
                                  <p:stCondLst>
                                    <p:cond delay="0"/>
                                  </p:stCondLst>
                                  <p:childTnLst>
                                    <p:set>
                                      <p:cBhvr>
                                        <p:cTn id="274" dur="1" fill="hold">
                                          <p:stCondLst>
                                            <p:cond delay="0"/>
                                          </p:stCondLst>
                                        </p:cTn>
                                        <p:tgtEl>
                                          <p:spTgt spid="386"/>
                                        </p:tgtEl>
                                        <p:attrNameLst>
                                          <p:attrName>style.visibility</p:attrName>
                                        </p:attrNameLst>
                                      </p:cBhvr>
                                      <p:to>
                                        <p:strVal val="visible"/>
                                      </p:to>
                                    </p:set>
                                  </p:childTnLst>
                                </p:cTn>
                              </p:par>
                              <p:par>
                                <p:cTn id="275" presetID="1" presetClass="entr" fill="hold" nodeType="withEffect">
                                  <p:stCondLst>
                                    <p:cond delay="0"/>
                                  </p:stCondLst>
                                  <p:childTnLst>
                                    <p:set>
                                      <p:cBhvr>
                                        <p:cTn id="276" dur="1" fill="hold">
                                          <p:stCondLst>
                                            <p:cond delay="0"/>
                                          </p:stCondLst>
                                        </p:cTn>
                                        <p:tgtEl>
                                          <p:spTgt spid="385"/>
                                        </p:tgtEl>
                                        <p:attrNameLst>
                                          <p:attrName>style.visibility</p:attrName>
                                        </p:attrNameLst>
                                      </p:cBhvr>
                                      <p:to>
                                        <p:strVal val="visible"/>
                                      </p:to>
                                    </p:set>
                                  </p:childTnLst>
                                </p:cTn>
                              </p:par>
                              <p:par>
                                <p:cTn id="277" presetID="1" presetClass="entr" fill="hold" nodeType="withEffect">
                                  <p:stCondLst>
                                    <p:cond delay="0"/>
                                  </p:stCondLst>
                                  <p:childTnLst>
                                    <p:set>
                                      <p:cBhvr>
                                        <p:cTn id="278"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Diet profile is associated with French Gut living location</a:t>
            </a:r>
            <a:endParaRPr lang="fr-FR" sz="3000" b="1" u="none" strike="noStrike">
              <a:solidFill>
                <a:srgbClr val="00A3A6"/>
              </a:solidFill>
              <a:effectLst/>
              <a:uFillTx/>
              <a:latin typeface="AvenirNext LT Pro MediumCn"/>
            </a:endParaRPr>
          </a:p>
        </p:txBody>
      </p:sp>
      <p:sp>
        <p:nvSpPr>
          <p:cNvPr id="390" name="AutoShape 2" descr="https://french-gut-diet.pages.mia.inra.fr/fgdiet/notebooks/geo_diet_profile_files/figure-html/unnamed-chunk-4-1.png"/>
          <p:cNvSpPr/>
          <p:nvPr/>
        </p:nvSpPr>
        <p:spPr>
          <a:xfrm>
            <a:off x="5943600" y="3276720"/>
            <a:ext cx="303840" cy="303840"/>
          </a:xfrm>
          <a:prstGeom prst="rect">
            <a:avLst/>
          </a:prstGeom>
          <a:noFill/>
          <a:ln w="0">
            <a:noFill/>
          </a:ln>
        </p:spPr>
        <p:style>
          <a:lnRef idx="0"/>
          <a:fillRef idx="0"/>
          <a:effectRef idx="0"/>
          <a:fontRef idx="minor"/>
        </p:style>
        <p:txBody>
          <a:bodyPr numCol="1" spcCol="0" lIns="90000" tIns="45000" rIns="90000" bIns="45000" anchor="t">
            <a:noAutofit/>
          </a:bodyPr>
          <a:p>
            <a:pPr defTabSz="457200">
              <a:lnSpc>
                <a:spcPct val="100000"/>
              </a:lnSpc>
            </a:pPr>
            <a:endParaRPr lang="en-US" sz="1800" b="0" u="none" strike="noStrike">
              <a:solidFill>
                <a:schemeClr val="dk1"/>
              </a:solidFill>
              <a:effectLst/>
              <a:uFillTx/>
              <a:latin typeface="Calibri"/>
            </a:endParaRPr>
          </a:p>
        </p:txBody>
      </p:sp>
      <p:pic>
        <p:nvPicPr>
          <p:cNvPr id="391" name="Image 5"/>
          <p:cNvPicPr/>
          <p:nvPr/>
        </p:nvPicPr>
        <p:blipFill>
          <a:blip r:embed="rId2"/>
          <a:stretch/>
        </p:blipFill>
        <p:spPr>
          <a:xfrm>
            <a:off x="0" y="2015640"/>
            <a:ext cx="3916800" cy="2797200"/>
          </a:xfrm>
          <a:prstGeom prst="rect">
            <a:avLst/>
          </a:prstGeom>
          <a:noFill/>
          <a:ln w="0">
            <a:noFill/>
          </a:ln>
        </p:spPr>
      </p:pic>
      <p:pic>
        <p:nvPicPr>
          <p:cNvPr id="392" name="Image 6"/>
          <p:cNvPicPr/>
          <p:nvPr/>
        </p:nvPicPr>
        <p:blipFill>
          <a:blip r:embed="rId3"/>
          <a:stretch/>
        </p:blipFill>
        <p:spPr>
          <a:xfrm>
            <a:off x="4229280" y="2015640"/>
            <a:ext cx="4037400" cy="2883600"/>
          </a:xfrm>
          <a:prstGeom prst="rect">
            <a:avLst/>
          </a:prstGeom>
          <a:noFill/>
          <a:ln w="0">
            <a:noFill/>
          </a:ln>
        </p:spPr>
      </p:pic>
      <p:pic>
        <p:nvPicPr>
          <p:cNvPr id="393" name="Image 7"/>
          <p:cNvPicPr/>
          <p:nvPr/>
        </p:nvPicPr>
        <p:blipFill>
          <a:blip r:embed="rId4"/>
          <a:stretch/>
        </p:blipFill>
        <p:spPr>
          <a:xfrm>
            <a:off x="8153640" y="2013480"/>
            <a:ext cx="3942360" cy="2815560"/>
          </a:xfrm>
          <a:prstGeom prst="rect">
            <a:avLst/>
          </a:prstGeom>
          <a:noFill/>
          <a:ln w="0">
            <a:noFill/>
          </a:ln>
        </p:spPr>
      </p:pic>
      <p:pic>
        <p:nvPicPr>
          <p:cNvPr id="394" name="Image 8"/>
          <p:cNvPicPr/>
          <p:nvPr/>
        </p:nvPicPr>
        <p:blipFill>
          <a:blip r:embed="rId5"/>
          <a:stretch/>
        </p:blipFill>
        <p:spPr>
          <a:xfrm>
            <a:off x="4649760" y="4991760"/>
            <a:ext cx="2891160" cy="1569240"/>
          </a:xfrm>
          <a:prstGeom prst="rect">
            <a:avLst/>
          </a:prstGeom>
          <a:noFill/>
          <a:ln w="0">
            <a:noFill/>
          </a:ln>
        </p:spPr>
      </p:pic>
      <p:grpSp>
        <p:nvGrpSpPr>
          <p:cNvPr id="395" name="Groupe 11"/>
          <p:cNvGrpSpPr/>
          <p:nvPr/>
        </p:nvGrpSpPr>
        <p:grpSpPr>
          <a:xfrm>
            <a:off x="8419320" y="4991760"/>
            <a:ext cx="2731680" cy="1635480"/>
            <a:chOff x="8419320" y="4991760"/>
            <a:chExt cx="2731680" cy="1635480"/>
          </a:xfrm>
        </p:grpSpPr>
        <p:pic>
          <p:nvPicPr>
            <p:cNvPr id="396" name="Image 9"/>
            <p:cNvPicPr/>
            <p:nvPr/>
          </p:nvPicPr>
          <p:blipFill>
            <a:blip r:embed="rId6"/>
            <a:srcRect l="0" t="0" r="50000" b="0"/>
            <a:stretch/>
          </p:blipFill>
          <p:spPr>
            <a:xfrm>
              <a:off x="8419320" y="4993560"/>
              <a:ext cx="2025000" cy="1633680"/>
            </a:xfrm>
            <a:prstGeom prst="rect">
              <a:avLst/>
            </a:prstGeom>
            <a:noFill/>
            <a:ln w="0">
              <a:noFill/>
            </a:ln>
          </p:spPr>
        </p:pic>
        <p:pic>
          <p:nvPicPr>
            <p:cNvPr id="397" name="Image 10"/>
            <p:cNvPicPr/>
            <p:nvPr/>
          </p:nvPicPr>
          <p:blipFill>
            <a:blip r:embed="rId7"/>
            <a:srcRect l="82167" t="0" r="-77" b="0"/>
            <a:stretch/>
          </p:blipFill>
          <p:spPr>
            <a:xfrm>
              <a:off x="10426320" y="4991760"/>
              <a:ext cx="724680" cy="1633680"/>
            </a:xfrm>
            <a:prstGeom prst="rect">
              <a:avLst/>
            </a:prstGeom>
            <a:noFill/>
            <a:ln w="0">
              <a:noFill/>
            </a:ln>
          </p:spPr>
        </p:pic>
      </p:grpSp>
      <p:sp>
        <p:nvSpPr>
          <p:cNvPr id="398" name="ZoneTexte 2"/>
          <p:cNvSpPr/>
          <p:nvPr/>
        </p:nvSpPr>
        <p:spPr>
          <a:xfrm>
            <a:off x="965520" y="5317200"/>
            <a:ext cx="159912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AvenirNext LT Pro Cn"/>
              </a:rPr>
              <a:t>Coinertia analysis</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79" dur="indefinite" restart="never" nodeType="tmRoot">
          <p:childTnLst>
            <p:seq>
              <p:cTn id="280" dur="indefinite" nodeType="mainSeq">
                <p:childTnLst>
                  <p:par>
                    <p:cTn id="281" fill="hold">
                      <p:stCondLst>
                        <p:cond delay="indefinite"/>
                      </p:stCondLst>
                      <p:childTnLst>
                        <p:par>
                          <p:cTn id="282" fill="hold">
                            <p:stCondLst>
                              <p:cond delay="0"/>
                            </p:stCondLst>
                            <p:childTnLst>
                              <p:par>
                                <p:cTn id="283" presetID="1" presetClass="entr" fill="hold" nodeType="clickEffect">
                                  <p:stCondLst>
                                    <p:cond delay="0"/>
                                  </p:stCondLst>
                                  <p:endCondLst>
                                    <p:cond delay="0" evt="begin">
                                      <p:tn val="283"/>
                                    </p:cond>
                                  </p:endCondLst>
                                  <p:childTnLst>
                                    <p:set>
                                      <p:cBhvr>
                                        <p:cTn id="284" dur="1" fill="hold">
                                          <p:stCondLst>
                                            <p:cond delay="0"/>
                                          </p:stCondLst>
                                        </p:cTn>
                                        <p:tgtEl>
                                          <p:spTgt spid="390"/>
                                        </p:tgtEl>
                                        <p:attrNameLst>
                                          <p:attrName>style.visibility</p:attrName>
                                        </p:attrNameLst>
                                      </p:cBhvr>
                                      <p:to>
                                        <p:strVal val="visible"/>
                                      </p:to>
                                    </p:set>
                                  </p:childTnLst>
                                </p:cTn>
                              </p:par>
                              <p:par>
                                <p:cTn id="285" presetID="1" presetClass="entr" fill="hold" nodeType="withEffect">
                                  <p:stCondLst>
                                    <p:cond delay="0"/>
                                  </p:stCondLst>
                                  <p:childTnLst>
                                    <p:set>
                                      <p:cBhvr>
                                        <p:cTn id="286" dur="1" fill="hold">
                                          <p:stCondLst>
                                            <p:cond delay="0"/>
                                          </p:stCondLst>
                                        </p:cTn>
                                        <p:tgtEl>
                                          <p:spTgt spid="392"/>
                                        </p:tgtEl>
                                        <p:attrNameLst>
                                          <p:attrName>style.visibility</p:attrName>
                                        </p:attrNameLst>
                                      </p:cBhvr>
                                      <p:to>
                                        <p:strVal val="visible"/>
                                      </p:to>
                                    </p:set>
                                  </p:childTnLst>
                                </p:cTn>
                              </p:par>
                              <p:par>
                                <p:cTn id="287" presetID="1" presetClass="entr" fill="hold" nodeType="withEffect">
                                  <p:stCondLst>
                                    <p:cond delay="0"/>
                                  </p:stCondLst>
                                  <p:childTnLst>
                                    <p:set>
                                      <p:cBhvr>
                                        <p:cTn id="288" dur="1" fill="hold">
                                          <p:stCondLst>
                                            <p:cond delay="0"/>
                                          </p:stCondLst>
                                        </p:cTn>
                                        <p:tgtEl>
                                          <p:spTgt spid="394"/>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fill="hold" nodeType="clickEffect">
                                  <p:stCondLst>
                                    <p:cond delay="0"/>
                                  </p:stCondLst>
                                  <p:childTnLst>
                                    <p:set>
                                      <p:cBhvr>
                                        <p:cTn id="292" dur="1" fill="hold">
                                          <p:stCondLst>
                                            <p:cond delay="0"/>
                                          </p:stCondLst>
                                        </p:cTn>
                                        <p:tgtEl>
                                          <p:spTgt spid="393"/>
                                        </p:tgtEl>
                                        <p:attrNameLst>
                                          <p:attrName>style.visibility</p:attrName>
                                        </p:attrNameLst>
                                      </p:cBhvr>
                                      <p:to>
                                        <p:strVal val="visible"/>
                                      </p:to>
                                    </p:set>
                                  </p:childTnLst>
                                </p:cTn>
                              </p:par>
                              <p:par>
                                <p:cTn id="293" presetID="1" presetClass="entr" fill="hold" nodeType="withEffect">
                                  <p:stCondLst>
                                    <p:cond delay="0"/>
                                  </p:stCondLst>
                                  <p:childTnLst>
                                    <p:set>
                                      <p:cBhvr>
                                        <p:cTn id="294"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743040" y="149760"/>
            <a:ext cx="10215360" cy="88704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Correlation is not causation #ohwait?!</a:t>
            </a:r>
            <a:endParaRPr lang="fr-FR" sz="3000" b="1" u="none" strike="noStrike">
              <a:solidFill>
                <a:srgbClr val="00A3A6"/>
              </a:solidFill>
              <a:effectLst/>
              <a:uFillTx/>
              <a:latin typeface="AvenirNext LT Pro MediumCn"/>
            </a:endParaRPr>
          </a:p>
        </p:txBody>
      </p:sp>
      <p:pic>
        <p:nvPicPr>
          <p:cNvPr id="400" name="Image 4"/>
          <p:cNvPicPr/>
          <p:nvPr/>
        </p:nvPicPr>
        <p:blipFill>
          <a:blip r:embed="rId2"/>
          <a:stretch/>
        </p:blipFill>
        <p:spPr>
          <a:xfrm>
            <a:off x="1357560" y="2020680"/>
            <a:ext cx="3942360" cy="2815560"/>
          </a:xfrm>
          <a:prstGeom prst="rect">
            <a:avLst/>
          </a:prstGeom>
          <a:noFill/>
          <a:ln w="0">
            <a:noFill/>
          </a:ln>
        </p:spPr>
      </p:pic>
      <p:pic>
        <p:nvPicPr>
          <p:cNvPr id="401" name="Picture 2" descr="Comprendre la géographie du vote RN en 2024 - Institut Terram"/>
          <p:cNvPicPr/>
          <p:nvPr/>
        </p:nvPicPr>
        <p:blipFill>
          <a:blip r:embed="rId3"/>
          <a:stretch/>
        </p:blipFill>
        <p:spPr>
          <a:xfrm>
            <a:off x="6694560" y="1909080"/>
            <a:ext cx="4370040" cy="2927160"/>
          </a:xfrm>
          <a:prstGeom prst="rect">
            <a:avLst/>
          </a:prstGeom>
          <a:noFill/>
          <a:ln w="0">
            <a:noFill/>
          </a:ln>
        </p:spPr>
      </p:pic>
      <p:pic>
        <p:nvPicPr>
          <p:cNvPr id="402" name="Image 2"/>
          <p:cNvPicPr/>
          <p:nvPr/>
        </p:nvPicPr>
        <p:blipFill>
          <a:blip r:embed="rId4"/>
          <a:stretch/>
        </p:blipFill>
        <p:spPr>
          <a:xfrm>
            <a:off x="6196320" y="5088960"/>
            <a:ext cx="4805280" cy="1668960"/>
          </a:xfrm>
          <a:prstGeom prst="rect">
            <a:avLst/>
          </a:prstGeom>
          <a:noFill/>
          <a:ln w="0">
            <a:noFill/>
          </a:ln>
        </p:spPr>
      </p:pic>
      <p:pic>
        <p:nvPicPr>
          <p:cNvPr id="403" name="Image 3"/>
          <p:cNvPicPr/>
          <p:nvPr/>
        </p:nvPicPr>
        <p:blipFill>
          <a:blip r:embed="rId5"/>
          <a:stretch/>
        </p:blipFill>
        <p:spPr>
          <a:xfrm>
            <a:off x="8959320" y="3600"/>
            <a:ext cx="3231360" cy="1835640"/>
          </a:xfrm>
          <a:prstGeom prst="rect">
            <a:avLst/>
          </a:prstGeom>
          <a:noFill/>
          <a:ln w="0">
            <a:noFill/>
          </a:ln>
        </p:spPr>
      </p:pic>
      <p:sp>
        <p:nvSpPr>
          <p:cNvPr id="404" name="ZoneTexte 5"/>
          <p:cNvSpPr/>
          <p:nvPr/>
        </p:nvSpPr>
        <p:spPr>
          <a:xfrm>
            <a:off x="7255440" y="102600"/>
            <a:ext cx="1425960" cy="645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Bourdieu</a:t>
            </a:r>
            <a:endParaRPr lang="fr-FR" sz="1800" b="0" u="none" strike="noStrike">
              <a:solidFill>
                <a:srgbClr val="000000"/>
              </a:solidFill>
              <a:effectLst/>
              <a:uFillTx/>
              <a:latin typeface="Arial"/>
            </a:endParaRPr>
          </a:p>
          <a:p>
            <a:pPr defTabSz="457200">
              <a:lnSpc>
                <a:spcPct val="100000"/>
              </a:lnSpc>
            </a:pPr>
            <a:r>
              <a:rPr lang="en-US" sz="1800" b="0" u="none" strike="noStrike">
                <a:solidFill>
                  <a:schemeClr val="dk1"/>
                </a:solidFill>
                <a:effectLst/>
                <a:uFillTx/>
                <a:latin typeface="Calibri"/>
              </a:rPr>
              <a:t>Related work</a:t>
            </a:r>
            <a:endParaRPr lang="fr-FR" sz="1800" b="0" u="none" strike="noStrike">
              <a:solidFill>
                <a:srgbClr val="000000"/>
              </a:solidFill>
              <a:effectLst/>
              <a:uFillTx/>
              <a:latin typeface="Arial"/>
            </a:endParaRPr>
          </a:p>
        </p:txBody>
      </p:sp>
      <p:sp>
        <p:nvSpPr>
          <p:cNvPr id="405" name="ZoneTexte 7"/>
          <p:cNvSpPr/>
          <p:nvPr/>
        </p:nvSpPr>
        <p:spPr>
          <a:xfrm>
            <a:off x="7122240" y="702000"/>
            <a:ext cx="1836000" cy="922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“taste is distate of the taste of others”</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95" dur="indefinite" restart="never" nodeType="tmRoot">
          <p:childTnLst>
            <p:seq>
              <p:cTn id="296" dur="indefinite" nodeType="mainSeq">
                <p:childTnLst>
                  <p:par>
                    <p:cTn id="297" fill="hold">
                      <p:stCondLst>
                        <p:cond delay="indefinite"/>
                      </p:stCondLst>
                      <p:childTnLst>
                        <p:par>
                          <p:cTn id="298" fill="hold">
                            <p:stCondLst>
                              <p:cond delay="0"/>
                            </p:stCondLst>
                            <p:childTnLst>
                              <p:par>
                                <p:cTn id="299" presetID="1" presetClass="entr" fill="hold" nodeType="clickEffect">
                                  <p:stCondLst>
                                    <p:cond delay="0"/>
                                  </p:stCondLst>
                                  <p:childTnLst>
                                    <p:set>
                                      <p:cBhvr>
                                        <p:cTn id="300" dur="1" fill="hold">
                                          <p:stCondLst>
                                            <p:cond delay="0"/>
                                          </p:stCondLst>
                                        </p:cTn>
                                        <p:tgtEl>
                                          <p:spTgt spid="401"/>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presetID="1" presetClass="entr" fill="hold" nodeType="clickEffect">
                                  <p:stCondLst>
                                    <p:cond delay="0"/>
                                  </p:stCondLst>
                                  <p:childTnLst>
                                    <p:set>
                                      <p:cBhvr>
                                        <p:cTn id="304" dur="1" fill="hold">
                                          <p:stCondLst>
                                            <p:cond delay="0"/>
                                          </p:stCondLst>
                                        </p:cTn>
                                        <p:tgtEl>
                                          <p:spTgt spid="402"/>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presetID="1" presetClass="entr" fill="hold" nodeType="clickEffect">
                                  <p:stCondLst>
                                    <p:cond delay="0"/>
                                  </p:stCondLst>
                                  <p:childTnLst>
                                    <p:set>
                                      <p:cBhvr>
                                        <p:cTn id="308" dur="1" fill="hold">
                                          <p:stCondLst>
                                            <p:cond delay="0"/>
                                          </p:stCondLst>
                                        </p:cTn>
                                        <p:tgtEl>
                                          <p:spTgt spid="403"/>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presetID="1" presetClass="entr" fill="hold" nodeType="clickEffect">
                                  <p:stCondLst>
                                    <p:cond delay="0"/>
                                  </p:stCondLst>
                                  <p:childTnLst>
                                    <p:set>
                                      <p:cBhvr>
                                        <p:cTn id="312" dur="1" fill="hold">
                                          <p:stCondLst>
                                            <p:cond delay="0"/>
                                          </p:stCondLst>
                                        </p:cTn>
                                        <p:tgtEl>
                                          <p:spTgt spid="404"/>
                                        </p:tgtEl>
                                        <p:attrNameLst>
                                          <p:attrName>style.visibility</p:attrName>
                                        </p:attrNameLst>
                                      </p:cBhvr>
                                      <p:to>
                                        <p:strVal val="visible"/>
                                      </p:to>
                                    </p:set>
                                  </p:childTnLst>
                                </p:cTn>
                              </p:par>
                              <p:par>
                                <p:cTn id="313" presetID="1" presetClass="entr" fill="hold" nodeType="withEffect">
                                  <p:stCondLst>
                                    <p:cond delay="0"/>
                                  </p:stCondLst>
                                  <p:childTnLst>
                                    <p:set>
                                      <p:cBhvr>
                                        <p:cTn id="314"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700200" y="42840"/>
            <a:ext cx="10283760" cy="77292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Toward gut microbiome alternative stable states hypothesis</a:t>
            </a:r>
            <a:endParaRPr lang="en-US" sz="3000" b="1" u="none" strike="noStrike">
              <a:solidFill>
                <a:srgbClr val="00A3A6"/>
              </a:solidFill>
              <a:effectLst/>
              <a:uFillTx/>
              <a:latin typeface="AvenirNext LT Pro MediumCn"/>
            </a:endParaRPr>
          </a:p>
        </p:txBody>
      </p:sp>
      <p:pic>
        <p:nvPicPr>
          <p:cNvPr id="407" name="Image 19"/>
          <p:cNvPicPr/>
          <p:nvPr/>
        </p:nvPicPr>
        <p:blipFill>
          <a:blip r:embed="rId2"/>
          <a:stretch/>
        </p:blipFill>
        <p:spPr>
          <a:xfrm>
            <a:off x="1715040" y="633960"/>
            <a:ext cx="8164800" cy="4687920"/>
          </a:xfrm>
          <a:prstGeom prst="rect">
            <a:avLst/>
          </a:prstGeom>
          <a:noFill/>
          <a:ln w="0">
            <a:noFill/>
          </a:ln>
        </p:spPr>
      </p:pic>
      <p:pic>
        <p:nvPicPr>
          <p:cNvPr id="408" name="Image 20" descr="Une image contenant texte&#10;&#10;Description générée avec un niveau de confiance très élevé"/>
          <p:cNvPicPr/>
          <p:nvPr/>
        </p:nvPicPr>
        <p:blipFill>
          <a:blip r:embed="rId3"/>
          <a:srcRect l="17025" t="3136" r="69147" b="69612"/>
          <a:stretch/>
        </p:blipFill>
        <p:spPr>
          <a:xfrm>
            <a:off x="4407840" y="3694320"/>
            <a:ext cx="1563480" cy="1284120"/>
          </a:xfrm>
          <a:prstGeom prst="rect">
            <a:avLst/>
          </a:prstGeom>
          <a:noFill/>
          <a:ln w="0">
            <a:noFill/>
          </a:ln>
        </p:spPr>
      </p:pic>
      <p:pic>
        <p:nvPicPr>
          <p:cNvPr id="409" name="Image 21" descr="Une image contenant texte&#10;&#10;Description générée avec un niveau de confiance très élevé"/>
          <p:cNvPicPr/>
          <p:nvPr/>
        </p:nvPicPr>
        <p:blipFill>
          <a:blip r:embed="rId4"/>
          <a:srcRect l="16626" t="71661" r="69540" b="2221"/>
          <a:stretch/>
        </p:blipFill>
        <p:spPr>
          <a:xfrm>
            <a:off x="7489440" y="1794600"/>
            <a:ext cx="1345320" cy="1059480"/>
          </a:xfrm>
          <a:prstGeom prst="rect">
            <a:avLst/>
          </a:prstGeom>
          <a:noFill/>
          <a:ln w="0">
            <a:noFill/>
          </a:ln>
        </p:spPr>
      </p:pic>
      <p:pic>
        <p:nvPicPr>
          <p:cNvPr id="410" name="Image 22" descr="Une image contenant texte&#10;&#10;Description générée avec un niveau de confiance très élevé"/>
          <p:cNvPicPr/>
          <p:nvPr/>
        </p:nvPicPr>
        <p:blipFill>
          <a:blip r:embed="rId5"/>
          <a:srcRect l="43011" t="3491" r="43156" b="70268"/>
          <a:stretch/>
        </p:blipFill>
        <p:spPr>
          <a:xfrm>
            <a:off x="5797800" y="1423800"/>
            <a:ext cx="1041120" cy="823680"/>
          </a:xfrm>
          <a:prstGeom prst="rect">
            <a:avLst/>
          </a:prstGeom>
          <a:noFill/>
          <a:ln w="0">
            <a:noFill/>
          </a:ln>
        </p:spPr>
      </p:pic>
      <p:pic>
        <p:nvPicPr>
          <p:cNvPr id="411" name="Image 24" descr="A-dense-ecosystem.jpg"/>
          <p:cNvPicPr/>
          <p:nvPr/>
        </p:nvPicPr>
        <p:blipFill>
          <a:blip r:embed="rId6">
            <a:extLst>
              <a:ext uri="{BEBA8EAE-BF5A-486C-A8C5-ECC9F3942E4B}">
                <a14:imgProps xmlns:a14="http://schemas.microsoft.com/office/drawing/2010/main">
                  <a14:imgLayer r:embed="rId7">
                    <a14:imgEffect>
                      <a14:brightnessContrast bright="20000" contrast="40000"/>
                    </a14:imgEffect>
                  </a14:imgLayer>
                </a14:imgProps>
              </a:ext>
            </a:extLst>
          </a:blip>
          <a:srcRect l="0" t="0" r="58895" b="0"/>
          <a:stretch/>
        </p:blipFill>
        <p:spPr>
          <a:xfrm>
            <a:off x="4780440" y="5466240"/>
            <a:ext cx="945720" cy="942480"/>
          </a:xfrm>
          <a:prstGeom prst="rect">
            <a:avLst/>
          </a:prstGeom>
          <a:noFill/>
          <a:ln w="0">
            <a:noFill/>
          </a:ln>
        </p:spPr>
      </p:pic>
      <p:pic>
        <p:nvPicPr>
          <p:cNvPr id="412" name="Image 25" descr="A-dense-ecosystem.jpg"/>
          <p:cNvPicPr/>
          <p:nvPr/>
        </p:nvPicPr>
        <p:blipFill>
          <a:blip r:embed="rId8">
            <a:extLst>
              <a:ext uri="{BEBA8EAE-BF5A-486C-A8C5-ECC9F3942E4B}">
                <a14:imgProps xmlns:a14="http://schemas.microsoft.com/office/drawing/2010/main">
                  <a14:imgLayer r:embed="rId7">
                    <a14:imgEffect>
                      <a14:brightnessContrast bright="20000" contrast="40000"/>
                    </a14:imgEffect>
                  </a14:imgLayer>
                </a14:imgProps>
              </a:ext>
            </a:extLst>
          </a:blip>
          <a:srcRect l="0" t="0" r="58895" b="0"/>
          <a:stretch/>
        </p:blipFill>
        <p:spPr>
          <a:xfrm>
            <a:off x="7888680" y="3989160"/>
            <a:ext cx="945720" cy="94248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342000" y="365040"/>
            <a:ext cx="11849040" cy="764280"/>
          </a:xfrm>
          <a:prstGeom prst="rect">
            <a:avLst/>
          </a:prstGeom>
          <a:noFill/>
          <a:ln w="0">
            <a:noFill/>
          </a:ln>
        </p:spPr>
        <p:txBody>
          <a:bodyPr lIns="0" tIns="46800" rIns="91440" bIns="45720" anchor="ctr">
            <a:normAutofit fontScale="85000" lnSpcReduction="9999"/>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Harnessing the microbial potential of fermented foods to avoid the point of no return</a:t>
            </a:r>
            <a:endParaRPr lang="fr-FR" sz="3000" b="1" u="none" strike="noStrike">
              <a:solidFill>
                <a:srgbClr val="00A3A6"/>
              </a:solidFill>
              <a:effectLst/>
              <a:uFillTx/>
              <a:latin typeface="AvenirNext LT Pro MediumCn"/>
            </a:endParaRPr>
          </a:p>
        </p:txBody>
      </p:sp>
      <p:pic>
        <p:nvPicPr>
          <p:cNvPr id="414" name="Image 18"/>
          <p:cNvPicPr/>
          <p:nvPr/>
        </p:nvPicPr>
        <p:blipFill>
          <a:blip r:embed="rId2"/>
          <a:stretch/>
        </p:blipFill>
        <p:spPr>
          <a:xfrm>
            <a:off x="1946160" y="1485360"/>
            <a:ext cx="8298720" cy="437328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212400" y="420840"/>
            <a:ext cx="11766240" cy="764280"/>
          </a:xfrm>
          <a:prstGeom prst="rect">
            <a:avLst/>
          </a:prstGeom>
          <a:noFill/>
          <a:ln w="0">
            <a:noFill/>
          </a:ln>
        </p:spPr>
        <p:txBody>
          <a:bodyPr lIns="0" tIns="46800" rIns="91440" bIns="45720" anchor="ctr">
            <a:normAutofit fontScale="92500" lnSpcReduction="9999"/>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How fermented foods and dietary fiber can fit precision nutrition for health?</a:t>
            </a:r>
            <a:endParaRPr lang="fr-FR" sz="3000" b="1" u="none" strike="noStrike">
              <a:solidFill>
                <a:srgbClr val="00A3A6"/>
              </a:solidFill>
              <a:effectLst/>
              <a:uFillTx/>
              <a:latin typeface="AvenirNext LT Pro MediumCn"/>
            </a:endParaRPr>
          </a:p>
        </p:txBody>
      </p:sp>
      <p:pic>
        <p:nvPicPr>
          <p:cNvPr id="416" name="Image 16"/>
          <p:cNvPicPr/>
          <p:nvPr/>
        </p:nvPicPr>
        <p:blipFill>
          <a:blip r:embed="rId2"/>
          <a:srcRect l="0" t="50665" r="0" b="0"/>
          <a:stretch/>
        </p:blipFill>
        <p:spPr>
          <a:xfrm>
            <a:off x="1256400" y="1949400"/>
            <a:ext cx="4271040" cy="2105280"/>
          </a:xfrm>
          <a:prstGeom prst="rect">
            <a:avLst/>
          </a:prstGeom>
          <a:noFill/>
          <a:ln w="0">
            <a:noFill/>
          </a:ln>
        </p:spPr>
      </p:pic>
      <p:pic>
        <p:nvPicPr>
          <p:cNvPr id="417" name="Image 17"/>
          <p:cNvPicPr/>
          <p:nvPr/>
        </p:nvPicPr>
        <p:blipFill>
          <a:blip r:embed="rId3"/>
          <a:srcRect l="-373" t="30" r="373" b="49335"/>
          <a:stretch/>
        </p:blipFill>
        <p:spPr>
          <a:xfrm>
            <a:off x="6512400" y="1893240"/>
            <a:ext cx="4271040" cy="2161800"/>
          </a:xfrm>
          <a:prstGeom prst="rect">
            <a:avLst/>
          </a:prstGeom>
          <a:noFill/>
          <a:ln w="0">
            <a:noFill/>
          </a:ln>
        </p:spPr>
      </p:pic>
      <p:sp>
        <p:nvSpPr>
          <p:cNvPr id="418" name="Rectangle 1"/>
          <p:cNvSpPr/>
          <p:nvPr/>
        </p:nvSpPr>
        <p:spPr>
          <a:xfrm>
            <a:off x="1256400" y="4412880"/>
            <a:ext cx="4271040" cy="922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Fermented foods valuable solution in countering the decreased microbiome diversity</a:t>
            </a:r>
            <a:endParaRPr lang="fr-FR" sz="1800" b="0" u="none" strike="noStrike">
              <a:solidFill>
                <a:srgbClr val="000000"/>
              </a:solidFill>
              <a:effectLst/>
              <a:uFillTx/>
              <a:latin typeface="Arial"/>
            </a:endParaRPr>
          </a:p>
        </p:txBody>
      </p:sp>
      <p:sp>
        <p:nvSpPr>
          <p:cNvPr id="419" name="Rectangle 4"/>
          <p:cNvSpPr/>
          <p:nvPr/>
        </p:nvSpPr>
        <p:spPr>
          <a:xfrm>
            <a:off x="6512400" y="4495320"/>
            <a:ext cx="4271040" cy="645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dk1"/>
                </a:solidFill>
                <a:effectLst/>
                <a:uFillTx/>
                <a:latin typeface="Calibri"/>
              </a:rPr>
              <a:t>Personalized immune as function of gut microbiota baseline</a:t>
            </a:r>
            <a:endParaRPr lang="fr-FR" sz="1800" b="0" u="none" strike="noStrike">
              <a:solidFill>
                <a:srgbClr val="000000"/>
              </a:solidFill>
              <a:effectLst/>
              <a:uFillTx/>
              <a:latin typeface="Arial"/>
            </a:endParaRPr>
          </a:p>
        </p:txBody>
      </p:sp>
      <p:sp>
        <p:nvSpPr>
          <p:cNvPr id="420" name="ZoneTexte 19"/>
          <p:cNvSpPr/>
          <p:nvPr/>
        </p:nvSpPr>
        <p:spPr>
          <a:xfrm>
            <a:off x="8038800" y="5685120"/>
            <a:ext cx="1960560" cy="36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0" u="none" strike="noStrike">
                <a:solidFill>
                  <a:schemeClr val="dk1"/>
                </a:solidFill>
                <a:effectLst/>
                <a:uFillTx/>
                <a:latin typeface="Calibri"/>
              </a:rPr>
              <a:t>Wastyk et al., 2021</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628560" y="365040"/>
            <a:ext cx="7885800" cy="764280"/>
          </a:xfrm>
          <a:prstGeom prst="rect">
            <a:avLst/>
          </a:prstGeom>
          <a:noFill/>
          <a:ln w="0">
            <a:noFill/>
          </a:ln>
        </p:spPr>
        <p:txBody>
          <a:bodyPr lIns="0" tIns="46800" rIns="91440" bIns="45720" anchor="ctr">
            <a:noAutofit/>
          </a:bodyPr>
          <a:p>
            <a:pPr marL="457200" indent="-457200" algn="l" defTabSz="914400">
              <a:lnSpc>
                <a:spcPct val="90000"/>
              </a:lnSpc>
              <a:buSzPct val="100054"/>
              <a:buBlip>
                <a:blip r:embed="rId1"/>
              </a:buBlip>
            </a:pPr>
            <a:r>
              <a:rPr lang="en-US" sz="3000" b="1" u="none" strike="noStrike">
                <a:solidFill>
                  <a:srgbClr val="00A3A6"/>
                </a:solidFill>
                <a:effectLst/>
                <a:uFillTx/>
                <a:latin typeface="AvenirNext LT Pro MediumCn"/>
              </a:rPr>
              <a:t>Take home messages</a:t>
            </a:r>
            <a:endParaRPr lang="fr-FR" sz="3000" b="1" u="none" strike="noStrike">
              <a:solidFill>
                <a:srgbClr val="00A3A6"/>
              </a:solidFill>
              <a:effectLst/>
              <a:uFillTx/>
              <a:latin typeface="AvenirNext LT Pro MediumCn"/>
            </a:endParaRPr>
          </a:p>
        </p:txBody>
      </p:sp>
      <p:sp>
        <p:nvSpPr>
          <p:cNvPr id="422" name="PlaceHolder 2"/>
          <p:cNvSpPr>
            <a:spLocks noGrp="1"/>
          </p:cNvSpPr>
          <p:nvPr>
            <p:ph/>
          </p:nvPr>
        </p:nvSpPr>
        <p:spPr>
          <a:xfrm>
            <a:off x="549000" y="1193760"/>
            <a:ext cx="7536960" cy="468324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A3A6"/>
              </a:buClr>
              <a:buFont typeface="Arial"/>
              <a:buChar char="•"/>
            </a:pPr>
            <a:r>
              <a:rPr lang="en-US" sz="2600" b="0" u="none" strike="noStrike">
                <a:solidFill>
                  <a:srgbClr val="00A3A6"/>
                </a:solidFill>
                <a:effectLst/>
                <a:uFillTx/>
                <a:latin typeface="AvenirNext LT Pro MediumCn"/>
              </a:rPr>
              <a:t>Gut microbiome ecological landscape is made of </a:t>
            </a:r>
            <a:r>
              <a:rPr lang="en-US" sz="2600" b="1" u="sng" strike="noStrike">
                <a:solidFill>
                  <a:srgbClr val="00A3A6"/>
                </a:solidFill>
                <a:effectLst/>
                <a:uFillTx/>
                <a:latin typeface="AvenirNext LT Pro MediumCn"/>
              </a:rPr>
              <a:t>local states </a:t>
            </a:r>
            <a:r>
              <a:rPr lang="en-US" sz="2600" b="0" u="none" strike="noStrike">
                <a:solidFill>
                  <a:srgbClr val="00A3A6"/>
                </a:solidFill>
                <a:effectLst/>
                <a:uFillTx/>
                <a:latin typeface="AvenirNext LT Pro MediumCn"/>
              </a:rPr>
              <a:t>that are dynamically linked within “</a:t>
            </a:r>
            <a:r>
              <a:rPr lang="en-US" sz="2600" b="1" u="sng" strike="noStrike">
                <a:solidFill>
                  <a:srgbClr val="00A3A6"/>
                </a:solidFill>
                <a:effectLst/>
                <a:uFillTx/>
                <a:latin typeface="AvenirNext LT Pro MediumCn"/>
              </a:rPr>
              <a:t>branches</a:t>
            </a:r>
            <a:r>
              <a:rPr lang="en-US" sz="2600" b="0" u="none" strike="noStrike">
                <a:solidFill>
                  <a:srgbClr val="00A3A6"/>
                </a:solidFill>
                <a:effectLst/>
                <a:uFillTx/>
                <a:latin typeface="AvenirNext LT Pro MediumCn"/>
              </a:rPr>
              <a:t>” where </a:t>
            </a:r>
            <a:r>
              <a:rPr lang="en-US" sz="2600" b="1" u="sng" strike="noStrike">
                <a:solidFill>
                  <a:srgbClr val="00A3A6"/>
                </a:solidFill>
                <a:effectLst/>
                <a:uFillTx/>
                <a:latin typeface="AvenirNext LT Pro MediumCn"/>
              </a:rPr>
              <a:t>critical transition</a:t>
            </a:r>
            <a:r>
              <a:rPr lang="en-US" sz="2600" b="0" u="sng" strike="noStrike">
                <a:solidFill>
                  <a:srgbClr val="00A3A6"/>
                </a:solidFill>
                <a:effectLst/>
                <a:uFillTx/>
                <a:latin typeface="AvenirNext LT Pro MediumCn"/>
              </a:rPr>
              <a:t> </a:t>
            </a:r>
            <a:r>
              <a:rPr lang="en-US" sz="2600" b="0" u="none" strike="noStrike">
                <a:solidFill>
                  <a:srgbClr val="00A3A6"/>
                </a:solidFill>
                <a:effectLst/>
                <a:uFillTx/>
                <a:latin typeface="AvenirNext LT Pro MediumCn"/>
              </a:rPr>
              <a:t>occurred</a:t>
            </a:r>
            <a:endParaRPr lang="fr-FR" sz="2600" b="0" u="none" strike="noStrike">
              <a:solidFill>
                <a:srgbClr val="00A3A6"/>
              </a:solidFill>
              <a:effectLst/>
              <a:uFillTx/>
              <a:latin typeface="AvenirNext LT Pro MediumCn"/>
            </a:endParaRPr>
          </a:p>
          <a:p>
            <a:pPr indent="0" algn="l" defTabSz="914400">
              <a:lnSpc>
                <a:spcPct val="90000"/>
              </a:lnSpc>
              <a:spcBef>
                <a:spcPts val="1001"/>
              </a:spcBef>
              <a:buNone/>
              <a:tabLst>
                <a:tab pos="0" algn="l"/>
              </a:tabLst>
            </a:pPr>
            <a:endParaRPr lang="fr-FR" sz="2600" b="0" u="none" strike="noStrike">
              <a:solidFill>
                <a:srgbClr val="00A3A6"/>
              </a:solidFill>
              <a:effectLst/>
              <a:uFillTx/>
              <a:latin typeface="AvenirNext LT Pro MediumCn"/>
            </a:endParaRPr>
          </a:p>
          <a:p>
            <a:pPr marL="228600" indent="-228600" algn="l" defTabSz="914400">
              <a:lnSpc>
                <a:spcPct val="90000"/>
              </a:lnSpc>
              <a:spcBef>
                <a:spcPts val="1001"/>
              </a:spcBef>
              <a:buClr>
                <a:srgbClr val="00A3A6"/>
              </a:buClr>
              <a:buFont typeface="Arial"/>
              <a:buChar char="•"/>
              <a:tabLst>
                <a:tab pos="0" algn="l"/>
              </a:tabLst>
            </a:pPr>
            <a:r>
              <a:rPr lang="en-US" sz="2600" b="0" u="none" strike="noStrike">
                <a:solidFill>
                  <a:srgbClr val="00A3A6"/>
                </a:solidFill>
                <a:effectLst/>
                <a:uFillTx/>
                <a:latin typeface="AvenirNext LT Pro MediumCn"/>
              </a:rPr>
              <a:t>Gut microbiomes states can be </a:t>
            </a:r>
            <a:r>
              <a:rPr lang="en-US" sz="2600" b="1" u="sng" strike="noStrike">
                <a:solidFill>
                  <a:srgbClr val="00A3A6"/>
                </a:solidFill>
                <a:effectLst/>
                <a:uFillTx/>
                <a:latin typeface="AvenirNext LT Pro MediumCn"/>
              </a:rPr>
              <a:t>discordant with dietary profile</a:t>
            </a:r>
            <a:r>
              <a:rPr lang="en-US" sz="2600" b="0" u="none" strike="noStrike">
                <a:solidFill>
                  <a:srgbClr val="00A3A6"/>
                </a:solidFill>
                <a:effectLst/>
                <a:uFillTx/>
                <a:latin typeface="AvenirNext LT Pro MediumCn"/>
              </a:rPr>
              <a:t> and can be </a:t>
            </a:r>
            <a:r>
              <a:rPr lang="en-US" sz="2600" b="1" u="sng" strike="noStrike">
                <a:solidFill>
                  <a:srgbClr val="00A3A6"/>
                </a:solidFill>
                <a:effectLst/>
                <a:uFillTx/>
                <a:latin typeface="AvenirNext LT Pro MediumCn"/>
              </a:rPr>
              <a:t>associated with health</a:t>
            </a:r>
            <a:endParaRPr lang="fr-FR" sz="2600" b="0" u="none" strike="noStrike">
              <a:solidFill>
                <a:srgbClr val="00A3A6"/>
              </a:solidFill>
              <a:effectLst/>
              <a:uFillTx/>
              <a:latin typeface="AvenirNext LT Pro MediumCn"/>
            </a:endParaRPr>
          </a:p>
          <a:p>
            <a:pPr indent="0" algn="l" defTabSz="914400">
              <a:lnSpc>
                <a:spcPct val="90000"/>
              </a:lnSpc>
              <a:spcBef>
                <a:spcPts val="1001"/>
              </a:spcBef>
              <a:buNone/>
              <a:tabLst>
                <a:tab pos="0" algn="l"/>
              </a:tabLst>
            </a:pPr>
            <a:endParaRPr lang="fr-FR" sz="2600" b="0" u="none" strike="noStrike">
              <a:solidFill>
                <a:srgbClr val="00A3A6"/>
              </a:solidFill>
              <a:effectLst/>
              <a:uFillTx/>
              <a:latin typeface="AvenirNext LT Pro MediumCn"/>
            </a:endParaRPr>
          </a:p>
          <a:p>
            <a:pPr marL="228600" indent="-228600" algn="l" defTabSz="914400">
              <a:lnSpc>
                <a:spcPct val="90000"/>
              </a:lnSpc>
              <a:spcBef>
                <a:spcPts val="1001"/>
              </a:spcBef>
              <a:buClr>
                <a:srgbClr val="00A3A6"/>
              </a:buClr>
              <a:buFont typeface="Arial"/>
              <a:buChar char="•"/>
              <a:tabLst>
                <a:tab pos="0" algn="l"/>
              </a:tabLst>
            </a:pPr>
            <a:r>
              <a:rPr lang="en-US" sz="2600" b="0" u="none" strike="noStrike">
                <a:solidFill>
                  <a:srgbClr val="00A3A6"/>
                </a:solidFill>
                <a:effectLst/>
                <a:uFillTx/>
                <a:latin typeface="AvenirNext LT Pro MediumCn"/>
              </a:rPr>
              <a:t>Objective markers of gut microbiome states are needed to </a:t>
            </a:r>
            <a:r>
              <a:rPr lang="en-US" sz="2600" b="1" u="sng" strike="noStrike">
                <a:solidFill>
                  <a:srgbClr val="00A3A6"/>
                </a:solidFill>
                <a:effectLst/>
                <a:uFillTx/>
                <a:latin typeface="AvenirNext LT Pro MediumCn"/>
              </a:rPr>
              <a:t>guide personalized nutritional recommendations</a:t>
            </a:r>
            <a:r>
              <a:rPr lang="en-US" sz="2600" b="0" u="none" strike="noStrike">
                <a:solidFill>
                  <a:srgbClr val="00A3A6"/>
                </a:solidFill>
                <a:effectLst/>
                <a:uFillTx/>
                <a:latin typeface="AvenirNext LT Pro MediumCn"/>
              </a:rPr>
              <a:t>.</a:t>
            </a:r>
            <a:endParaRPr lang="fr-FR" sz="2600" b="0" u="none" strike="noStrike">
              <a:solidFill>
                <a:srgbClr val="00A3A6"/>
              </a:solidFill>
              <a:effectLst/>
              <a:uFillTx/>
              <a:latin typeface="AvenirNext LT Pro MediumCn"/>
            </a:endParaRPr>
          </a:p>
          <a:p>
            <a:pPr indent="0" algn="l" defTabSz="914400">
              <a:lnSpc>
                <a:spcPct val="90000"/>
              </a:lnSpc>
              <a:spcBef>
                <a:spcPts val="1001"/>
              </a:spcBef>
              <a:buNone/>
              <a:tabLst>
                <a:tab pos="0" algn="l"/>
              </a:tabLst>
            </a:pPr>
            <a:endParaRPr lang="fr-FR" sz="2600" b="0" u="none" strike="noStrike">
              <a:solidFill>
                <a:srgbClr val="00A3A6"/>
              </a:solidFill>
              <a:effectLst/>
              <a:uFillTx/>
              <a:latin typeface="AvenirNext LT Pro MediumCn"/>
            </a:endParaRPr>
          </a:p>
        </p:txBody>
      </p:sp>
      <p:pic>
        <p:nvPicPr>
          <p:cNvPr id="423" name="Image 3"/>
          <p:cNvPicPr/>
          <p:nvPr/>
        </p:nvPicPr>
        <p:blipFill>
          <a:blip r:embed="rId2"/>
          <a:srcRect l="0" t="19331" r="0" b="24490"/>
          <a:stretch/>
        </p:blipFill>
        <p:spPr>
          <a:xfrm>
            <a:off x="10666800" y="169920"/>
            <a:ext cx="1027800" cy="576720"/>
          </a:xfrm>
          <a:prstGeom prst="rect">
            <a:avLst/>
          </a:prstGeom>
          <a:noFill/>
          <a:ln w="0">
            <a:noFill/>
          </a:ln>
        </p:spPr>
      </p:pic>
      <p:pic>
        <p:nvPicPr>
          <p:cNvPr id="424" name="Image 4"/>
          <p:cNvPicPr/>
          <p:nvPr/>
        </p:nvPicPr>
        <p:blipFill>
          <a:blip r:embed="rId3"/>
          <a:stretch/>
        </p:blipFill>
        <p:spPr>
          <a:xfrm>
            <a:off x="8087040" y="156960"/>
            <a:ext cx="2003400" cy="709560"/>
          </a:xfrm>
          <a:prstGeom prst="rect">
            <a:avLst/>
          </a:prstGeom>
          <a:noFill/>
          <a:ln w="0">
            <a:noFill/>
          </a:ln>
        </p:spPr>
      </p:pic>
      <p:pic>
        <p:nvPicPr>
          <p:cNvPr id="425" name="Espace réservé pour une image  9"/>
          <p:cNvPicPr/>
          <p:nvPr/>
        </p:nvPicPr>
        <p:blipFill>
          <a:blip r:embed="rId4"/>
          <a:srcRect l="0" t="26456" r="0" b="26456"/>
          <a:stretch/>
        </p:blipFill>
        <p:spPr>
          <a:xfrm>
            <a:off x="9873000" y="1821240"/>
            <a:ext cx="1840320" cy="865080"/>
          </a:xfrm>
          <a:prstGeom prst="rect">
            <a:avLst/>
          </a:prstGeom>
          <a:noFill/>
          <a:ln w="0">
            <a:noFill/>
          </a:ln>
        </p:spPr>
      </p:pic>
      <p:pic>
        <p:nvPicPr>
          <p:cNvPr id="426" name="Image 6"/>
          <p:cNvPicPr/>
          <p:nvPr/>
        </p:nvPicPr>
        <p:blipFill>
          <a:blip r:embed="rId5"/>
          <a:stretch/>
        </p:blipFill>
        <p:spPr>
          <a:xfrm>
            <a:off x="8299080" y="795600"/>
            <a:ext cx="2485080" cy="1452600"/>
          </a:xfrm>
          <a:prstGeom prst="rect">
            <a:avLst/>
          </a:prstGeom>
          <a:noFill/>
          <a:ln w="0">
            <a:noFill/>
          </a:ln>
        </p:spPr>
      </p:pic>
      <p:pic>
        <p:nvPicPr>
          <p:cNvPr id="427" name="Image 7"/>
          <p:cNvPicPr/>
          <p:nvPr/>
        </p:nvPicPr>
        <p:blipFill>
          <a:blip r:embed="rId6"/>
          <a:stretch/>
        </p:blipFill>
        <p:spPr>
          <a:xfrm>
            <a:off x="10091520" y="3101760"/>
            <a:ext cx="1827720" cy="1789560"/>
          </a:xfrm>
          <a:prstGeom prst="rect">
            <a:avLst/>
          </a:prstGeom>
          <a:noFill/>
          <a:ln w="0">
            <a:noFill/>
          </a:ln>
        </p:spPr>
      </p:pic>
      <p:pic>
        <p:nvPicPr>
          <p:cNvPr id="428" name="Image 8"/>
          <p:cNvPicPr/>
          <p:nvPr/>
        </p:nvPicPr>
        <p:blipFill>
          <a:blip r:embed="rId7"/>
          <a:stretch/>
        </p:blipFill>
        <p:spPr>
          <a:xfrm>
            <a:off x="8299080" y="5193000"/>
            <a:ext cx="3683520" cy="972000"/>
          </a:xfrm>
          <a:prstGeom prst="rect">
            <a:avLst/>
          </a:prstGeom>
          <a:noFill/>
          <a:ln w="0">
            <a:noFill/>
          </a:ln>
        </p:spPr>
      </p:pic>
      <p:pic>
        <p:nvPicPr>
          <p:cNvPr id="429" name="Picture 2" descr="Documents à télécharger - LeFrenchGut"/>
          <p:cNvPicPr/>
          <p:nvPr/>
        </p:nvPicPr>
        <p:blipFill>
          <a:blip r:embed="rId8"/>
          <a:srcRect l="15374" t="13808" r="19938" b="13524"/>
          <a:stretch/>
        </p:blipFill>
        <p:spPr>
          <a:xfrm>
            <a:off x="7831800" y="2291400"/>
            <a:ext cx="2040120" cy="1288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esentation-INRAE-Panoramique">
  <a:themeElements>
    <a:clrScheme name="INRAE">
      <a:dk1>
        <a:srgbClr val="000000"/>
      </a:dk1>
      <a:lt1>
        <a:srgbClr val="FFFFFF"/>
      </a:lt1>
      <a:dk2>
        <a:srgbClr val="44546A"/>
      </a:dk2>
      <a:lt2>
        <a:srgbClr val="E7E6E6"/>
      </a:lt2>
      <a:accent1>
        <a:srgbClr val="00A3A6"/>
      </a:accent1>
      <a:accent2>
        <a:srgbClr val="9DC544"/>
      </a:accent2>
      <a:accent3>
        <a:srgbClr val="9ED6E3"/>
      </a:accent3>
      <a:accent4>
        <a:srgbClr val="423089"/>
      </a:accent4>
      <a:accent5>
        <a:srgbClr val="ED6E6C"/>
      </a:accent5>
      <a:accent6>
        <a:srgbClr val="797870"/>
      </a:accent6>
      <a:hlink>
        <a:srgbClr val="0563C1"/>
      </a:hlink>
      <a:folHlink>
        <a:srgbClr val="954F72"/>
      </a:folHlink>
    </a:clrScheme>
    <a:fontScheme name="Thème 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Presentation-INRAE-Panoramique">
  <a:themeElements>
    <a:clrScheme name="INRAE">
      <a:dk1>
        <a:srgbClr val="000000"/>
      </a:dk1>
      <a:lt1>
        <a:srgbClr val="FFFFFF"/>
      </a:lt1>
      <a:dk2>
        <a:srgbClr val="44546A"/>
      </a:dk2>
      <a:lt2>
        <a:srgbClr val="E7E6E6"/>
      </a:lt2>
      <a:accent1>
        <a:srgbClr val="00A3A6"/>
      </a:accent1>
      <a:accent2>
        <a:srgbClr val="9DC544"/>
      </a:accent2>
      <a:accent3>
        <a:srgbClr val="9ED6E3"/>
      </a:accent3>
      <a:accent4>
        <a:srgbClr val="423089"/>
      </a:accent4>
      <a:accent5>
        <a:srgbClr val="ED6E6C"/>
      </a:accent5>
      <a:accent6>
        <a:srgbClr val="797870"/>
      </a:accent6>
      <a:hlink>
        <a:srgbClr val="0563C1"/>
      </a:hlink>
      <a:folHlink>
        <a:srgbClr val="954F72"/>
      </a:folHlink>
    </a:clrScheme>
    <a:fontScheme name="Thème 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Presentation-INRAE-Panoramique">
  <a:themeElements>
    <a:clrScheme name="INRAE">
      <a:dk1>
        <a:srgbClr val="000000"/>
      </a:dk1>
      <a:lt1>
        <a:srgbClr val="FFFFFF"/>
      </a:lt1>
      <a:dk2>
        <a:srgbClr val="44546A"/>
      </a:dk2>
      <a:lt2>
        <a:srgbClr val="E7E6E6"/>
      </a:lt2>
      <a:accent1>
        <a:srgbClr val="00A3A6"/>
      </a:accent1>
      <a:accent2>
        <a:srgbClr val="9DC544"/>
      </a:accent2>
      <a:accent3>
        <a:srgbClr val="9ED6E3"/>
      </a:accent3>
      <a:accent4>
        <a:srgbClr val="423089"/>
      </a:accent4>
      <a:accent5>
        <a:srgbClr val="ED6E6C"/>
      </a:accent5>
      <a:accent6>
        <a:srgbClr val="797870"/>
      </a:accent6>
      <a:hlink>
        <a:srgbClr val="0563C1"/>
      </a:hlink>
      <a:folHlink>
        <a:srgbClr val="954F72"/>
      </a:folHlink>
    </a:clrScheme>
    <a:fontScheme name="Thème 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Presentation-INRAE-Panoramique</Template>
  <TotalTime>42900</TotalTime>
  <Application>LibreOffice/26.2.6.3$Linux_X86_64 LibreOffice_project/620$Build-3</Application>
  <AppVersion>15.0000</AppVersion>
  <Words>2371</Words>
  <Paragraphs>430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2023-05-15T18:54:56Z</dcterms:created>
  <dc:creator>Julien Tap</dc:creator>
  <dc:description/>
  <dc:language>fr-FR</dc:language>
  <cp:lastModifiedBy>Julien Tap</cp:lastModifiedBy>
  <dcterms:modified xsi:type="dcterms:W3CDTF">2026-10-22T16:49:02Z</dcterms:modified>
  <cp:revision>153</cp:revision>
  <dc:subject/>
  <dc:title>Global branches and local states of the human gut microbiome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20</vt:r8>
  </property>
  <property fmtid="{D5CDD505-2E9C-101B-9397-08002B2CF9AE}" pid="3" name="PresentationFormat">
    <vt:lpwstr>On-screen Show (4:3)</vt:lpwstr>
  </property>
  <property fmtid="{D5CDD505-2E9C-101B-9397-08002B2CF9AE}" pid="4" name="Slides">
    <vt:r8>57</vt:r8>
  </property>
</Properties>
</file>