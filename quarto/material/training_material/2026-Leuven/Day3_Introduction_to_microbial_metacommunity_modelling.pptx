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9144000"/>
  <p:notesSz cx="6858000" cy="9144000"/>
  <p:embeddedFontLst>
    <p:embeddedFont>
      <p:font typeface="Play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Ip0JYWlHqt4tTHF90gdrJxRRn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Play-bold.fntdata"/><Relationship Id="rId10" Type="http://schemas.openxmlformats.org/officeDocument/2006/relationships/slide" Target="slides/slide6.xml"/><Relationship Id="rId32" Type="http://schemas.openxmlformats.org/officeDocument/2006/relationships/font" Target="fonts/Play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ature.com/scitable/knowledge/library/how-populations-grow-the-exponential-and-logistic-13240157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Species" TargetMode="External"/><Relationship Id="rId3" Type="http://schemas.openxmlformats.org/officeDocument/2006/relationships/hyperlink" Target="https://en.wikipedia.org/wiki/Competition_(biology)" TargetMode="External"/><Relationship Id="rId4" Type="http://schemas.openxmlformats.org/officeDocument/2006/relationships/hyperlink" Target="https://en.wikipedia.org/wiki/Resource_(biology)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MSCA: Marie Sklodowska Curie action</a:t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of microbial community: https://www.nist.gov/image/microbial-community; icons by Claude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Vellend: 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classes of process: selection (interactions and environment), drift (stochasticity), speciation, and dispersal (migration)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Priority effects follow from species interactions; perturbations from changes in the environment</a:t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http://mgrowthdb.gbiomed.kuleuven.be/comparison/?l=14062,14069,28370,28373,28376,28379,28382</a:t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Retardation = deceleration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dx/dt=rx is the exponential growth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Derivation as explained here: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https://www.nature.com/scitable/knowledge/library/how-populations-grow-the-exponential-and-logistic-13240157/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x(t)=2^t*x0 # population doubling in every time step (x0: initial population size)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x(t)=R^x0 # some other multiplication in every time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R = Euler’s constant: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x(t)=e^(r*t)*x0, assuming x0 is 1 and taking ln: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ln(x(t))=r*t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Differentiating: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d(ln(x(t)))/dt=r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Rate of change of the log of a number is the same as the “per capita” change in that number: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d(ln(x(t)))/dt=d(x(t))/(x(t)dt) =r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dx(t)/dt=r*x(t)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r=ln(R)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r: intrinsic rate; R: finite rate of increase (per capita, e.g. doubling/tripling etc.)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the larger x gets, the closer it is to its carrying capacity and the smaller the increase in x that is still possible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When x equals K, dx/dt=0 and growth stops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the larger K, the smaller the term we subtract from 1 and the larger the increase in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logistic&lt;-function(K,r,x0,t){return(K*x0/(x0+(K-x0)*exp(-r*t)))}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plot(logistic(4,1.5,0.001,1:10),main="Logistic growth, r=1.5",type="b",xlab="Time",ylab="Abundance")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abline(h=4,col=”magenta")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check with library(growthrates)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plot(grow_logistic(c(1:10),parms=c(y0=0.001,mumax=1.5,K=4)))</a:t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Competition: from Lyng &amp; Kovacs; reported as such; mutualism: Tania Woyke</a:t>
            </a:r>
            <a:endParaRPr/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Cell: Paramecium caudatum from wiki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Competitive exclusion principle: 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 </a:t>
            </a:r>
            <a:r>
              <a:rPr b="0" i="0" lang="en-US" sz="12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species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12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competing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for the same limited </a:t>
            </a:r>
            <a:r>
              <a:rPr b="0" i="0" lang="en-US" sz="12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resource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cannot coexist at constant population values</a:t>
            </a:r>
            <a:endParaRPr/>
          </a:p>
        </p:txBody>
      </p:sp>
      <p:sp>
        <p:nvSpPr>
          <p:cNvPr id="266" name="Google Shape;2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Lotka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Volterra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both (independently) proposed models for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competing populations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predator-prey systems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deSolve R package via miaSimShiny with normalised abundances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“apply rules iteratively for a specified number of times or until no big changes happen anymore”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 species abundance in all patches: 0.01, does not influence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Growth rate above dilution</a:t>
            </a:r>
            <a:endParaRPr/>
          </a:p>
        </p:txBody>
      </p:sp>
      <p:sp>
        <p:nvSpPr>
          <p:cNvPr id="494" name="Google Shape;49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bacterial invasion success depends on local community, we have a meta-community model</a:t>
            </a:r>
            <a:endParaRPr/>
          </a:p>
        </p:txBody>
      </p:sp>
      <p:sp>
        <p:nvSpPr>
          <p:cNvPr id="540" name="Google Shape;54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Images generated with Claude Opus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7.jpg"/><Relationship Id="rId6" Type="http://schemas.openxmlformats.org/officeDocument/2006/relationships/image" Target="../media/image4.png"/><Relationship Id="rId7" Type="http://schemas.openxmlformats.org/officeDocument/2006/relationships/image" Target="../media/image17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3.png"/><Relationship Id="rId11" Type="http://schemas.openxmlformats.org/officeDocument/2006/relationships/image" Target="../media/image24.png"/><Relationship Id="rId10" Type="http://schemas.openxmlformats.org/officeDocument/2006/relationships/image" Target="../media/image15.png"/><Relationship Id="rId12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28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3.jpg"/><Relationship Id="rId9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43.png"/><Relationship Id="rId5" Type="http://schemas.openxmlformats.org/officeDocument/2006/relationships/image" Target="../media/image3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Relationship Id="rId4" Type="http://schemas.openxmlformats.org/officeDocument/2006/relationships/image" Target="../media/image51.png"/><Relationship Id="rId5" Type="http://schemas.openxmlformats.org/officeDocument/2006/relationships/image" Target="../media/image56.png"/><Relationship Id="rId6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5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53.png"/><Relationship Id="rId8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Relationship Id="rId4" Type="http://schemas.openxmlformats.org/officeDocument/2006/relationships/image" Target="../media/image72.png"/><Relationship Id="rId5" Type="http://schemas.openxmlformats.org/officeDocument/2006/relationships/image" Target="../media/image55.png"/><Relationship Id="rId6" Type="http://schemas.openxmlformats.org/officeDocument/2006/relationships/image" Target="../media/image48.png"/><Relationship Id="rId7" Type="http://schemas.openxmlformats.org/officeDocument/2006/relationships/image" Target="../media/image66.png"/><Relationship Id="rId8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47.png"/><Relationship Id="rId5" Type="http://schemas.openxmlformats.org/officeDocument/2006/relationships/image" Target="../media/image64.png"/><Relationship Id="rId6" Type="http://schemas.openxmlformats.org/officeDocument/2006/relationships/image" Target="../media/image61.png"/><Relationship Id="rId7" Type="http://schemas.openxmlformats.org/officeDocument/2006/relationships/image" Target="../media/image57.png"/><Relationship Id="rId8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76.png"/><Relationship Id="rId6" Type="http://schemas.openxmlformats.org/officeDocument/2006/relationships/image" Target="../media/image6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6.png"/><Relationship Id="rId4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3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3.png"/><Relationship Id="rId8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8.png"/><Relationship Id="rId4" Type="http://schemas.openxmlformats.org/officeDocument/2006/relationships/image" Target="../media/image6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5.png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7.png"/><Relationship Id="rId4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3.jpg"/><Relationship Id="rId4" Type="http://schemas.openxmlformats.org/officeDocument/2006/relationships/image" Target="../media/image70.jpg"/><Relationship Id="rId5" Type="http://schemas.openxmlformats.org/officeDocument/2006/relationships/image" Target="../media/image2.png"/><Relationship Id="rId6" Type="http://schemas.openxmlformats.org/officeDocument/2006/relationships/image" Target="../media/image32.png"/><Relationship Id="rId7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tinyurl.com/glvTutorial" TargetMode="External"/><Relationship Id="rId4" Type="http://schemas.openxmlformats.org/officeDocument/2006/relationships/hyperlink" Target="https://tinyurl.com/metacommglv" TargetMode="External"/><Relationship Id="rId5" Type="http://schemas.openxmlformats.org/officeDocument/2006/relationships/image" Target="../media/image7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3719285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76200" rotWithShape="0" algn="l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3711665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>
            <p:ph type="ctrTitle"/>
          </p:nvPr>
        </p:nvSpPr>
        <p:spPr>
          <a:xfrm>
            <a:off x="358485" y="1122363"/>
            <a:ext cx="301752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lay"/>
              <a:buNone/>
            </a:pPr>
            <a:r>
              <a:rPr lang="en-US" sz="4200"/>
              <a:t>Symposium on Microbial Meta-Community Modelling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358485" y="4872922"/>
            <a:ext cx="2949980" cy="120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/>
              <a:t>21</a:t>
            </a:r>
            <a:r>
              <a:rPr baseline="30000" lang="en-US" sz="1700"/>
              <a:t>st</a:t>
            </a:r>
            <a:r>
              <a:rPr lang="en-US" sz="1700"/>
              <a:t> October 2026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0767" y="1292533"/>
            <a:ext cx="4806627" cy="4121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1031421" y="-7314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Welcome to the Symposium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617764" y="1208314"/>
            <a:ext cx="5347607" cy="5649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Speakers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Administrative support:  Chantal Biernaux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9098" y="1534988"/>
            <a:ext cx="1711780" cy="2282373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8625" y="4939563"/>
            <a:ext cx="1794835" cy="179483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9100" y="1559295"/>
            <a:ext cx="2160529" cy="2160529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575" y="1866428"/>
            <a:ext cx="2781794" cy="191683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446276" y="4033157"/>
            <a:ext cx="33292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Ksenia Guseva, University of Vienna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3604012" y="4026696"/>
            <a:ext cx="33292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Lulla Opatowski, Institute Pasteur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6590260" y="4008351"/>
            <a:ext cx="33292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Julien Tap, INRAE Micalis Institute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368630" y="-1631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Embedding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239487" y="145267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Part of a retreat for students of the MSCA HoloGen Doctoral Network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Host: Lab of Microbial Systems Biology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Located at the Rega institute of KU Leuven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Bioinformatics tool development &amp; exploration of synthetic gut microbial communities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Local organizers:</a:t>
            </a:r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27112"/>
            <a:ext cx="4332513" cy="68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9850" y="4435603"/>
            <a:ext cx="2142065" cy="2023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.jpg"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5424" y="2435988"/>
            <a:ext cx="869089" cy="1306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leuvenlogo.png"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8774" y="2435988"/>
            <a:ext cx="1542052" cy="54956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6213347" y="6385863"/>
            <a:ext cx="29978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http://msysbiology.com</a:t>
            </a:r>
            <a:endParaRPr b="1" sz="2000">
              <a:solidFill>
                <a:srgbClr val="1F5C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196" y="4550796"/>
            <a:ext cx="2563586" cy="170905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1034736" y="6448046"/>
            <a:ext cx="9730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Damola</a:t>
            </a:r>
            <a:endParaRPr/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17982" y="4440202"/>
            <a:ext cx="1662801" cy="1930244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/>
        </p:nvSpPr>
        <p:spPr>
          <a:xfrm>
            <a:off x="4071542" y="6448046"/>
            <a:ext cx="100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Karoline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1257300" y="11475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Introduction to microbial metacommunity modeling</a:t>
            </a:r>
            <a:endParaRPr/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967" y="2348448"/>
            <a:ext cx="4806627" cy="4121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454477" y="0"/>
            <a:ext cx="855452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shapes microbial community composition?</a:t>
            </a:r>
            <a:endParaRPr/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0843" y="2925765"/>
            <a:ext cx="3893333" cy="2593274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6070661" y="2391484"/>
            <a:ext cx="27522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Interactions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3981571" y="1294063"/>
            <a:ext cx="19326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 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29932" y="2884151"/>
            <a:ext cx="1418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Migration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29932" y="5760383"/>
            <a:ext cx="3368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Stochastic events (Drift)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6411148" y="4370902"/>
            <a:ext cx="293135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 exchange/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Speciation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 rot="5400000">
            <a:off x="3961153" y="2460642"/>
            <a:ext cx="461665" cy="4116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 rot="1939172">
            <a:off x="1584887" y="3593270"/>
            <a:ext cx="461665" cy="4116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 rot="-2677055">
            <a:off x="2244285" y="5245891"/>
            <a:ext cx="461665" cy="4116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 rot="-7857394">
            <a:off x="5637640" y="5171890"/>
            <a:ext cx="461665" cy="4116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 rot="7711229">
            <a:off x="5783343" y="3052584"/>
            <a:ext cx="461665" cy="4116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724" y="3358909"/>
            <a:ext cx="981997" cy="981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2800" y="2848048"/>
            <a:ext cx="1083971" cy="108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9789" y="5022587"/>
            <a:ext cx="858292" cy="85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08398" y="1597077"/>
            <a:ext cx="821644" cy="821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12245" y="1670767"/>
            <a:ext cx="995210" cy="99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14705" y="1750809"/>
            <a:ext cx="891304" cy="891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14355" y="5097223"/>
            <a:ext cx="1178444" cy="1178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51417" y="2866668"/>
            <a:ext cx="1061155" cy="1061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60299" y="5022587"/>
            <a:ext cx="1452901" cy="145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7973274" y="6259835"/>
            <a:ext cx="11729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32589" y="6528492"/>
            <a:ext cx="8530477" cy="3077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Vellend (2010) “Conceptual Synthesis in Community Ecology”, </a:t>
            </a: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Quarterly Review of Biology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85:183-206.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114705" y="1325563"/>
            <a:ext cx="5958905" cy="1421944"/>
          </a:xfrm>
          <a:prstGeom prst="roundRect">
            <a:avLst>
              <a:gd fmla="val 16667" name="adj"/>
            </a:avLst>
          </a:prstGeom>
          <a:solidFill>
            <a:srgbClr val="747474">
              <a:alpha val="2156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6554937" y="1484467"/>
            <a:ext cx="15167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628650" y="1825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Growth in different environments</a:t>
            </a:r>
            <a:endParaRPr/>
          </a:p>
        </p:txBody>
      </p:sp>
      <p:pic>
        <p:nvPicPr>
          <p:cNvPr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129" y="1296557"/>
            <a:ext cx="1211814" cy="121181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 txBox="1"/>
          <p:nvPr/>
        </p:nvSpPr>
        <p:spPr>
          <a:xfrm>
            <a:off x="7973274" y="6480175"/>
            <a:ext cx="11729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176482" y="5267790"/>
            <a:ext cx="56800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Bacteroides thetaiotaomicron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strain grown with different carbon sources in batch</a:t>
            </a:r>
            <a:endParaRPr/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3832" y="3698609"/>
            <a:ext cx="1905000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296557"/>
            <a:ext cx="6635750" cy="397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 txBox="1"/>
          <p:nvPr/>
        </p:nvSpPr>
        <p:spPr>
          <a:xfrm>
            <a:off x="176482" y="6288074"/>
            <a:ext cx="8622350" cy="52322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from: Sulaiman et al. (2024) “Elucidating human gut microbiota interactions that robustly inhibit diverse Clostridioides difficile strains across different nutrient landscapes”, </a:t>
            </a: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Nature Communications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15:7416.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6679293" y="4629672"/>
            <a:ext cx="246470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https://mgrowthdb.gbiomed.kuleuven.be</a:t>
            </a:r>
            <a:endParaRPr b="1" sz="2000">
              <a:solidFill>
                <a:srgbClr val="1F5C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title"/>
          </p:nvPr>
        </p:nvSpPr>
        <p:spPr>
          <a:xfrm>
            <a:off x="484415" y="-173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i="0" lang="en-US"/>
              <a:t>Reminder: microbial growth curve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339939" y="6198969"/>
            <a:ext cx="74716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taken from Jacques Monod: “The Growth of Bacterial Cultures”, Annual Rev. Microbiology 1949, 371-394.</a:t>
            </a:r>
            <a:endParaRPr/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701" y="2231817"/>
            <a:ext cx="8407843" cy="335739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1124607" y="5404549"/>
            <a:ext cx="26613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Lag phase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2: Acceleration phase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2490766" y="1493153"/>
            <a:ext cx="19648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3: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Exponential (Log) phase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4306356" y="1465163"/>
            <a:ext cx="25282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4: Retardation phase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5: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Stationary phase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6834612" y="1496693"/>
            <a:ext cx="19648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6: Phase of decline (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death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4">
            <a:alphaModFix/>
          </a:blip>
          <a:srcRect b="-992" l="0" r="383" t="0"/>
          <a:stretch/>
        </p:blipFill>
        <p:spPr>
          <a:xfrm>
            <a:off x="7714497" y="5554232"/>
            <a:ext cx="1133112" cy="802243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7" name="Google Shape;197;p8"/>
          <p:cNvSpPr txBox="1"/>
          <p:nvPr/>
        </p:nvSpPr>
        <p:spPr>
          <a:xfrm>
            <a:off x="7012622" y="64801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4121304" y="5321805"/>
            <a:ext cx="289131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75317"/>
                </a:solidFill>
                <a:latin typeface="Arial"/>
                <a:ea typeface="Arial"/>
                <a:cs typeface="Arial"/>
                <a:sym typeface="Arial"/>
              </a:rPr>
              <a:t>In batch (nutrient is depleted)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2906849" y="2398552"/>
            <a:ext cx="2337851" cy="7369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1864" l="-4324" r="0" t="-16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3274138" y="3703265"/>
            <a:ext cx="128669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growth rate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>
            <p:ph type="title"/>
          </p:nvPr>
        </p:nvSpPr>
        <p:spPr>
          <a:xfrm>
            <a:off x="628650" y="46444"/>
            <a:ext cx="83156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i="0" lang="en-US"/>
              <a:t>Modeling growth: Logistic equation</a:t>
            </a:r>
            <a:endParaRPr/>
          </a:p>
        </p:txBody>
      </p:sp>
      <p:sp>
        <p:nvSpPr>
          <p:cNvPr id="207" name="Google Shape;207;p9"/>
          <p:cNvSpPr txBox="1"/>
          <p:nvPr>
            <p:ph idx="1" type="body"/>
          </p:nvPr>
        </p:nvSpPr>
        <p:spPr>
          <a:xfrm>
            <a:off x="430926" y="1372007"/>
            <a:ext cx="8513380" cy="360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batch, bacteria enter stationary phase when they run out of food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less food they have, the slower they grow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Bacterial biomass is constrained (</a:t>
            </a:r>
            <a:r>
              <a:rPr b="1" lang="en-US" sz="2400"/>
              <a:t>carrying capacity</a:t>
            </a:r>
            <a:r>
              <a:rPr lang="en-US" sz="2400"/>
              <a:t>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Logistic equation describes this behaviour:</a:t>
            </a:r>
            <a:endParaRPr sz="2400"/>
          </a:p>
        </p:txBody>
      </p:sp>
      <p:sp>
        <p:nvSpPr>
          <p:cNvPr id="208" name="Google Shape;208;p9"/>
          <p:cNvSpPr txBox="1"/>
          <p:nvPr/>
        </p:nvSpPr>
        <p:spPr>
          <a:xfrm>
            <a:off x="7012622" y="64801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606560" y="4235297"/>
            <a:ext cx="2337851" cy="736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949" l="-4891" r="-489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5583384" y="5291069"/>
            <a:ext cx="252357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Biomass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F4F14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Carrying capacity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(Intrinsic) growth rate 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 rot="-5400000">
            <a:off x="3266565" y="4216249"/>
            <a:ext cx="531522" cy="699556"/>
          </a:xfrm>
          <a:prstGeom prst="upDown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4420768" y="4197529"/>
            <a:ext cx="3079830" cy="736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949" l="-370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13" name="Google Shape;2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723" y="5693699"/>
            <a:ext cx="4813300" cy="10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>
            <p:ph type="title"/>
          </p:nvPr>
        </p:nvSpPr>
        <p:spPr>
          <a:xfrm>
            <a:off x="628650" y="207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i="0" lang="en-US"/>
              <a:t>Logistic growth</a:t>
            </a:r>
            <a:endParaRPr i="0"/>
          </a:p>
        </p:txBody>
      </p:sp>
      <p:sp>
        <p:nvSpPr>
          <p:cNvPr id="220" name="Google Shape;220;p10"/>
          <p:cNvSpPr/>
          <p:nvPr/>
        </p:nvSpPr>
        <p:spPr>
          <a:xfrm>
            <a:off x="848203" y="2866557"/>
            <a:ext cx="338959" cy="3678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7012622" y="64801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5832679" y="4070509"/>
            <a:ext cx="2337851" cy="736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949" l="-4324" r="-486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609" y="1768120"/>
            <a:ext cx="5301931" cy="429938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5527935" y="2441179"/>
            <a:ext cx="24160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Carrying capacity K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1529384" y="1236158"/>
            <a:ext cx="39789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S-shaped (sigmoid) curve</a:t>
            </a:r>
            <a:endParaRPr/>
          </a:p>
        </p:txBody>
      </p:sp>
      <p:sp>
        <p:nvSpPr>
          <p:cNvPr id="226" name="Google Shape;226;p10"/>
          <p:cNvSpPr txBox="1"/>
          <p:nvPr>
            <p:ph idx="1" type="body"/>
          </p:nvPr>
        </p:nvSpPr>
        <p:spPr>
          <a:xfrm>
            <a:off x="315310" y="6143125"/>
            <a:ext cx="5383230" cy="664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Note that decline is not described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>
            <p:ph type="title"/>
          </p:nvPr>
        </p:nvSpPr>
        <p:spPr>
          <a:xfrm>
            <a:off x="340381" y="-8840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Ecological interactions….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7973274" y="6480175"/>
            <a:ext cx="11729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11"/>
          <p:cNvGrpSpPr/>
          <p:nvPr/>
        </p:nvGrpSpPr>
        <p:grpSpPr>
          <a:xfrm>
            <a:off x="419100" y="1087119"/>
            <a:ext cx="8610509" cy="5743884"/>
            <a:chOff x="-54732" y="700263"/>
            <a:chExt cx="9087775" cy="6128698"/>
          </a:xfrm>
        </p:grpSpPr>
        <p:sp>
          <p:nvSpPr>
            <p:cNvPr id="235" name="Google Shape;235;p11"/>
            <p:cNvSpPr txBox="1"/>
            <p:nvPr/>
          </p:nvSpPr>
          <p:spPr>
            <a:xfrm>
              <a:off x="3105559" y="6367296"/>
              <a:ext cx="27140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Prey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host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(loss-win)</a:t>
              </a:r>
              <a:endParaRPr/>
            </a:p>
          </p:txBody>
        </p:sp>
        <p:sp>
          <p:nvSpPr>
            <p:cNvPr id="236" name="Google Shape;236;p11"/>
            <p:cNvSpPr txBox="1"/>
            <p:nvPr/>
          </p:nvSpPr>
          <p:spPr>
            <a:xfrm>
              <a:off x="2825564" y="700263"/>
              <a:ext cx="37452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Predator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parasite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(win-loss)</a:t>
              </a:r>
              <a:endParaRPr/>
            </a:p>
          </p:txBody>
        </p:sp>
        <p:sp>
          <p:nvSpPr>
            <p:cNvPr id="237" name="Google Shape;237;p11"/>
            <p:cNvSpPr txBox="1"/>
            <p:nvPr/>
          </p:nvSpPr>
          <p:spPr>
            <a:xfrm rot="-5400000">
              <a:off x="-215616" y="3602967"/>
              <a:ext cx="282210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Mutualism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(win-win)</a:t>
              </a:r>
              <a:endParaRPr/>
            </a:p>
          </p:txBody>
        </p:sp>
        <p:sp>
          <p:nvSpPr>
            <p:cNvPr id="238" name="Google Shape;238;p11"/>
            <p:cNvSpPr txBox="1"/>
            <p:nvPr/>
          </p:nvSpPr>
          <p:spPr>
            <a:xfrm>
              <a:off x="6326355" y="1200938"/>
              <a:ext cx="2611181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Amensalism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(neutral-loss)</a:t>
              </a:r>
              <a:endParaRPr/>
            </a:p>
          </p:txBody>
        </p:sp>
        <p:sp>
          <p:nvSpPr>
            <p:cNvPr id="239" name="Google Shape;239;p11"/>
            <p:cNvSpPr txBox="1"/>
            <p:nvPr/>
          </p:nvSpPr>
          <p:spPr>
            <a:xfrm rot="-5400000">
              <a:off x="6201151" y="3213931"/>
              <a:ext cx="2661716" cy="877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Competition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(loss-loss)</a:t>
              </a: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1502837" y="1174628"/>
              <a:ext cx="5521393" cy="5275990"/>
            </a:xfrm>
            <a:prstGeom prst="ellipse">
              <a:avLst/>
            </a:prstGeom>
            <a:solidFill>
              <a:srgbClr val="8CD872"/>
            </a:solidFill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p11"/>
            <p:cNvCxnSpPr>
              <a:stCxn id="240" idx="6"/>
              <a:endCxn id="240" idx="2"/>
            </p:cNvCxnSpPr>
            <p:nvPr/>
          </p:nvCxnSpPr>
          <p:spPr>
            <a:xfrm rot="10800000">
              <a:off x="1502730" y="3812623"/>
              <a:ext cx="5521500" cy="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sp>
          <p:nvSpPr>
            <p:cNvPr id="242" name="Google Shape;242;p11"/>
            <p:cNvSpPr txBox="1"/>
            <p:nvPr/>
          </p:nvSpPr>
          <p:spPr>
            <a:xfrm>
              <a:off x="-54732" y="1093681"/>
              <a:ext cx="2782725" cy="886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Commensalism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(win-neutral)</a:t>
              </a:r>
              <a:endParaRPr/>
            </a:p>
          </p:txBody>
        </p:sp>
        <p:pic>
          <p:nvPicPr>
            <p:cNvPr id="243" name="Google Shape;243;p11"/>
            <p:cNvPicPr preferRelativeResize="0"/>
            <p:nvPr/>
          </p:nvPicPr>
          <p:blipFill rotWithShape="1">
            <a:blip r:embed="rId3">
              <a:alphaModFix amt="31000"/>
            </a:blip>
            <a:srcRect b="0" l="0" r="0" t="0"/>
            <a:stretch/>
          </p:blipFill>
          <p:spPr>
            <a:xfrm>
              <a:off x="1422696" y="1093309"/>
              <a:ext cx="5697041" cy="5471999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44" name="Google Shape;244;p11"/>
            <p:cNvSpPr txBox="1"/>
            <p:nvPr/>
          </p:nvSpPr>
          <p:spPr>
            <a:xfrm>
              <a:off x="3885074" y="1031661"/>
              <a:ext cx="882517" cy="584776"/>
            </a:xfrm>
            <a:prstGeom prst="rect">
              <a:avLst/>
            </a:prstGeom>
            <a:noFill/>
            <a:ln>
              <a:noFill/>
            </a:ln>
            <a:effectLst>
              <a:outerShdw blurRad="50800" dir="2700000" dist="38100">
                <a:srgbClr val="000000">
                  <a:alpha val="4313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FF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lang="en-US" sz="32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3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45" name="Google Shape;245;p11"/>
            <p:cNvSpPr txBox="1"/>
            <p:nvPr/>
          </p:nvSpPr>
          <p:spPr>
            <a:xfrm>
              <a:off x="2396596" y="1649601"/>
              <a:ext cx="826248" cy="584776"/>
            </a:xfrm>
            <a:prstGeom prst="rect">
              <a:avLst/>
            </a:prstGeom>
            <a:noFill/>
            <a:ln>
              <a:noFill/>
            </a:ln>
            <a:effectLst>
              <a:outerShdw blurRad="50800" dir="2700000" dist="38100">
                <a:srgbClr val="000000">
                  <a:alpha val="4313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FF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lang="en-US" sz="32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2004898" y="4970129"/>
              <a:ext cx="916101" cy="584776"/>
            </a:xfrm>
            <a:prstGeom prst="rect">
              <a:avLst/>
            </a:prstGeom>
            <a:noFill/>
            <a:ln>
              <a:noFill/>
            </a:ln>
            <a:effectLst>
              <a:outerShdw blurRad="50800" dir="2700000" dist="38100">
                <a:srgbClr val="000000">
                  <a:alpha val="4313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 sz="32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3200">
                  <a:solidFill>
                    <a:srgbClr val="00FF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247" name="Google Shape;247;p11"/>
            <p:cNvSpPr txBox="1"/>
            <p:nvPr/>
          </p:nvSpPr>
          <p:spPr>
            <a:xfrm>
              <a:off x="5325074" y="1580587"/>
              <a:ext cx="850101" cy="584776"/>
            </a:xfrm>
            <a:prstGeom prst="rect">
              <a:avLst/>
            </a:prstGeom>
            <a:noFill/>
            <a:ln>
              <a:noFill/>
            </a:ln>
            <a:effectLst>
              <a:outerShdw blurRad="50800" dir="2700000" dist="38100">
                <a:srgbClr val="000000">
                  <a:alpha val="4313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 sz="32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3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sp>
          <p:nvSpPr>
            <p:cNvPr id="248" name="Google Shape;248;p11"/>
            <p:cNvSpPr txBox="1"/>
            <p:nvPr/>
          </p:nvSpPr>
          <p:spPr>
            <a:xfrm>
              <a:off x="4024109" y="5901218"/>
              <a:ext cx="787025" cy="584776"/>
            </a:xfrm>
            <a:prstGeom prst="rect">
              <a:avLst/>
            </a:prstGeom>
            <a:noFill/>
            <a:ln>
              <a:noFill/>
            </a:ln>
            <a:effectLst>
              <a:outerShdw blurRad="50800" dir="2700000" dist="38100">
                <a:srgbClr val="000000">
                  <a:alpha val="4313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 </a:t>
              </a:r>
              <a:r>
                <a:rPr b="1" lang="en-US" sz="3200">
                  <a:solidFill>
                    <a:srgbClr val="00FF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249" name="Google Shape;249;p11"/>
            <p:cNvSpPr txBox="1"/>
            <p:nvPr/>
          </p:nvSpPr>
          <p:spPr>
            <a:xfrm>
              <a:off x="6220481" y="3324754"/>
              <a:ext cx="996581" cy="954107"/>
            </a:xfrm>
            <a:prstGeom prst="rect">
              <a:avLst/>
            </a:prstGeom>
            <a:noFill/>
            <a:ln>
              <a:noFill/>
            </a:ln>
            <a:effectLst>
              <a:outerShdw blurRad="50800" dir="2700000" dist="38100">
                <a:srgbClr val="000000">
                  <a:alpha val="4313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1" lang="en-US" sz="3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b="1" lang="en-US" sz="32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3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1"/>
            <p:cNvSpPr txBox="1"/>
            <p:nvPr/>
          </p:nvSpPr>
          <p:spPr>
            <a:xfrm>
              <a:off x="5648159" y="5012336"/>
              <a:ext cx="996581" cy="1077218"/>
            </a:xfrm>
            <a:prstGeom prst="rect">
              <a:avLst/>
            </a:prstGeom>
            <a:noFill/>
            <a:ln>
              <a:noFill/>
            </a:ln>
            <a:effectLst>
              <a:outerShdw blurRad="50800" dir="2700000" dist="38100">
                <a:srgbClr val="000000">
                  <a:alpha val="4313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1" lang="en-US" sz="32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b="1" lang="en-US" sz="32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3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1" name="Google Shape;251;p11"/>
            <p:cNvCxnSpPr>
              <a:stCxn id="240" idx="7"/>
              <a:endCxn id="240" idx="3"/>
            </p:cNvCxnSpPr>
            <p:nvPr/>
          </p:nvCxnSpPr>
          <p:spPr>
            <a:xfrm flipH="1">
              <a:off x="2311441" y="1947279"/>
              <a:ext cx="3904200" cy="37308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1"/>
            <p:cNvCxnSpPr>
              <a:stCxn id="240" idx="5"/>
              <a:endCxn id="240" idx="1"/>
            </p:cNvCxnSpPr>
            <p:nvPr/>
          </p:nvCxnSpPr>
          <p:spPr>
            <a:xfrm rot="10800000">
              <a:off x="2311441" y="1947167"/>
              <a:ext cx="3904200" cy="37308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sp>
          <p:nvSpPr>
            <p:cNvPr id="253" name="Google Shape;253;p11"/>
            <p:cNvSpPr txBox="1"/>
            <p:nvPr/>
          </p:nvSpPr>
          <p:spPr>
            <a:xfrm>
              <a:off x="1416612" y="3288529"/>
              <a:ext cx="893759" cy="584776"/>
            </a:xfrm>
            <a:prstGeom prst="rect">
              <a:avLst/>
            </a:prstGeom>
            <a:noFill/>
            <a:ln>
              <a:noFill/>
            </a:ln>
            <a:effectLst>
              <a:outerShdw blurRad="50800" dir="2700000" dist="38100">
                <a:srgbClr val="000000">
                  <a:alpha val="4313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FF00"/>
                  </a:solidFill>
                  <a:latin typeface="Arial"/>
                  <a:ea typeface="Arial"/>
                  <a:cs typeface="Arial"/>
                  <a:sym typeface="Arial"/>
                </a:rPr>
                <a:t>+ +</a:t>
              </a:r>
              <a:endParaRPr/>
            </a:p>
          </p:txBody>
        </p:sp>
        <p:cxnSp>
          <p:nvCxnSpPr>
            <p:cNvPr id="254" name="Google Shape;254;p11"/>
            <p:cNvCxnSpPr/>
            <p:nvPr/>
          </p:nvCxnSpPr>
          <p:spPr>
            <a:xfrm flipH="1" rot="5400000">
              <a:off x="1627117" y="3761415"/>
              <a:ext cx="5264163" cy="6893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pic>
          <p:nvPicPr>
            <p:cNvPr descr="phages.jpeg" id="255" name="Google Shape;255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3788662" y="4755654"/>
              <a:ext cx="1111602" cy="130652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feeding-amoeba.png" id="256" name="Google Shape;256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89599" y="1593287"/>
              <a:ext cx="1440000" cy="970267"/>
            </a:xfrm>
            <a:prstGeom prst="rect">
              <a:avLst/>
            </a:prstGeom>
            <a:noFill/>
            <a:ln cap="flat" cmpd="sng" w="9525">
              <a:solidFill>
                <a:srgbClr val="0C0C0C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7" name="Google Shape;257;p11"/>
            <p:cNvSpPr/>
            <p:nvPr/>
          </p:nvSpPr>
          <p:spPr>
            <a:xfrm>
              <a:off x="6542085" y="5920369"/>
              <a:ext cx="2490958" cy="788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Adapted from Lidicker, W.Z. BioScience 29, 475-477 (1979).</a:t>
              </a:r>
              <a:endParaRPr/>
            </a:p>
          </p:txBody>
        </p:sp>
      </p:grpSp>
      <p:sp>
        <p:nvSpPr>
          <p:cNvPr id="258" name="Google Shape;258;p11"/>
          <p:cNvSpPr txBox="1"/>
          <p:nvPr/>
        </p:nvSpPr>
        <p:spPr>
          <a:xfrm>
            <a:off x="135566" y="5803597"/>
            <a:ext cx="20117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Predation &amp; parasitism = exploitation</a:t>
            </a:r>
            <a:endParaRPr/>
          </a:p>
        </p:txBody>
      </p:sp>
      <p:pic>
        <p:nvPicPr>
          <p:cNvPr id="259" name="Google Shape;25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9539" y="227257"/>
            <a:ext cx="966007" cy="966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36876" y="-9707"/>
            <a:ext cx="966006" cy="96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19060" y="3294000"/>
            <a:ext cx="1914482" cy="134958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2" name="Google Shape;262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41894" y="3271808"/>
            <a:ext cx="1683887" cy="1445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 txBox="1"/>
          <p:nvPr>
            <p:ph type="title"/>
          </p:nvPr>
        </p:nvSpPr>
        <p:spPr>
          <a:xfrm>
            <a:off x="89208" y="-220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i="0" lang="en-US"/>
              <a:t>… and how to quantify them</a:t>
            </a:r>
            <a:endParaRPr i="0"/>
          </a:p>
        </p:txBody>
      </p:sp>
      <p:pic>
        <p:nvPicPr>
          <p:cNvPr id="269" name="Google Shape;2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554" y="1557595"/>
            <a:ext cx="4480814" cy="469365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70" name="Google Shape;270;p12"/>
          <p:cNvSpPr/>
          <p:nvPr/>
        </p:nvSpPr>
        <p:spPr>
          <a:xfrm>
            <a:off x="576354" y="6436196"/>
            <a:ext cx="6345308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Gause (1934) “The Struggle for Existence”, Williams &amp; Wilkins.</a:t>
            </a:r>
            <a:endParaRPr/>
          </a:p>
        </p:txBody>
      </p:sp>
      <p:sp>
        <p:nvSpPr>
          <p:cNvPr id="271" name="Google Shape;271;p12"/>
          <p:cNvSpPr txBox="1"/>
          <p:nvPr>
            <p:ph idx="1" type="body"/>
          </p:nvPr>
        </p:nvSpPr>
        <p:spPr>
          <a:xfrm>
            <a:off x="4862537" y="2100274"/>
            <a:ext cx="4480814" cy="4849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Compare growth curve in mono- and in co-culture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Example: </a:t>
            </a:r>
            <a:r>
              <a:rPr i="1" lang="en-US" sz="2400"/>
              <a:t>Paramecium aurelia </a:t>
            </a:r>
            <a:r>
              <a:rPr lang="en-US" sz="2400"/>
              <a:t>and </a:t>
            </a:r>
            <a:r>
              <a:rPr i="1" lang="en-US" sz="2400"/>
              <a:t>P. caudatum </a:t>
            </a:r>
            <a:r>
              <a:rPr lang="en-US" sz="2400"/>
              <a:t>competition experiment, which led Gause to formulate the competitive exclusion principle (2 species competing for the same limited resource cannot coexist)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72" name="Google Shape;272;p12"/>
          <p:cNvSpPr txBox="1"/>
          <p:nvPr/>
        </p:nvSpPr>
        <p:spPr>
          <a:xfrm>
            <a:off x="7012622" y="646966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353" y="2473537"/>
            <a:ext cx="662821" cy="502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suit and tie&#10;&#10;Description automatically generated" id="274" name="Google Shape;27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78261" y="98284"/>
            <a:ext cx="1255078" cy="1598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/>
          <p:nvPr/>
        </p:nvSpPr>
        <p:spPr>
          <a:xfrm>
            <a:off x="119743" y="1358337"/>
            <a:ext cx="8882868" cy="3327555"/>
          </a:xfrm>
          <a:prstGeom prst="roundRect">
            <a:avLst>
              <a:gd fmla="val 16667" name="adj"/>
            </a:avLst>
          </a:prstGeom>
          <a:solidFill>
            <a:srgbClr val="D8D8D8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3451545" y="3199492"/>
            <a:ext cx="2322162" cy="819097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374572" y="1467194"/>
            <a:ext cx="2322162" cy="904239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 txBox="1"/>
          <p:nvPr>
            <p:ph type="title"/>
          </p:nvPr>
        </p:nvSpPr>
        <p:spPr>
          <a:xfrm>
            <a:off x="838200" y="34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i="0" lang="en-US"/>
              <a:t>Computing interaction strength</a:t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7012622" y="646966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669" y="1634949"/>
            <a:ext cx="2918834" cy="3010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 txBox="1"/>
          <p:nvPr/>
        </p:nvSpPr>
        <p:spPr>
          <a:xfrm>
            <a:off x="5903686" y="2532132"/>
            <a:ext cx="3098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(Mono-culture)</a:t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5904146" y="1501214"/>
            <a:ext cx="29609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Growth curve in co-culture - Positive impact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5890979" y="3139973"/>
            <a:ext cx="30989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Growth curve in co-culture - Negative impact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328806" y="5949528"/>
            <a:ext cx="2133600" cy="4386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889" l="-4734" r="0" t="-27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2536384" y="5924515"/>
            <a:ext cx="2133600" cy="43864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2223" l="-4734" r="0" t="-27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290" name="Google Shape;290;p13"/>
          <p:cNvGrpSpPr/>
          <p:nvPr/>
        </p:nvGrpSpPr>
        <p:grpSpPr>
          <a:xfrm>
            <a:off x="5273178" y="4990099"/>
            <a:ext cx="2512706" cy="923330"/>
            <a:chOff x="5273178" y="4990099"/>
            <a:chExt cx="2512706" cy="923330"/>
          </a:xfrm>
        </p:grpSpPr>
        <p:sp>
          <p:nvSpPr>
            <p:cNvPr id="291" name="Google Shape;291;p13"/>
            <p:cNvSpPr/>
            <p:nvPr/>
          </p:nvSpPr>
          <p:spPr>
            <a:xfrm>
              <a:off x="5273178" y="4990100"/>
              <a:ext cx="2512706" cy="879704"/>
            </a:xfrm>
            <a:prstGeom prst="roundRect">
              <a:avLst>
                <a:gd fmla="val 16667" name="adj"/>
              </a:avLst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3"/>
            <p:cNvSpPr txBox="1"/>
            <p:nvPr/>
          </p:nvSpPr>
          <p:spPr>
            <a:xfrm>
              <a:off x="5385706" y="4990099"/>
              <a:ext cx="2100255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-,- = competition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-,0 = amensalism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-,+ = exploitation</a:t>
              </a:r>
              <a:endParaRPr/>
            </a:p>
          </p:txBody>
        </p:sp>
      </p:grpSp>
      <p:grpSp>
        <p:nvGrpSpPr>
          <p:cNvPr id="293" name="Google Shape;293;p13"/>
          <p:cNvGrpSpPr/>
          <p:nvPr/>
        </p:nvGrpSpPr>
        <p:grpSpPr>
          <a:xfrm>
            <a:off x="5295847" y="5890414"/>
            <a:ext cx="2534612" cy="923330"/>
            <a:chOff x="5295847" y="5890414"/>
            <a:chExt cx="2534612" cy="923330"/>
          </a:xfrm>
        </p:grpSpPr>
        <p:sp>
          <p:nvSpPr>
            <p:cNvPr id="294" name="Google Shape;294;p13"/>
            <p:cNvSpPr/>
            <p:nvPr/>
          </p:nvSpPr>
          <p:spPr>
            <a:xfrm>
              <a:off x="5295847" y="5934039"/>
              <a:ext cx="2512706" cy="879705"/>
            </a:xfrm>
            <a:prstGeom prst="roundRect">
              <a:avLst>
                <a:gd fmla="val 16667" name="adj"/>
              </a:avLst>
            </a:prstGeom>
            <a:solidFill>
              <a:srgbClr val="009051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3"/>
            <p:cNvSpPr txBox="1"/>
            <p:nvPr/>
          </p:nvSpPr>
          <p:spPr>
            <a:xfrm>
              <a:off x="5375941" y="5890414"/>
              <a:ext cx="245451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+,+ = mutualism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+,0 = commensalism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+,- = exploitation</a:t>
              </a:r>
              <a:endParaRPr/>
            </a:p>
          </p:txBody>
        </p:sp>
      </p:grpSp>
      <p:sp>
        <p:nvSpPr>
          <p:cNvPr id="296" name="Google Shape;296;p13"/>
          <p:cNvSpPr txBox="1"/>
          <p:nvPr/>
        </p:nvSpPr>
        <p:spPr>
          <a:xfrm>
            <a:off x="5497843" y="4672821"/>
            <a:ext cx="1954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Interaction type</a:t>
            </a:r>
            <a:endParaRPr/>
          </a:p>
        </p:txBody>
      </p:sp>
      <p:pic>
        <p:nvPicPr>
          <p:cNvPr descr="A picture containing light&#10;&#10;Description automatically generated" id="297" name="Google Shape;2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9531" y="1507417"/>
            <a:ext cx="334799" cy="645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298" name="Google Shape;2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08494" y="1610202"/>
            <a:ext cx="334799" cy="645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299" name="Google Shape;29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8668" y="1431159"/>
            <a:ext cx="334799" cy="645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0" name="Google Shape;30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4039917" y="2594043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1" name="Google Shape;30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4564088" y="2462530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2" name="Google Shape;30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4207744" y="1676822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3" name="Google Shape;30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4026949" y="1384332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4" name="Google Shape;30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4939111" y="1716544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5" name="Google Shape;30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3728429" y="1596421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6" name="Google Shape;30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5087200" y="2418904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7" name="Google Shape;30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4672407" y="3195748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8" name="Google Shape;30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38279" y="3325041"/>
            <a:ext cx="334799" cy="645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09" name="Google Shape;30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0625" y="3281243"/>
            <a:ext cx="334799" cy="64568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"/>
          <p:cNvSpPr/>
          <p:nvPr/>
        </p:nvSpPr>
        <p:spPr>
          <a:xfrm>
            <a:off x="3451545" y="2398180"/>
            <a:ext cx="2322162" cy="813814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light&#10;&#10;Description automatically generated" id="311" name="Google Shape;31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9986" y="3325041"/>
            <a:ext cx="334799" cy="645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12" name="Google Shape;31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6727" y="3391591"/>
            <a:ext cx="334799" cy="6456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13"/>
          <p:cNvCxnSpPr/>
          <p:nvPr/>
        </p:nvCxnSpPr>
        <p:spPr>
          <a:xfrm>
            <a:off x="3101073" y="3118201"/>
            <a:ext cx="464477" cy="289027"/>
          </a:xfrm>
          <a:prstGeom prst="straightConnector1">
            <a:avLst/>
          </a:prstGeom>
          <a:noFill/>
          <a:ln cap="flat" cmpd="sng" w="12700">
            <a:solidFill>
              <a:srgbClr val="0A2F41"/>
            </a:solidFill>
            <a:prstDash val="dot"/>
            <a:miter lim="8000"/>
            <a:headEnd len="sm" w="sm" type="none"/>
            <a:tailEnd len="sm" w="sm" type="none"/>
          </a:ln>
        </p:spPr>
      </p:cxnSp>
      <p:cxnSp>
        <p:nvCxnSpPr>
          <p:cNvPr id="314" name="Google Shape;314;p13"/>
          <p:cNvCxnSpPr/>
          <p:nvPr/>
        </p:nvCxnSpPr>
        <p:spPr>
          <a:xfrm>
            <a:off x="3096654" y="2570002"/>
            <a:ext cx="402358" cy="101139"/>
          </a:xfrm>
          <a:prstGeom prst="straightConnector1">
            <a:avLst/>
          </a:prstGeom>
          <a:noFill/>
          <a:ln cap="flat" cmpd="sng" w="12700">
            <a:solidFill>
              <a:srgbClr val="0A2F41"/>
            </a:solidFill>
            <a:prstDash val="dot"/>
            <a:miter lim="8000"/>
            <a:headEnd len="sm" w="sm" type="none"/>
            <a:tailEnd len="sm" w="sm" type="none"/>
          </a:ln>
        </p:spPr>
      </p:cxnSp>
      <p:cxnSp>
        <p:nvCxnSpPr>
          <p:cNvPr id="315" name="Google Shape;315;p13"/>
          <p:cNvCxnSpPr/>
          <p:nvPr/>
        </p:nvCxnSpPr>
        <p:spPr>
          <a:xfrm flipH="1" rot="10800000">
            <a:off x="3076805" y="1974605"/>
            <a:ext cx="282761" cy="102238"/>
          </a:xfrm>
          <a:prstGeom prst="straightConnector1">
            <a:avLst/>
          </a:prstGeom>
          <a:noFill/>
          <a:ln cap="flat" cmpd="sng" w="12700">
            <a:solidFill>
              <a:srgbClr val="0A2F41"/>
            </a:solidFill>
            <a:prstDash val="dot"/>
            <a:miter lim="8000"/>
            <a:headEnd len="sm" w="sm" type="none"/>
            <a:tailEnd len="sm" w="sm" type="none"/>
          </a:ln>
        </p:spPr>
      </p:cxnSp>
      <p:sp>
        <p:nvSpPr>
          <p:cNvPr id="316" name="Google Shape;316;p13"/>
          <p:cNvSpPr/>
          <p:nvPr/>
        </p:nvSpPr>
        <p:spPr>
          <a:xfrm>
            <a:off x="2340746" y="4302506"/>
            <a:ext cx="57255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adapted from de Vos et al. PNAS 10666-10671 (2017).</a:t>
            </a:r>
            <a:endParaRPr/>
          </a:p>
        </p:txBody>
      </p:sp>
      <p:pic>
        <p:nvPicPr>
          <p:cNvPr descr="A picture containing light&#10;&#10;Description automatically generated" id="317" name="Google Shape;31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4745407" y="1373511"/>
            <a:ext cx="341773" cy="689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ight&#10;&#10;Description automatically generated" id="318" name="Google Shape;31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196714">
            <a:off x="4006891" y="3228599"/>
            <a:ext cx="341773" cy="68999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228365" y="5279733"/>
            <a:ext cx="4312904" cy="120697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273999" y="5579791"/>
            <a:ext cx="12362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Species 1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2737990" y="5578082"/>
            <a:ext cx="12362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Species 2</a:t>
            </a:r>
            <a:endParaRPr/>
          </a:p>
        </p:txBody>
      </p:sp>
      <p:sp>
        <p:nvSpPr>
          <p:cNvPr id="322" name="Google Shape;322;p13"/>
          <p:cNvSpPr txBox="1"/>
          <p:nvPr/>
        </p:nvSpPr>
        <p:spPr>
          <a:xfrm>
            <a:off x="237482" y="5278245"/>
            <a:ext cx="28151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mutualism: +,+</a:t>
            </a:r>
            <a:endParaRPr/>
          </a:p>
        </p:txBody>
      </p:sp>
      <p:cxnSp>
        <p:nvCxnSpPr>
          <p:cNvPr id="323" name="Google Shape;323;p13"/>
          <p:cNvCxnSpPr/>
          <p:nvPr/>
        </p:nvCxnSpPr>
        <p:spPr>
          <a:xfrm>
            <a:off x="3052676" y="2076843"/>
            <a:ext cx="0" cy="2120584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50196"/>
              </a:schemeClr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24" name="Google Shape;324;p13"/>
          <p:cNvCxnSpPr/>
          <p:nvPr/>
        </p:nvCxnSpPr>
        <p:spPr>
          <a:xfrm>
            <a:off x="2181340" y="2255886"/>
            <a:ext cx="871336" cy="1923069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50196"/>
              </a:schemeClr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25" name="Google Shape;325;p13"/>
          <p:cNvCxnSpPr/>
          <p:nvPr/>
        </p:nvCxnSpPr>
        <p:spPr>
          <a:xfrm>
            <a:off x="1861895" y="2430056"/>
            <a:ext cx="893547" cy="1796841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50196"/>
              </a:schemeClr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326" name="Google Shape;326;p13"/>
          <p:cNvSpPr txBox="1"/>
          <p:nvPr/>
        </p:nvSpPr>
        <p:spPr>
          <a:xfrm>
            <a:off x="1848452" y="3347928"/>
            <a:ext cx="1327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under the curve</a:t>
            </a:r>
            <a:endParaRPr/>
          </a:p>
        </p:txBody>
      </p:sp>
      <p:cxnSp>
        <p:nvCxnSpPr>
          <p:cNvPr id="327" name="Google Shape;327;p13"/>
          <p:cNvCxnSpPr/>
          <p:nvPr/>
        </p:nvCxnSpPr>
        <p:spPr>
          <a:xfrm>
            <a:off x="1692361" y="2868603"/>
            <a:ext cx="651456" cy="1328824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50196"/>
              </a:schemeClr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28" name="Google Shape;328;p13"/>
          <p:cNvCxnSpPr/>
          <p:nvPr/>
        </p:nvCxnSpPr>
        <p:spPr>
          <a:xfrm>
            <a:off x="1494343" y="3220443"/>
            <a:ext cx="530100" cy="969192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50196"/>
              </a:schemeClr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29" name="Google Shape;329;p13"/>
          <p:cNvCxnSpPr/>
          <p:nvPr/>
        </p:nvCxnSpPr>
        <p:spPr>
          <a:xfrm>
            <a:off x="1347729" y="3703629"/>
            <a:ext cx="279764" cy="493798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50196"/>
              </a:schemeClr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30" name="Google Shape;330;p13"/>
          <p:cNvCxnSpPr/>
          <p:nvPr/>
        </p:nvCxnSpPr>
        <p:spPr>
          <a:xfrm>
            <a:off x="2602350" y="2132335"/>
            <a:ext cx="446661" cy="2056308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50196"/>
              </a:schemeClr>
            </a:solidFill>
            <a:prstDash val="dash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2753" y="1893118"/>
            <a:ext cx="2584338" cy="204362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4"/>
          <p:cNvSpPr txBox="1"/>
          <p:nvPr>
            <p:ph type="title"/>
          </p:nvPr>
        </p:nvSpPr>
        <p:spPr>
          <a:xfrm>
            <a:off x="394461" y="-22428"/>
            <a:ext cx="8763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Why do we want to m</a:t>
            </a:r>
            <a:r>
              <a:rPr i="0" lang="en-US"/>
              <a:t>odel microbial community dynamics?</a:t>
            </a:r>
            <a:endParaRPr i="0"/>
          </a:p>
        </p:txBody>
      </p:sp>
      <p:pic>
        <p:nvPicPr>
          <p:cNvPr id="337" name="Google Shape;3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9295" y="2509144"/>
            <a:ext cx="1516666" cy="1137500"/>
          </a:xfrm>
          <a:prstGeom prst="rect">
            <a:avLst/>
          </a:prstGeom>
          <a:noFill/>
          <a:ln cap="flat" cmpd="sng" w="9525">
            <a:solidFill>
              <a:srgbClr val="0F465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8" name="Google Shape;33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1878" y="4773835"/>
            <a:ext cx="2321174" cy="182861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4"/>
          <p:cNvSpPr/>
          <p:nvPr/>
        </p:nvSpPr>
        <p:spPr>
          <a:xfrm>
            <a:off x="183990" y="1793944"/>
            <a:ext cx="3930812" cy="2167293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273743" y="1810273"/>
            <a:ext cx="32952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knowledge gaps</a:t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4189183" y="1793943"/>
            <a:ext cx="4665373" cy="2167293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4296378" y="1809349"/>
            <a:ext cx="1490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/>
          </a:p>
        </p:txBody>
      </p:sp>
      <p:grpSp>
        <p:nvGrpSpPr>
          <p:cNvPr id="343" name="Google Shape;343;p14"/>
          <p:cNvGrpSpPr/>
          <p:nvPr/>
        </p:nvGrpSpPr>
        <p:grpSpPr>
          <a:xfrm>
            <a:off x="5136776" y="4659700"/>
            <a:ext cx="3630141" cy="2051099"/>
            <a:chOff x="4818959" y="5033580"/>
            <a:chExt cx="3993555" cy="2039573"/>
          </a:xfrm>
        </p:grpSpPr>
        <p:pic>
          <p:nvPicPr>
            <p:cNvPr id="344" name="Google Shape;344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37249" y="5061379"/>
              <a:ext cx="3975265" cy="20117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14"/>
            <p:cNvSpPr/>
            <p:nvPr/>
          </p:nvSpPr>
          <p:spPr>
            <a:xfrm>
              <a:off x="4818959" y="5033580"/>
              <a:ext cx="156451" cy="40494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14"/>
          <p:cNvSpPr/>
          <p:nvPr/>
        </p:nvSpPr>
        <p:spPr>
          <a:xfrm>
            <a:off x="4261601" y="2171278"/>
            <a:ext cx="156451" cy="404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83990" y="4022374"/>
            <a:ext cx="3930812" cy="2647367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322730" y="3959241"/>
            <a:ext cx="374032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 mechanisms behind observations</a:t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4193028" y="4022374"/>
            <a:ext cx="4661528" cy="2647368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4216031" y="4022374"/>
            <a:ext cx="464875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experimentally intractable questions</a:t>
            </a:r>
            <a:endParaRPr/>
          </a:p>
        </p:txBody>
      </p:sp>
      <p:sp>
        <p:nvSpPr>
          <p:cNvPr id="351" name="Google Shape;351;p14"/>
          <p:cNvSpPr txBox="1"/>
          <p:nvPr/>
        </p:nvSpPr>
        <p:spPr>
          <a:xfrm>
            <a:off x="248349" y="4695464"/>
            <a:ext cx="171785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What is the mechanism behind alternative community types?</a:t>
            </a:r>
            <a:endParaRPr/>
          </a:p>
        </p:txBody>
      </p:sp>
      <p:sp>
        <p:nvSpPr>
          <p:cNvPr id="352" name="Google Shape;352;p14"/>
          <p:cNvSpPr txBox="1"/>
          <p:nvPr/>
        </p:nvSpPr>
        <p:spPr>
          <a:xfrm>
            <a:off x="4155354" y="4857331"/>
            <a:ext cx="120215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What makes commu-nities stable?</a:t>
            </a:r>
            <a:endParaRPr/>
          </a:p>
        </p:txBody>
      </p:sp>
      <p:sp>
        <p:nvSpPr>
          <p:cNvPr id="353" name="Google Shape;353;p14"/>
          <p:cNvSpPr txBox="1"/>
          <p:nvPr/>
        </p:nvSpPr>
        <p:spPr>
          <a:xfrm>
            <a:off x="247229" y="2349282"/>
            <a:ext cx="227429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Can the metabolic model of an organism simulate its growth? </a:t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158816" y="1203947"/>
            <a:ext cx="9660097" cy="48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Mathematical model: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of our system knowledge</a:t>
            </a:r>
            <a:endParaRPr/>
          </a:p>
        </p:txBody>
      </p:sp>
      <p:sp>
        <p:nvSpPr>
          <p:cNvPr id="355" name="Google Shape;355;p14"/>
          <p:cNvSpPr txBox="1"/>
          <p:nvPr/>
        </p:nvSpPr>
        <p:spPr>
          <a:xfrm>
            <a:off x="4213931" y="2446533"/>
            <a:ext cx="22742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How will the community respond to perturbations?</a:t>
            </a:r>
            <a:endParaRPr/>
          </a:p>
        </p:txBody>
      </p:sp>
      <p:sp>
        <p:nvSpPr>
          <p:cNvPr id="356" name="Google Shape;356;p14"/>
          <p:cNvSpPr txBox="1"/>
          <p:nvPr/>
        </p:nvSpPr>
        <p:spPr>
          <a:xfrm>
            <a:off x="7012622" y="646966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"/>
          <p:cNvSpPr txBox="1"/>
          <p:nvPr>
            <p:ph type="title"/>
          </p:nvPr>
        </p:nvSpPr>
        <p:spPr>
          <a:xfrm>
            <a:off x="6985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i="0" lang="en-US"/>
              <a:t>Generalized Lotka Volterra (gLV)</a:t>
            </a:r>
            <a:endParaRPr/>
          </a:p>
        </p:txBody>
      </p:sp>
      <p:sp>
        <p:nvSpPr>
          <p:cNvPr id="363" name="Google Shape;363;p15"/>
          <p:cNvSpPr txBox="1"/>
          <p:nvPr>
            <p:ph idx="1" type="body"/>
          </p:nvPr>
        </p:nvSpPr>
        <p:spPr>
          <a:xfrm>
            <a:off x="441434" y="1250922"/>
            <a:ext cx="8261131" cy="2127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change of species </a:t>
            </a:r>
            <a:r>
              <a:rPr lang="en-US" sz="2400">
                <a:solidFill>
                  <a:srgbClr val="00B050"/>
                </a:solidFill>
              </a:rPr>
              <a:t>abundance </a:t>
            </a:r>
            <a:r>
              <a:rPr i="1" lang="en-US" sz="2400">
                <a:solidFill>
                  <a:srgbClr val="00B050"/>
                </a:solidFill>
              </a:rPr>
              <a:t>x</a:t>
            </a:r>
            <a:r>
              <a:rPr baseline="-25000" i="1" lang="en-US" sz="2400">
                <a:solidFill>
                  <a:srgbClr val="00B050"/>
                </a:solidFill>
              </a:rPr>
              <a:t>i</a:t>
            </a:r>
            <a:r>
              <a:rPr lang="en-US" sz="2400">
                <a:solidFill>
                  <a:srgbClr val="00B050"/>
                </a:solidFill>
              </a:rPr>
              <a:t> </a:t>
            </a:r>
            <a:r>
              <a:rPr lang="en-US" sz="2400"/>
              <a:t>over time can be modeled as a function of its </a:t>
            </a:r>
            <a:r>
              <a:rPr b="1" lang="en-US" sz="2400">
                <a:solidFill>
                  <a:srgbClr val="FF0000"/>
                </a:solidFill>
              </a:rPr>
              <a:t>growth rate </a:t>
            </a:r>
            <a:r>
              <a:rPr i="1" lang="en-US" sz="2400">
                <a:solidFill>
                  <a:srgbClr val="FF0000"/>
                </a:solidFill>
              </a:rPr>
              <a:t>r</a:t>
            </a:r>
            <a:r>
              <a:rPr baseline="-25000" i="1" lang="en-US" sz="2400">
                <a:solidFill>
                  <a:srgbClr val="FF0000"/>
                </a:solidFill>
              </a:rPr>
              <a:t>i</a:t>
            </a:r>
            <a:r>
              <a:rPr lang="en-US" sz="2400"/>
              <a:t> and its </a:t>
            </a:r>
            <a:r>
              <a:rPr b="1" lang="en-US" sz="2400">
                <a:solidFill>
                  <a:srgbClr val="00205F"/>
                </a:solidFill>
              </a:rPr>
              <a:t>interaction strengths</a:t>
            </a:r>
            <a:r>
              <a:rPr lang="en-US" sz="2400">
                <a:solidFill>
                  <a:srgbClr val="00205F"/>
                </a:solidFill>
              </a:rPr>
              <a:t> </a:t>
            </a:r>
            <a:r>
              <a:rPr i="1" lang="en-US" sz="2400">
                <a:solidFill>
                  <a:srgbClr val="00205F"/>
                </a:solidFill>
              </a:rPr>
              <a:t>a</a:t>
            </a:r>
            <a:r>
              <a:rPr baseline="-25000" i="1" lang="en-US" sz="2400">
                <a:solidFill>
                  <a:srgbClr val="00205F"/>
                </a:solidFill>
              </a:rPr>
              <a:t>ij</a:t>
            </a:r>
            <a:r>
              <a:rPr lang="en-US" sz="2400">
                <a:solidFill>
                  <a:srgbClr val="0000FF"/>
                </a:solidFill>
              </a:rPr>
              <a:t> </a:t>
            </a:r>
            <a:r>
              <a:rPr lang="en-US" sz="2400"/>
              <a:t>with other species </a:t>
            </a:r>
            <a:r>
              <a:rPr i="1" lang="en-US" sz="2400"/>
              <a:t>j </a:t>
            </a:r>
            <a:r>
              <a:rPr lang="en-US" sz="2400"/>
              <a:t>and</a:t>
            </a:r>
            <a:r>
              <a:rPr i="1" lang="en-US" sz="2400"/>
              <a:t> </a:t>
            </a:r>
            <a:r>
              <a:rPr lang="en-US" sz="2400"/>
              <a:t>itself</a:t>
            </a:r>
            <a:endParaRPr/>
          </a:p>
        </p:txBody>
      </p:sp>
      <p:sp>
        <p:nvSpPr>
          <p:cNvPr id="364" name="Google Shape;364;p15"/>
          <p:cNvSpPr txBox="1"/>
          <p:nvPr/>
        </p:nvSpPr>
        <p:spPr>
          <a:xfrm>
            <a:off x="7012622" y="646966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441434" y="2718984"/>
            <a:ext cx="4471930" cy="15854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7204" l="-1416" r="0" t="-952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5421085" y="2543503"/>
            <a:ext cx="338545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abundance of species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ij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interaction strength between species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-25000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growth rate of species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= species number</a:t>
            </a:r>
            <a:endParaRPr/>
          </a:p>
        </p:txBody>
      </p:sp>
      <p:pic>
        <p:nvPicPr>
          <p:cNvPr id="367" name="Google Shape;3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1785" y="4435244"/>
            <a:ext cx="821644" cy="821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7867" y="4457298"/>
            <a:ext cx="1083971" cy="108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7973" y="4480114"/>
            <a:ext cx="1061155" cy="10611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15"/>
          <p:cNvCxnSpPr/>
          <p:nvPr/>
        </p:nvCxnSpPr>
        <p:spPr>
          <a:xfrm flipH="1" rot="10800000">
            <a:off x="2148495" y="3906913"/>
            <a:ext cx="207166" cy="59304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71" name="Google Shape;371;p15"/>
          <p:cNvCxnSpPr/>
          <p:nvPr/>
        </p:nvCxnSpPr>
        <p:spPr>
          <a:xfrm rot="10800000">
            <a:off x="4048035" y="3906913"/>
            <a:ext cx="253860" cy="88681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pic>
        <p:nvPicPr>
          <p:cNvPr id="372" name="Google Shape;37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3537" y="5158914"/>
            <a:ext cx="851097" cy="121841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5"/>
          <p:cNvSpPr txBox="1"/>
          <p:nvPr/>
        </p:nvSpPr>
        <p:spPr>
          <a:xfrm>
            <a:off x="5029427" y="6457549"/>
            <a:ext cx="20511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Alfred James Lotka</a:t>
            </a:r>
            <a:endParaRPr/>
          </a:p>
        </p:txBody>
      </p:sp>
      <p:pic>
        <p:nvPicPr>
          <p:cNvPr id="374" name="Google Shape;37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60450" y="5158914"/>
            <a:ext cx="994537" cy="124846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5"/>
          <p:cNvSpPr txBox="1"/>
          <p:nvPr/>
        </p:nvSpPr>
        <p:spPr>
          <a:xfrm>
            <a:off x="7083798" y="6469665"/>
            <a:ext cx="13983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Vito Volterra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"/>
          <p:cNvSpPr txBox="1"/>
          <p:nvPr>
            <p:ph type="title"/>
          </p:nvPr>
        </p:nvSpPr>
        <p:spPr>
          <a:xfrm>
            <a:off x="12370" y="119525"/>
            <a:ext cx="867443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i="0" lang="en-US"/>
              <a:t>GLV continued</a:t>
            </a:r>
            <a:endParaRPr/>
          </a:p>
        </p:txBody>
      </p:sp>
      <p:sp>
        <p:nvSpPr>
          <p:cNvPr id="382" name="Google Shape;382;p16"/>
          <p:cNvSpPr txBox="1"/>
          <p:nvPr>
            <p:ph idx="1" type="body"/>
          </p:nvPr>
        </p:nvSpPr>
        <p:spPr>
          <a:xfrm>
            <a:off x="457200" y="1778489"/>
            <a:ext cx="8229600" cy="2019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species interaction matrix can be represented as a directed network; gLV takes the network and the growth rates as parameters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383" name="Google Shape;3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532" y="3450970"/>
            <a:ext cx="2644709" cy="183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968" y="3325784"/>
            <a:ext cx="2311787" cy="187752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6"/>
          <p:cNvSpPr/>
          <p:nvPr/>
        </p:nvSpPr>
        <p:spPr>
          <a:xfrm>
            <a:off x="3537762" y="3962608"/>
            <a:ext cx="910015" cy="62701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16"/>
          <p:cNvGrpSpPr/>
          <p:nvPr/>
        </p:nvGrpSpPr>
        <p:grpSpPr>
          <a:xfrm>
            <a:off x="7451292" y="4593634"/>
            <a:ext cx="1382166" cy="685254"/>
            <a:chOff x="7768940" y="5376146"/>
            <a:chExt cx="1416104" cy="646331"/>
          </a:xfrm>
        </p:grpSpPr>
        <p:cxnSp>
          <p:nvCxnSpPr>
            <p:cNvPr id="387" name="Google Shape;387;p16"/>
            <p:cNvCxnSpPr/>
            <p:nvPr/>
          </p:nvCxnSpPr>
          <p:spPr>
            <a:xfrm>
              <a:off x="7782003" y="5525589"/>
              <a:ext cx="336608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8" name="Google Shape;388;p16"/>
            <p:cNvCxnSpPr/>
            <p:nvPr/>
          </p:nvCxnSpPr>
          <p:spPr>
            <a:xfrm>
              <a:off x="7768940" y="5834743"/>
              <a:ext cx="336608" cy="0"/>
            </a:xfrm>
            <a:prstGeom prst="straightConnector1">
              <a:avLst/>
            </a:prstGeom>
            <a:noFill/>
            <a:ln cap="flat" cmpd="sng" w="38100">
              <a:solidFill>
                <a:srgbClr val="00B05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389" name="Google Shape;389;p16"/>
            <p:cNvSpPr txBox="1"/>
            <p:nvPr/>
          </p:nvSpPr>
          <p:spPr>
            <a:xfrm>
              <a:off x="8175472" y="5376146"/>
              <a:ext cx="100957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Negative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Positive</a:t>
              </a:r>
              <a:endParaRPr/>
            </a:p>
          </p:txBody>
        </p:sp>
      </p:grpSp>
      <p:sp>
        <p:nvSpPr>
          <p:cNvPr id="390" name="Google Shape;390;p16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16"/>
          <p:cNvSpPr txBox="1"/>
          <p:nvPr/>
        </p:nvSpPr>
        <p:spPr>
          <a:xfrm>
            <a:off x="1333942" y="6016943"/>
            <a:ext cx="324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pic>
        <p:nvPicPr>
          <p:cNvPr id="392" name="Google Shape;39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2770" y="6123376"/>
            <a:ext cx="511495" cy="178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1296142">
            <a:off x="865058" y="6075924"/>
            <a:ext cx="476100" cy="30336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6"/>
          <p:cNvSpPr txBox="1"/>
          <p:nvPr/>
        </p:nvSpPr>
        <p:spPr>
          <a:xfrm>
            <a:off x="2329286" y="6016594"/>
            <a:ext cx="2616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395" name="Google Shape;395;p16"/>
          <p:cNvSpPr txBox="1"/>
          <p:nvPr/>
        </p:nvSpPr>
        <p:spPr>
          <a:xfrm>
            <a:off x="3465469" y="5996959"/>
            <a:ext cx="2616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2614692" y="6099626"/>
            <a:ext cx="324128" cy="2138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1296142">
            <a:off x="2985724" y="6049927"/>
            <a:ext cx="476100" cy="30336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6"/>
          <p:cNvSpPr txBox="1"/>
          <p:nvPr/>
        </p:nvSpPr>
        <p:spPr>
          <a:xfrm>
            <a:off x="4484552" y="3416181"/>
            <a:ext cx="653382" cy="1892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99" name="Google Shape;399;p16"/>
          <p:cNvSpPr txBox="1"/>
          <p:nvPr/>
        </p:nvSpPr>
        <p:spPr>
          <a:xfrm>
            <a:off x="2551834" y="5972939"/>
            <a:ext cx="49943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66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400" name="Google Shape;400;p16"/>
          <p:cNvGrpSpPr/>
          <p:nvPr/>
        </p:nvGrpSpPr>
        <p:grpSpPr>
          <a:xfrm>
            <a:off x="3696445" y="5962984"/>
            <a:ext cx="499432" cy="369332"/>
            <a:chOff x="3886449" y="5986734"/>
            <a:chExt cx="499432" cy="369332"/>
          </a:xfrm>
        </p:grpSpPr>
        <p:sp>
          <p:nvSpPr>
            <p:cNvPr id="401" name="Google Shape;401;p16"/>
            <p:cNvSpPr/>
            <p:nvPr/>
          </p:nvSpPr>
          <p:spPr>
            <a:xfrm>
              <a:off x="3991477" y="6115781"/>
              <a:ext cx="289376" cy="226489"/>
            </a:xfrm>
            <a:prstGeom prst="rect">
              <a:avLst/>
            </a:prstGeom>
            <a:solidFill>
              <a:srgbClr val="FFB2B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6"/>
            <p:cNvSpPr txBox="1"/>
            <p:nvPr/>
          </p:nvSpPr>
          <p:spPr>
            <a:xfrm>
              <a:off x="3886449" y="5986734"/>
              <a:ext cx="499432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2000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403" name="Google Shape;403;p16"/>
          <p:cNvSpPr txBox="1"/>
          <p:nvPr/>
        </p:nvSpPr>
        <p:spPr>
          <a:xfrm>
            <a:off x="5417487" y="3112166"/>
            <a:ext cx="1991004" cy="414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1    2       3      4</a:t>
            </a:r>
            <a:endParaRPr/>
          </a:p>
        </p:txBody>
      </p:sp>
      <p:pic>
        <p:nvPicPr>
          <p:cNvPr id="404" name="Google Shape;40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1296142">
            <a:off x="1621936" y="6049927"/>
            <a:ext cx="476100" cy="303366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6"/>
          <p:cNvSpPr txBox="1"/>
          <p:nvPr/>
        </p:nvSpPr>
        <p:spPr>
          <a:xfrm>
            <a:off x="2007845" y="5992844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6"/>
          <p:cNvSpPr txBox="1"/>
          <p:nvPr/>
        </p:nvSpPr>
        <p:spPr>
          <a:xfrm>
            <a:off x="4596525" y="6028173"/>
            <a:ext cx="2696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grpSp>
        <p:nvGrpSpPr>
          <p:cNvPr id="407" name="Google Shape;407;p16"/>
          <p:cNvGrpSpPr/>
          <p:nvPr/>
        </p:nvGrpSpPr>
        <p:grpSpPr>
          <a:xfrm>
            <a:off x="450352" y="5914960"/>
            <a:ext cx="421910" cy="592982"/>
            <a:chOff x="450352" y="5914960"/>
            <a:chExt cx="421910" cy="592982"/>
          </a:xfrm>
        </p:grpSpPr>
        <p:sp>
          <p:nvSpPr>
            <p:cNvPr id="408" name="Google Shape;408;p16"/>
            <p:cNvSpPr txBox="1"/>
            <p:nvPr/>
          </p:nvSpPr>
          <p:spPr>
            <a:xfrm>
              <a:off x="487956" y="5914960"/>
              <a:ext cx="343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409" name="Google Shape;409;p16"/>
            <p:cNvSpPr txBox="1"/>
            <p:nvPr/>
          </p:nvSpPr>
          <p:spPr>
            <a:xfrm>
              <a:off x="450352" y="6138610"/>
              <a:ext cx="4219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dt</a:t>
              </a:r>
              <a:endParaRPr/>
            </a:p>
          </p:txBody>
        </p:sp>
        <p:cxnSp>
          <p:nvCxnSpPr>
            <p:cNvPr id="410" name="Google Shape;410;p16"/>
            <p:cNvCxnSpPr/>
            <p:nvPr/>
          </p:nvCxnSpPr>
          <p:spPr>
            <a:xfrm>
              <a:off x="531667" y="6211782"/>
              <a:ext cx="25317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374" y="4754403"/>
            <a:ext cx="1776608" cy="1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7"/>
          <p:cNvSpPr txBox="1"/>
          <p:nvPr>
            <p:ph type="title"/>
          </p:nvPr>
        </p:nvSpPr>
        <p:spPr>
          <a:xfrm>
            <a:off x="582464" y="25665"/>
            <a:ext cx="867443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Example simulation with generalized Lotka-Volterra </a:t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4087712" y="2535564"/>
            <a:ext cx="591380" cy="59436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F465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hart, scatter chart&#10;&#10;Description automatically generated" id="420" name="Google Shape;4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47" y="1333765"/>
            <a:ext cx="3744335" cy="3351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able&#10;&#10;Description automatically generated" id="421" name="Google Shape;4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7608" y="1397265"/>
            <a:ext cx="4136392" cy="2370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&#10;&#10;Description automatically generated" id="422" name="Google Shape;42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7608" y="3925225"/>
            <a:ext cx="4121478" cy="2370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027" y="4701960"/>
            <a:ext cx="1809750" cy="174614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/>
        </p:nvSpPr>
        <p:spPr>
          <a:xfrm>
            <a:off x="100647" y="4665503"/>
            <a:ext cx="14086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Growth rates</a:t>
            </a:r>
            <a:endParaRPr/>
          </a:p>
        </p:txBody>
      </p:sp>
      <p:sp>
        <p:nvSpPr>
          <p:cNvPr id="425" name="Google Shape;425;p17"/>
          <p:cNvSpPr txBox="1"/>
          <p:nvPr/>
        </p:nvSpPr>
        <p:spPr>
          <a:xfrm>
            <a:off x="2048135" y="4665503"/>
            <a:ext cx="18966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abundances</a:t>
            </a:r>
            <a:endParaRPr/>
          </a:p>
        </p:txBody>
      </p:sp>
      <p:sp>
        <p:nvSpPr>
          <p:cNvPr id="426" name="Google Shape;426;p17"/>
          <p:cNvSpPr txBox="1"/>
          <p:nvPr/>
        </p:nvSpPr>
        <p:spPr>
          <a:xfrm>
            <a:off x="1521348" y="4469507"/>
            <a:ext cx="651140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</a:t>
            </a:r>
            <a:endParaRPr/>
          </a:p>
        </p:txBody>
      </p:sp>
      <p:sp>
        <p:nvSpPr>
          <p:cNvPr id="427" name="Google Shape;427;p17"/>
          <p:cNvSpPr txBox="1"/>
          <p:nvPr/>
        </p:nvSpPr>
        <p:spPr>
          <a:xfrm rot="-5400000">
            <a:off x="-101865" y="2722635"/>
            <a:ext cx="651140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</a:t>
            </a:r>
            <a:endParaRPr/>
          </a:p>
        </p:txBody>
      </p:sp>
      <p:sp>
        <p:nvSpPr>
          <p:cNvPr id="428" name="Google Shape;428;p17"/>
          <p:cNvSpPr txBox="1"/>
          <p:nvPr/>
        </p:nvSpPr>
        <p:spPr>
          <a:xfrm>
            <a:off x="4679814" y="3781903"/>
            <a:ext cx="11961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noise</a:t>
            </a:r>
            <a:endParaRPr/>
          </a:p>
        </p:txBody>
      </p:sp>
      <p:sp>
        <p:nvSpPr>
          <p:cNvPr id="429" name="Google Shape;429;p17"/>
          <p:cNvSpPr txBox="1"/>
          <p:nvPr/>
        </p:nvSpPr>
        <p:spPr>
          <a:xfrm>
            <a:off x="4558088" y="1226945"/>
            <a:ext cx="1516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noise</a:t>
            </a:r>
            <a:endParaRPr/>
          </a:p>
        </p:txBody>
      </p:sp>
      <p:sp>
        <p:nvSpPr>
          <p:cNvPr id="430" name="Google Shape;430;p17"/>
          <p:cNvSpPr txBox="1"/>
          <p:nvPr/>
        </p:nvSpPr>
        <p:spPr>
          <a:xfrm>
            <a:off x="6972989" y="2343306"/>
            <a:ext cx="13295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Steady state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7"/>
          <p:cNvSpPr txBox="1"/>
          <p:nvPr/>
        </p:nvSpPr>
        <p:spPr>
          <a:xfrm rot="-5400000">
            <a:off x="4556690" y="5029239"/>
            <a:ext cx="891591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Abundance</a:t>
            </a:r>
            <a:endParaRPr/>
          </a:p>
        </p:txBody>
      </p:sp>
      <p:sp>
        <p:nvSpPr>
          <p:cNvPr id="432" name="Google Shape;432;p17"/>
          <p:cNvSpPr txBox="1"/>
          <p:nvPr/>
        </p:nvSpPr>
        <p:spPr>
          <a:xfrm rot="-5400000">
            <a:off x="4598872" y="2371289"/>
            <a:ext cx="891591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Abundance</a:t>
            </a:r>
            <a:endParaRPr/>
          </a:p>
        </p:txBody>
      </p:sp>
      <p:sp>
        <p:nvSpPr>
          <p:cNvPr id="433" name="Google Shape;433;p17"/>
          <p:cNvSpPr txBox="1"/>
          <p:nvPr/>
        </p:nvSpPr>
        <p:spPr>
          <a:xfrm>
            <a:off x="5072079" y="2354904"/>
            <a:ext cx="1045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97104" y="1272368"/>
            <a:ext cx="3747878" cy="3393135"/>
          </a:xfrm>
          <a:prstGeom prst="roundRect">
            <a:avLst>
              <a:gd fmla="val 16667" name="adj"/>
            </a:avLst>
          </a:prstGeom>
          <a:solidFill>
            <a:srgbClr val="43B0E1">
              <a:alpha val="2980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97104" y="4665504"/>
            <a:ext cx="1896673" cy="1782606"/>
          </a:xfrm>
          <a:prstGeom prst="roundRect">
            <a:avLst>
              <a:gd fmla="val 16667" name="adj"/>
            </a:avLst>
          </a:prstGeom>
          <a:solidFill>
            <a:srgbClr val="43B0E1">
              <a:alpha val="2980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"/>
          <p:cNvSpPr txBox="1"/>
          <p:nvPr/>
        </p:nvSpPr>
        <p:spPr>
          <a:xfrm>
            <a:off x="864280" y="913633"/>
            <a:ext cx="1249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3B0E1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/>
          </a:p>
        </p:txBody>
      </p:sp>
      <p:pic>
        <p:nvPicPr>
          <p:cNvPr id="437" name="Google Shape;43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3402" y="5866371"/>
            <a:ext cx="858292" cy="858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"/>
          <p:cNvSpPr txBox="1"/>
          <p:nvPr>
            <p:ph idx="1" type="body"/>
          </p:nvPr>
        </p:nvSpPr>
        <p:spPr>
          <a:xfrm>
            <a:off x="508905" y="1825624"/>
            <a:ext cx="6707143" cy="487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Pairwise interactions: no higher-order interactions (HOIs)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 interaction mechanisms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Linear increase of interaction strength with species abundance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Static interaction coefficients do not account for altered species behavior when environment changes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Well-mixed conditions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No migration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Static entities: new entities do not evolve</a:t>
            </a:r>
            <a:endParaRPr/>
          </a:p>
        </p:txBody>
      </p:sp>
      <p:sp>
        <p:nvSpPr>
          <p:cNvPr id="443" name="Google Shape;443;p18"/>
          <p:cNvSpPr txBox="1"/>
          <p:nvPr>
            <p:ph type="title"/>
          </p:nvPr>
        </p:nvSpPr>
        <p:spPr>
          <a:xfrm>
            <a:off x="874485" y="152400"/>
            <a:ext cx="76408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i="0" lang="en-US"/>
              <a:t>Generalized Lotka Volterra – limitations</a:t>
            </a:r>
            <a:endParaRPr i="0"/>
          </a:p>
        </p:txBody>
      </p:sp>
      <p:pic>
        <p:nvPicPr>
          <p:cNvPr id="444" name="Google Shape;4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0977" y="5282683"/>
            <a:ext cx="619771" cy="61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2445" y="5811996"/>
            <a:ext cx="893603" cy="89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6094" y="4697561"/>
            <a:ext cx="724770" cy="72477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8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8" name="Google Shape;44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5825" y="1679926"/>
            <a:ext cx="1879270" cy="129137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8"/>
          <p:cNvSpPr/>
          <p:nvPr/>
        </p:nvSpPr>
        <p:spPr>
          <a:xfrm>
            <a:off x="6411817" y="1355075"/>
            <a:ext cx="2423711" cy="1616221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8"/>
          <p:cNvSpPr txBox="1"/>
          <p:nvPr/>
        </p:nvSpPr>
        <p:spPr>
          <a:xfrm>
            <a:off x="6881994" y="1400431"/>
            <a:ext cx="1483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HOI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9"/>
          <p:cNvSpPr txBox="1"/>
          <p:nvPr>
            <p:ph type="title"/>
          </p:nvPr>
        </p:nvSpPr>
        <p:spPr>
          <a:xfrm>
            <a:off x="413656" y="0"/>
            <a:ext cx="85153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Microbial communities are not islands – the meta-community concept </a:t>
            </a:r>
            <a:endParaRPr/>
          </a:p>
        </p:txBody>
      </p:sp>
      <p:sp>
        <p:nvSpPr>
          <p:cNvPr id="456" name="Google Shape;456;p19"/>
          <p:cNvSpPr txBox="1"/>
          <p:nvPr/>
        </p:nvSpPr>
        <p:spPr>
          <a:xfrm>
            <a:off x="756557" y="1325563"/>
            <a:ext cx="763088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happens if a community is not well-mixed?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structure can be conceptualized as separate communities that exchange microbes (and metabolites)</a:t>
            </a:r>
            <a:endParaRPr/>
          </a:p>
        </p:txBody>
      </p:sp>
      <p:pic>
        <p:nvPicPr>
          <p:cNvPr id="457" name="Google Shape;4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28" y="3153399"/>
            <a:ext cx="724770" cy="72477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9"/>
          <p:cNvSpPr txBox="1"/>
          <p:nvPr/>
        </p:nvSpPr>
        <p:spPr>
          <a:xfrm>
            <a:off x="3653383" y="3331118"/>
            <a:ext cx="18372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structure</a:t>
            </a:r>
            <a:endParaRPr/>
          </a:p>
        </p:txBody>
      </p:sp>
      <p:sp>
        <p:nvSpPr>
          <p:cNvPr id="459" name="Google Shape;459;p19"/>
          <p:cNvSpPr txBox="1"/>
          <p:nvPr/>
        </p:nvSpPr>
        <p:spPr>
          <a:xfrm>
            <a:off x="1214626" y="3347516"/>
            <a:ext cx="13052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Well-mixed</a:t>
            </a:r>
            <a:endParaRPr/>
          </a:p>
        </p:txBody>
      </p:sp>
      <p:sp>
        <p:nvSpPr>
          <p:cNvPr id="460" name="Google Shape;460;p19"/>
          <p:cNvSpPr txBox="1"/>
          <p:nvPr/>
        </p:nvSpPr>
        <p:spPr>
          <a:xfrm>
            <a:off x="6179255" y="3299806"/>
            <a:ext cx="31392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structure with different local conditions</a:t>
            </a:r>
            <a:endParaRPr/>
          </a:p>
        </p:txBody>
      </p:sp>
      <p:sp>
        <p:nvSpPr>
          <p:cNvPr id="461" name="Google Shape;461;p19"/>
          <p:cNvSpPr txBox="1"/>
          <p:nvPr/>
        </p:nvSpPr>
        <p:spPr>
          <a:xfrm>
            <a:off x="-10886" y="6473184"/>
            <a:ext cx="16591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by Claude</a:t>
            </a:r>
            <a:endParaRPr/>
          </a:p>
        </p:txBody>
      </p:sp>
      <p:sp>
        <p:nvSpPr>
          <p:cNvPr id="462" name="Google Shape;462;p19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3" name="Google Shape;4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828" y="4015705"/>
            <a:ext cx="7772400" cy="2400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"/>
          <p:cNvSpPr txBox="1"/>
          <p:nvPr>
            <p:ph type="title"/>
          </p:nvPr>
        </p:nvSpPr>
        <p:spPr>
          <a:xfrm>
            <a:off x="628650" y="10386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Modeling microbial meta-community dynamics</a:t>
            </a:r>
            <a:endParaRPr/>
          </a:p>
        </p:txBody>
      </p:sp>
      <p:sp>
        <p:nvSpPr>
          <p:cNvPr id="469" name="Google Shape;469;p20"/>
          <p:cNvSpPr txBox="1"/>
          <p:nvPr>
            <p:ph idx="1" type="body"/>
          </p:nvPr>
        </p:nvSpPr>
        <p:spPr>
          <a:xfrm>
            <a:off x="628650" y="1825625"/>
            <a:ext cx="7886700" cy="204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need to represent patches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And microbes migrating between them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Patches may have different local conditions (which may result from microbial activities)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70" name="Google Shape;4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2367" y="5939053"/>
            <a:ext cx="786845" cy="78684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0"/>
          <p:cNvSpPr txBox="1"/>
          <p:nvPr/>
        </p:nvSpPr>
        <p:spPr>
          <a:xfrm>
            <a:off x="628650" y="4091555"/>
            <a:ext cx="7886700" cy="2418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gLV, this means: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Growth rate is specific to a patch, to account for the impact of the local conditions on species growth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 abundance is specific to a patch too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migration between patches</a:t>
            </a:r>
            <a:endParaRPr/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3" name="Google Shape;4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0585" y="132102"/>
            <a:ext cx="2217145" cy="2217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1"/>
          <p:cNvSpPr txBox="1"/>
          <p:nvPr>
            <p:ph type="title"/>
          </p:nvPr>
        </p:nvSpPr>
        <p:spPr>
          <a:xfrm>
            <a:off x="572895" y="3345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Extending gLV to model meta-community dynamics</a:t>
            </a:r>
            <a:endParaRPr/>
          </a:p>
        </p:txBody>
      </p:sp>
      <p:pic>
        <p:nvPicPr>
          <p:cNvPr id="479" name="Google Shape;4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890" y="3772588"/>
            <a:ext cx="8052460" cy="2242457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1"/>
          <p:cNvSpPr txBox="1"/>
          <p:nvPr/>
        </p:nvSpPr>
        <p:spPr>
          <a:xfrm>
            <a:off x="142998" y="1439936"/>
            <a:ext cx="9098973" cy="2370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Growth rate and abundance of species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patch-specific (subscript k for the k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patch); interactions are not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species-specific migration between patches, denoted by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Patches only exchange species (no metabolites); species do not alter local conditions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1" name="Google Shape;4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6070" y="5842555"/>
            <a:ext cx="786845" cy="786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0267" y="5732009"/>
            <a:ext cx="803764" cy="803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71" y="5740468"/>
            <a:ext cx="786846" cy="786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2093" y="3918912"/>
            <a:ext cx="595892" cy="595892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1"/>
          <p:cNvSpPr txBox="1"/>
          <p:nvPr/>
        </p:nvSpPr>
        <p:spPr>
          <a:xfrm>
            <a:off x="4288971" y="3570527"/>
            <a:ext cx="19904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 migrating to a patch</a:t>
            </a:r>
            <a:endParaRPr/>
          </a:p>
        </p:txBody>
      </p:sp>
      <p:sp>
        <p:nvSpPr>
          <p:cNvPr id="486" name="Google Shape;486;p21"/>
          <p:cNvSpPr txBox="1"/>
          <p:nvPr/>
        </p:nvSpPr>
        <p:spPr>
          <a:xfrm>
            <a:off x="6192284" y="3559654"/>
            <a:ext cx="26429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Species migrating to any of the other n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 patches</a:t>
            </a:r>
            <a:endParaRPr/>
          </a:p>
        </p:txBody>
      </p:sp>
      <p:sp>
        <p:nvSpPr>
          <p:cNvPr id="487" name="Google Shape;487;p21"/>
          <p:cNvSpPr txBox="1"/>
          <p:nvPr/>
        </p:nvSpPr>
        <p:spPr>
          <a:xfrm>
            <a:off x="7177543" y="5258191"/>
            <a:ext cx="184750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Flow: species are removed at a constant rate </a:t>
            </a:r>
            <a:endParaRPr/>
          </a:p>
        </p:txBody>
      </p:sp>
      <p:pic>
        <p:nvPicPr>
          <p:cNvPr id="488" name="Google Shape;48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2998" y="5258191"/>
            <a:ext cx="1487174" cy="1117481"/>
          </a:xfrm>
          <a:prstGeom prst="ellipse">
            <a:avLst/>
          </a:prstGeom>
          <a:noFill/>
          <a:ln>
            <a:noFill/>
          </a:ln>
        </p:spPr>
      </p:pic>
      <p:sp>
        <p:nvSpPr>
          <p:cNvPr id="489" name="Google Shape;489;p21"/>
          <p:cNvSpPr txBox="1"/>
          <p:nvPr/>
        </p:nvSpPr>
        <p:spPr>
          <a:xfrm>
            <a:off x="118952" y="6400735"/>
            <a:ext cx="14636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Didier Gonze</a:t>
            </a:r>
            <a:endParaRPr/>
          </a:p>
        </p:txBody>
      </p:sp>
      <p:sp>
        <p:nvSpPr>
          <p:cNvPr id="490" name="Google Shape;490;p21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2"/>
          <p:cNvSpPr txBox="1"/>
          <p:nvPr>
            <p:ph type="title"/>
          </p:nvPr>
        </p:nvSpPr>
        <p:spPr>
          <a:xfrm>
            <a:off x="214992" y="-17296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 simulation</a:t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-10886" y="6473184"/>
            <a:ext cx="318010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Simulation and bar plot by Claude</a:t>
            </a:r>
            <a:endParaRPr/>
          </a:p>
        </p:txBody>
      </p:sp>
      <p:pic>
        <p:nvPicPr>
          <p:cNvPr id="498" name="Google Shape;4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661051"/>
            <a:ext cx="7452940" cy="3229607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2"/>
          <p:cNvSpPr txBox="1"/>
          <p:nvPr>
            <p:ph idx="1" type="body"/>
          </p:nvPr>
        </p:nvSpPr>
        <p:spPr>
          <a:xfrm>
            <a:off x="130277" y="904198"/>
            <a:ext cx="6642607" cy="1721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4 species in 4 fully inter-connected patches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Migration </a:t>
            </a:r>
            <a:r>
              <a:rPr i="1" lang="en-US" sz="2000"/>
              <a:t>p</a:t>
            </a:r>
            <a:r>
              <a:rPr lang="en-US" sz="2000"/>
              <a:t> is the same for all species; D is set to 0.3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If patch </a:t>
            </a:r>
            <a:r>
              <a:rPr i="1" lang="en-US" sz="2000"/>
              <a:t>k</a:t>
            </a:r>
            <a:r>
              <a:rPr lang="en-US" sz="2000"/>
              <a:t>=</a:t>
            </a:r>
            <a:r>
              <a:rPr i="1" lang="en-US" sz="2000"/>
              <a:t>i</a:t>
            </a:r>
            <a:r>
              <a:rPr lang="en-US" sz="2000"/>
              <a:t>, growth rate of species </a:t>
            </a:r>
            <a:r>
              <a:rPr i="1" lang="en-US" sz="2000"/>
              <a:t>i</a:t>
            </a:r>
            <a:r>
              <a:rPr lang="en-US" sz="2000"/>
              <a:t> is 1.2, else 0.45 (each patch favors a different species)</a:t>
            </a:r>
            <a:endParaRPr/>
          </a:p>
        </p:txBody>
      </p:sp>
      <p:pic>
        <p:nvPicPr>
          <p:cNvPr id="500" name="Google Shape;5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5858" y="225265"/>
            <a:ext cx="2558142" cy="2690461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2"/>
          <p:cNvSpPr txBox="1"/>
          <p:nvPr/>
        </p:nvSpPr>
        <p:spPr>
          <a:xfrm>
            <a:off x="10531" y="2336330"/>
            <a:ext cx="7043412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migration: patches dominated by best-adapted species; high diversity due to heterogeneity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migration: low diversity - species 2 wins everywhere (least suppressed by other species); approximating well-mixed case</a:t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6772884" y="1120448"/>
            <a:ext cx="1938409" cy="360517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7037435" y="2919056"/>
            <a:ext cx="1939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Interaction matrix</a:t>
            </a:r>
            <a:endParaRPr/>
          </a:p>
        </p:txBody>
      </p:sp>
      <p:sp>
        <p:nvSpPr>
          <p:cNvPr id="504" name="Google Shape;504;p22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22"/>
          <p:cNvSpPr/>
          <p:nvPr/>
        </p:nvSpPr>
        <p:spPr>
          <a:xfrm>
            <a:off x="237026" y="4252511"/>
            <a:ext cx="357885" cy="35254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869496" y="4252511"/>
            <a:ext cx="357885" cy="352540"/>
          </a:xfrm>
          <a:prstGeom prst="roundRect">
            <a:avLst>
              <a:gd fmla="val 16667" name="adj"/>
            </a:avLst>
          </a:prstGeom>
          <a:solidFill>
            <a:srgbClr val="1F5C99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230438" y="4900292"/>
            <a:ext cx="357885" cy="352540"/>
          </a:xfrm>
          <a:prstGeom prst="roundRect">
            <a:avLst>
              <a:gd fmla="val 16667" name="adj"/>
            </a:avLst>
          </a:prstGeom>
          <a:solidFill>
            <a:srgbClr val="D86CCC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866202" y="4901280"/>
            <a:ext cx="357885" cy="352540"/>
          </a:xfrm>
          <a:prstGeom prst="roundRect">
            <a:avLst>
              <a:gd fmla="val 16667" name="adj"/>
            </a:avLst>
          </a:prstGeom>
          <a:solidFill>
            <a:srgbClr val="009F73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142324" y="5399678"/>
            <a:ext cx="130801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Patch topology</a:t>
            </a:r>
            <a:endParaRPr/>
          </a:p>
        </p:txBody>
      </p:sp>
      <p:cxnSp>
        <p:nvCxnSpPr>
          <p:cNvPr id="510" name="Google Shape;510;p22"/>
          <p:cNvCxnSpPr/>
          <p:nvPr/>
        </p:nvCxnSpPr>
        <p:spPr>
          <a:xfrm>
            <a:off x="542149" y="4586645"/>
            <a:ext cx="335070" cy="3246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1" name="Google Shape;511;p22"/>
          <p:cNvCxnSpPr/>
          <p:nvPr/>
        </p:nvCxnSpPr>
        <p:spPr>
          <a:xfrm flipH="1">
            <a:off x="542149" y="4593047"/>
            <a:ext cx="342793" cy="32565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2" name="Google Shape;512;p22"/>
          <p:cNvCxnSpPr>
            <a:stCxn id="507" idx="3"/>
            <a:endCxn id="508" idx="1"/>
          </p:cNvCxnSpPr>
          <p:nvPr/>
        </p:nvCxnSpPr>
        <p:spPr>
          <a:xfrm>
            <a:off x="588323" y="5076562"/>
            <a:ext cx="277800" cy="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3" name="Google Shape;513;p22"/>
          <p:cNvCxnSpPr>
            <a:stCxn id="506" idx="2"/>
            <a:endCxn id="508" idx="0"/>
          </p:cNvCxnSpPr>
          <p:nvPr/>
        </p:nvCxnSpPr>
        <p:spPr>
          <a:xfrm flipH="1">
            <a:off x="1045139" y="4605051"/>
            <a:ext cx="3300" cy="296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4" name="Google Shape;514;p22"/>
          <p:cNvCxnSpPr>
            <a:stCxn id="505" idx="3"/>
            <a:endCxn id="506" idx="1"/>
          </p:cNvCxnSpPr>
          <p:nvPr/>
        </p:nvCxnSpPr>
        <p:spPr>
          <a:xfrm>
            <a:off x="594911" y="4428781"/>
            <a:ext cx="274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15" name="Google Shape;515;p22"/>
          <p:cNvCxnSpPr>
            <a:stCxn id="505" idx="2"/>
            <a:endCxn id="507" idx="0"/>
          </p:cNvCxnSpPr>
          <p:nvPr/>
        </p:nvCxnSpPr>
        <p:spPr>
          <a:xfrm flipH="1">
            <a:off x="409369" y="4605051"/>
            <a:ext cx="6600" cy="295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16" name="Google Shape;516;p22"/>
          <p:cNvSpPr txBox="1"/>
          <p:nvPr/>
        </p:nvSpPr>
        <p:spPr>
          <a:xfrm>
            <a:off x="207278" y="4232111"/>
            <a:ext cx="441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/>
          </a:p>
        </p:txBody>
      </p:sp>
      <p:sp>
        <p:nvSpPr>
          <p:cNvPr id="517" name="Google Shape;517;p22"/>
          <p:cNvSpPr txBox="1"/>
          <p:nvPr/>
        </p:nvSpPr>
        <p:spPr>
          <a:xfrm>
            <a:off x="820779" y="4250517"/>
            <a:ext cx="441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/>
          </a:p>
        </p:txBody>
      </p:sp>
      <p:sp>
        <p:nvSpPr>
          <p:cNvPr id="518" name="Google Shape;518;p22"/>
          <p:cNvSpPr txBox="1"/>
          <p:nvPr/>
        </p:nvSpPr>
        <p:spPr>
          <a:xfrm>
            <a:off x="815484" y="4912923"/>
            <a:ext cx="441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/>
          </a:p>
        </p:txBody>
      </p:sp>
      <p:sp>
        <p:nvSpPr>
          <p:cNvPr id="519" name="Google Shape;519;p22"/>
          <p:cNvSpPr txBox="1"/>
          <p:nvPr/>
        </p:nvSpPr>
        <p:spPr>
          <a:xfrm>
            <a:off x="195395" y="4915968"/>
            <a:ext cx="441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3"/>
          <p:cNvSpPr txBox="1"/>
          <p:nvPr>
            <p:ph type="title"/>
          </p:nvPr>
        </p:nvSpPr>
        <p:spPr>
          <a:xfrm>
            <a:off x="834979" y="16649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Meta-community dynamics in hospitals</a:t>
            </a:r>
            <a:endParaRPr/>
          </a:p>
        </p:txBody>
      </p:sp>
      <p:sp>
        <p:nvSpPr>
          <p:cNvPr id="525" name="Google Shape;525;p23"/>
          <p:cNvSpPr txBox="1"/>
          <p:nvPr>
            <p:ph idx="1" type="body"/>
          </p:nvPr>
        </p:nvSpPr>
        <p:spPr>
          <a:xfrm>
            <a:off x="436956" y="1719036"/>
            <a:ext cx="4341373" cy="3713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Pathogens migrate between patients (=patches)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Susceptibility of a patient to a pathogen depends on its interactions with the local microbial community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Modeled with custom ordinary differential equations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26" name="Google Shape;526;p23"/>
          <p:cNvSpPr txBox="1"/>
          <p:nvPr/>
        </p:nvSpPr>
        <p:spPr>
          <a:xfrm>
            <a:off x="775609" y="5834845"/>
            <a:ext cx="7739741" cy="954107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Duval et al. “Close proximity interactions support transmission of ESBL-K. pneumoniae but not ESBL-E. coli in healthcare settings” PLoS Comp Bio, 2019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Smith et al. “Microbiome-pathogen interactions drive epidemiological dynamics of antibiotic resistance” eLife 10:e68764, 2021</a:t>
            </a:r>
            <a:endParaRPr/>
          </a:p>
        </p:txBody>
      </p:sp>
      <p:pic>
        <p:nvPicPr>
          <p:cNvPr id="527" name="Google Shape;5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2528" y="2383709"/>
            <a:ext cx="1818655" cy="156974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3"/>
          <p:cNvSpPr txBox="1"/>
          <p:nvPr/>
        </p:nvSpPr>
        <p:spPr>
          <a:xfrm>
            <a:off x="5953411" y="1607091"/>
            <a:ext cx="28745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Nodes: patients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Edges: transmission routes</a:t>
            </a:r>
            <a:endParaRPr/>
          </a:p>
        </p:txBody>
      </p:sp>
      <p:grpSp>
        <p:nvGrpSpPr>
          <p:cNvPr id="529" name="Google Shape;529;p23"/>
          <p:cNvGrpSpPr/>
          <p:nvPr/>
        </p:nvGrpSpPr>
        <p:grpSpPr>
          <a:xfrm>
            <a:off x="6637890" y="4241219"/>
            <a:ext cx="2662032" cy="1334564"/>
            <a:chOff x="6685687" y="1449084"/>
            <a:chExt cx="2662032" cy="1200329"/>
          </a:xfrm>
        </p:grpSpPr>
        <p:sp>
          <p:nvSpPr>
            <p:cNvPr id="530" name="Google Shape;530;p23"/>
            <p:cNvSpPr/>
            <p:nvPr/>
          </p:nvSpPr>
          <p:spPr>
            <a:xfrm>
              <a:off x="6696576" y="1547978"/>
              <a:ext cx="156887" cy="15688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3"/>
            <p:cNvSpPr txBox="1"/>
            <p:nvPr/>
          </p:nvSpPr>
          <p:spPr>
            <a:xfrm>
              <a:off x="6950645" y="1449084"/>
              <a:ext cx="239707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Incident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Transmission candidates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Susceptible patients </a:t>
              </a: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>
              <a:off x="6685687" y="1852780"/>
              <a:ext cx="156887" cy="15688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>
              <a:off x="6696570" y="2303003"/>
              <a:ext cx="156887" cy="15688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4" name="Google Shape;5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907" y="3941713"/>
            <a:ext cx="1050102" cy="1400136"/>
          </a:xfrm>
          <a:prstGeom prst="ellipse">
            <a:avLst/>
          </a:prstGeom>
          <a:noFill/>
          <a:ln>
            <a:noFill/>
          </a:ln>
        </p:spPr>
      </p:pic>
      <p:sp>
        <p:nvSpPr>
          <p:cNvPr id="535" name="Google Shape;535;p23"/>
          <p:cNvSpPr txBox="1"/>
          <p:nvPr/>
        </p:nvSpPr>
        <p:spPr>
          <a:xfrm>
            <a:off x="4061439" y="5341849"/>
            <a:ext cx="25361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Lulla Opatowski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3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4"/>
          <p:cNvSpPr txBox="1"/>
          <p:nvPr>
            <p:ph type="title"/>
          </p:nvPr>
        </p:nvSpPr>
        <p:spPr>
          <a:xfrm>
            <a:off x="628650" y="-12564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Meta-communities and IBMs</a:t>
            </a:r>
            <a:endParaRPr/>
          </a:p>
        </p:txBody>
      </p:sp>
      <p:sp>
        <p:nvSpPr>
          <p:cNvPr id="543" name="Google Shape;543;p24"/>
          <p:cNvSpPr txBox="1"/>
          <p:nvPr>
            <p:ph idx="1" type="body"/>
          </p:nvPr>
        </p:nvSpPr>
        <p:spPr>
          <a:xfrm>
            <a:off x="343741" y="927185"/>
            <a:ext cx="8456518" cy="2047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Individual-based models: instead of the entire population, model the behavior of individuals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IBMs usually work with grids to represent space, so spatial structure can be introduced through the grid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Example: BacArena; accounts for diffusion of metabolites between “patches” (grid cells)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44" name="Google Shape;544;p24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5" name="Google Shape;5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0784" y="3429000"/>
            <a:ext cx="3007606" cy="258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610" y="3326267"/>
            <a:ext cx="3796390" cy="29048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4"/>
          <p:cNvSpPr txBox="1"/>
          <p:nvPr/>
        </p:nvSpPr>
        <p:spPr>
          <a:xfrm>
            <a:off x="775610" y="6311630"/>
            <a:ext cx="6562740" cy="52322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Bauer et al. “BacArena: Individual-based metabolic modeling of heterogeneous microbes in complex communities” PLoS Computational Biology 13:5, 2017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5"/>
          <p:cNvSpPr txBox="1"/>
          <p:nvPr>
            <p:ph type="title"/>
          </p:nvPr>
        </p:nvSpPr>
        <p:spPr>
          <a:xfrm>
            <a:off x="628650" y="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Examples being covered today</a:t>
            </a:r>
            <a:endParaRPr/>
          </a:p>
        </p:txBody>
      </p:sp>
      <p:sp>
        <p:nvSpPr>
          <p:cNvPr id="554" name="Google Shape;554;p25"/>
          <p:cNvSpPr txBox="1"/>
          <p:nvPr/>
        </p:nvSpPr>
        <p:spPr>
          <a:xfrm>
            <a:off x="4833257" y="1612970"/>
            <a:ext cx="18203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Soil patches</a:t>
            </a:r>
            <a:endParaRPr/>
          </a:p>
        </p:txBody>
      </p:sp>
      <p:pic>
        <p:nvPicPr>
          <p:cNvPr id="555" name="Google Shape;5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708" y="4397828"/>
            <a:ext cx="3909867" cy="21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5"/>
          <p:cNvSpPr txBox="1"/>
          <p:nvPr/>
        </p:nvSpPr>
        <p:spPr>
          <a:xfrm>
            <a:off x="4833257" y="4299856"/>
            <a:ext cx="44522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populations</a:t>
            </a:r>
            <a:endParaRPr/>
          </a:p>
        </p:txBody>
      </p:sp>
      <p:pic>
        <p:nvPicPr>
          <p:cNvPr id="557" name="Google Shape;5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708" y="1646511"/>
            <a:ext cx="3909867" cy="219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4208" y="2096407"/>
            <a:ext cx="2070140" cy="142645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59" name="Google Shape;55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34489" y="4814035"/>
            <a:ext cx="1050102" cy="140013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0" name="Google Shape;56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9386" y="4761521"/>
            <a:ext cx="1334451" cy="1334451"/>
          </a:xfrm>
          <a:prstGeom prst="ellipse">
            <a:avLst/>
          </a:prstGeom>
          <a:noFill/>
          <a:ln>
            <a:noFill/>
          </a:ln>
        </p:spPr>
      </p:pic>
      <p:sp>
        <p:nvSpPr>
          <p:cNvPr id="561" name="Google Shape;561;p25"/>
          <p:cNvSpPr txBox="1"/>
          <p:nvPr/>
        </p:nvSpPr>
        <p:spPr>
          <a:xfrm>
            <a:off x="4833257" y="3380643"/>
            <a:ext cx="33292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Ksenia Guseva</a:t>
            </a:r>
            <a:endParaRPr/>
          </a:p>
        </p:txBody>
      </p:sp>
      <p:sp>
        <p:nvSpPr>
          <p:cNvPr id="562" name="Google Shape;562;p25"/>
          <p:cNvSpPr txBox="1"/>
          <p:nvPr/>
        </p:nvSpPr>
        <p:spPr>
          <a:xfrm>
            <a:off x="4709596" y="6235943"/>
            <a:ext cx="33292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Lulla Opatowski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5"/>
          <p:cNvSpPr txBox="1"/>
          <p:nvPr/>
        </p:nvSpPr>
        <p:spPr>
          <a:xfrm>
            <a:off x="7142951" y="6235943"/>
            <a:ext cx="17917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Julien Tap</a:t>
            </a:r>
            <a:endParaRPr/>
          </a:p>
        </p:txBody>
      </p:sp>
      <p:sp>
        <p:nvSpPr>
          <p:cNvPr id="564" name="Google Shape;564;p25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6"/>
          <p:cNvSpPr txBox="1"/>
          <p:nvPr>
            <p:ph type="title"/>
          </p:nvPr>
        </p:nvSpPr>
        <p:spPr>
          <a:xfrm>
            <a:off x="628650" y="12250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Afternoon: meta-community modeling tutorial</a:t>
            </a:r>
            <a:endParaRPr/>
          </a:p>
        </p:txBody>
      </p:sp>
      <p:sp>
        <p:nvSpPr>
          <p:cNvPr id="570" name="Google Shape;570;p26"/>
          <p:cNvSpPr txBox="1"/>
          <p:nvPr>
            <p:ph idx="1" type="body"/>
          </p:nvPr>
        </p:nvSpPr>
        <p:spPr>
          <a:xfrm>
            <a:off x="166522" y="1535267"/>
            <a:ext cx="6196174" cy="4497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First part: introduction to microbial community modeling with gLV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We’ll use miaSim in a Jupyter notebook in Google Colab: </a:t>
            </a:r>
            <a:r>
              <a:rPr b="1" lang="en-US" u="sng">
                <a:solidFill>
                  <a:schemeClr val="hlink"/>
                </a:solidFill>
                <a:hlinkClick r:id="rId3"/>
              </a:rPr>
              <a:t>https://tinyurl.com/glvTutorial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Copy to your Google Drive to edit (File -&gt; Save a copy in Drive)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Second part: metacommunity modeling with gLV by Ksenia Guseva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Jupyter notebook in Colab: </a:t>
            </a:r>
            <a:r>
              <a:rPr b="1" lang="en-US" u="sng">
                <a:solidFill>
                  <a:schemeClr val="hlink"/>
                </a:solidFill>
                <a:hlinkClick r:id="rId4"/>
              </a:rPr>
              <a:t>https://tinyurl.com/metacommglv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Copy to your Google Drive to edit</a:t>
            </a:r>
            <a:endParaRPr/>
          </a:p>
        </p:txBody>
      </p:sp>
      <p:pic>
        <p:nvPicPr>
          <p:cNvPr id="571" name="Google Shape;57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2853" y="1525111"/>
            <a:ext cx="1251357" cy="1441563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6"/>
          <p:cNvSpPr txBox="1"/>
          <p:nvPr/>
        </p:nvSpPr>
        <p:spPr>
          <a:xfrm>
            <a:off x="6607629" y="2977560"/>
            <a:ext cx="231865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miaSim: R package for microbial community modeling co-developed with Leo Lahti; part of the miaverse (https://microbiome.github.io/)</a:t>
            </a:r>
            <a:endParaRPr/>
          </a:p>
        </p:txBody>
      </p:sp>
      <p:sp>
        <p:nvSpPr>
          <p:cNvPr id="573" name="Google Shape;573;p26"/>
          <p:cNvSpPr txBox="1"/>
          <p:nvPr/>
        </p:nvSpPr>
        <p:spPr>
          <a:xfrm>
            <a:off x="857250" y="6092545"/>
            <a:ext cx="6941282" cy="7386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Yu G, Simsek Y, Gheysen E, Borman T, Li Y, Lahti L , Faust K &amp; Garza DR (2023)” miaSim: an R/Bioconductor package to easily simulate microbial community dynamics”, Methods in Ecology and Evolution 14, 1967-1980</a:t>
            </a:r>
            <a:endParaRPr/>
          </a:p>
        </p:txBody>
      </p:sp>
      <p:sp>
        <p:nvSpPr>
          <p:cNvPr id="574" name="Google Shape;574;p26"/>
          <p:cNvSpPr/>
          <p:nvPr/>
        </p:nvSpPr>
        <p:spPr>
          <a:xfrm>
            <a:off x="6444340" y="1471389"/>
            <a:ext cx="2601686" cy="385808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6"/>
          <p:cNvSpPr txBox="1"/>
          <p:nvPr>
            <p:ph idx="12" type="sldNum"/>
          </p:nvPr>
        </p:nvSpPr>
        <p:spPr>
          <a:xfrm>
            <a:off x="7010400" y="648617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"/>
          <p:cNvSpPr txBox="1"/>
          <p:nvPr>
            <p:ph type="title"/>
          </p:nvPr>
        </p:nvSpPr>
        <p:spPr>
          <a:xfrm>
            <a:off x="443593" y="2889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Questions?</a:t>
            </a:r>
            <a:endParaRPr/>
          </a:p>
        </p:txBody>
      </p:sp>
      <p:pic>
        <p:nvPicPr>
          <p:cNvPr descr="Download Free Thinking Photography Question Mark Man Stock ICON favicon ..." id="581" name="Google Shape;5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2993" y="1349374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2026-09-25T06:01:35Z</dcterms:created>
  <dc:creator>Karoline Faust</dc:creator>
</cp:coreProperties>
</file>